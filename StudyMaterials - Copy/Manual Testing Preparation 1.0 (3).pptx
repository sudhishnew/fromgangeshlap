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Lst>
  <p:sldSz cx="12192000" cy="6858000"/>
  <p:notesSz cx="6858000" cy="9144000"/>
  <p:embeddedFontLst>
    <p:embeddedFont>
      <p:font typeface="Calibri" panose="020F0502020204030204" pitchFamily="34" charset="0"/>
      <p:regular r:id="rId117"/>
      <p:bold r:id="rId118"/>
      <p:italic r:id="rId119"/>
      <p:boldItalic r:id="rId120"/>
    </p:embeddedFont>
    <p:embeddedFont>
      <p:font typeface="Roboto" panose="02000000000000000000" pitchFamily="2" charset="0"/>
      <p:regular r:id="rId121"/>
      <p:bold r:id="rId122"/>
      <p:italic r:id="rId123"/>
      <p:boldItalic r:id="rId124"/>
    </p:embeddedFont>
    <p:embeddedFont>
      <p:font typeface="Trebuchet MS" panose="020B0603020202020204" pitchFamily="34" charset="0"/>
      <p:regular r:id="rId125"/>
      <p:bold r:id="rId126"/>
      <p:italic r:id="rId127"/>
      <p:boldItalic r:id="rId128"/>
    </p:embeddedFont>
    <p:embeddedFont>
      <p:font typeface="Work Sans" pitchFamily="2" charset="0"/>
      <p:regular r:id="rId129"/>
      <p:bold r:id="rId130"/>
      <p:italic r:id="rId131"/>
      <p:boldItalic r:id="rId1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33" roundtripDataSignature="AMtx7mjaoElFiO2WFaY3AjZEknRVUq4g6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F9B2565-B882-47E4-BE0B-E972FD7CAB76}">
  <a:tblStyle styleId="{7F9B2565-B882-47E4-BE0B-E972FD7CAB76}" styleName="Table_0">
    <a:wholeTbl>
      <a:tcTxStyle b="off" i="off">
        <a:font>
          <a:latin typeface="Trebuchet MS"/>
          <a:ea typeface="Trebuchet MS"/>
          <a:cs typeface="Trebuchet MS"/>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AEAE7"/>
          </a:solidFill>
        </a:fill>
      </a:tcStyle>
    </a:wholeTbl>
    <a:band1H>
      <a:tcTxStyle/>
      <a:tcStyle>
        <a:tcBdr/>
        <a:fill>
          <a:solidFill>
            <a:srgbClr val="F6D2CB"/>
          </a:solidFill>
        </a:fill>
      </a:tcStyle>
    </a:band1H>
    <a:band2H>
      <a:tcTxStyle/>
      <a:tcStyle>
        <a:tcBdr/>
      </a:tcStyle>
    </a:band2H>
    <a:band1V>
      <a:tcTxStyle/>
      <a:tcStyle>
        <a:tcBdr/>
        <a:fill>
          <a:solidFill>
            <a:srgbClr val="F6D2CB"/>
          </a:solidFill>
        </a:fill>
      </a:tcStyle>
    </a:band1V>
    <a:band2V>
      <a:tcTxStyle/>
      <a:tcStyle>
        <a:tcBdr/>
      </a:tcStyle>
    </a:band2V>
    <a:lastCol>
      <a:tcTxStyle b="on" i="off">
        <a:font>
          <a:latin typeface="Trebuchet MS"/>
          <a:ea typeface="Trebuchet MS"/>
          <a:cs typeface="Trebuchet MS"/>
        </a:font>
        <a:schemeClr val="lt1"/>
      </a:tcTxStyle>
      <a:tcStyle>
        <a:tcBdr/>
        <a:fill>
          <a:solidFill>
            <a:schemeClr val="accent4"/>
          </a:solidFill>
        </a:fill>
      </a:tcStyle>
    </a:lastCol>
    <a:firstCol>
      <a:tcTxStyle b="on" i="off">
        <a:font>
          <a:latin typeface="Trebuchet MS"/>
          <a:ea typeface="Trebuchet MS"/>
          <a:cs typeface="Trebuchet MS"/>
        </a:font>
        <a:schemeClr val="lt1"/>
      </a:tcTxStyle>
      <a:tcStyle>
        <a:tcBdr/>
        <a:fill>
          <a:solidFill>
            <a:schemeClr val="accent4"/>
          </a:solidFill>
        </a:fill>
      </a:tcStyle>
    </a:firstCol>
    <a:lastRow>
      <a:tcTxStyle b="on" i="off">
        <a:font>
          <a:latin typeface="Trebuchet MS"/>
          <a:ea typeface="Trebuchet MS"/>
          <a:cs typeface="Trebuchet MS"/>
        </a:font>
        <a:schemeClr val="lt1"/>
      </a:tcTxStyle>
      <a:tcStyle>
        <a:tcBdr>
          <a:top>
            <a:ln w="38100" cap="flat" cmpd="sng">
              <a:solidFill>
                <a:schemeClr val="lt1"/>
              </a:solidFill>
              <a:prstDash val="solid"/>
              <a:round/>
              <a:headEnd type="none" w="sm" len="sm"/>
              <a:tailEnd type="none" w="sm" len="sm"/>
            </a:ln>
          </a:top>
        </a:tcBdr>
        <a:fill>
          <a:solidFill>
            <a:schemeClr val="accent4"/>
          </a:solidFill>
        </a:fill>
      </a:tcStyle>
    </a:lastRow>
    <a:seCell>
      <a:tcTxStyle/>
      <a:tcStyle>
        <a:tcBdr/>
      </a:tcStyle>
    </a:seCell>
    <a:swCell>
      <a:tcTxStyle/>
      <a:tcStyle>
        <a:tcBdr/>
      </a:tcStyle>
    </a:swCell>
    <a:firstRow>
      <a:tcTxStyle b="on" i="off">
        <a:font>
          <a:latin typeface="Trebuchet MS"/>
          <a:ea typeface="Trebuchet MS"/>
          <a:cs typeface="Trebuchet MS"/>
        </a:font>
        <a:schemeClr val="lt1"/>
      </a:tcTxStyle>
      <a:tcStyle>
        <a:tcBdr>
          <a:bottom>
            <a:ln w="38100" cap="flat" cmpd="sng">
              <a:solidFill>
                <a:schemeClr val="lt1"/>
              </a:solidFill>
              <a:prstDash val="solid"/>
              <a:round/>
              <a:headEnd type="none" w="sm" len="sm"/>
              <a:tailEnd type="none" w="sm" len="sm"/>
            </a:ln>
          </a:bottom>
        </a:tcBdr>
        <a:fill>
          <a:solidFill>
            <a:schemeClr val="accent4"/>
          </a:solidFill>
        </a:fill>
      </a:tcStyle>
    </a:firstRow>
    <a:neCell>
      <a:tcTxStyle/>
      <a:tcStyle>
        <a:tcBdr/>
      </a:tcStyle>
    </a:neCell>
    <a:nwCell>
      <a:tcTxStyle/>
      <a:tcStyle>
        <a:tcBdr/>
      </a:tcStyle>
    </a:nwCell>
  </a:tblStyle>
  <a:tblStyle styleId="{F9023DBE-32B7-479B-B6F3-42938FD438B2}" styleName="Table_1">
    <a:wholeTbl>
      <a:tcTxStyle b="off" i="off">
        <a:font>
          <a:latin typeface="Trebuchet MS"/>
          <a:ea typeface="Trebuchet MS"/>
          <a:cs typeface="Trebuchet MS"/>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EF4E7"/>
          </a:solidFill>
        </a:fill>
      </a:tcStyle>
    </a:wholeTbl>
    <a:band1H>
      <a:tcTxStyle/>
      <a:tcStyle>
        <a:tcBdr/>
        <a:fill>
          <a:solidFill>
            <a:srgbClr val="DBE9CB"/>
          </a:solidFill>
        </a:fill>
      </a:tcStyle>
    </a:band1H>
    <a:band2H>
      <a:tcTxStyle/>
      <a:tcStyle>
        <a:tcBdr/>
      </a:tcStyle>
    </a:band2H>
    <a:band1V>
      <a:tcTxStyle/>
      <a:tcStyle>
        <a:tcBdr/>
        <a:fill>
          <a:solidFill>
            <a:srgbClr val="DBE9CB"/>
          </a:solidFill>
        </a:fill>
      </a:tcStyle>
    </a:band1V>
    <a:band2V>
      <a:tcTxStyle/>
      <a:tcStyle>
        <a:tcBdr/>
      </a:tcStyle>
    </a:band2V>
    <a:lastCol>
      <a:tcTxStyle b="on" i="off">
        <a:font>
          <a:latin typeface="Trebuchet MS"/>
          <a:ea typeface="Trebuchet MS"/>
          <a:cs typeface="Trebuchet MS"/>
        </a:font>
        <a:schemeClr val="lt1"/>
      </a:tcTxStyle>
      <a:tcStyle>
        <a:tcBdr/>
        <a:fill>
          <a:solidFill>
            <a:schemeClr val="accent1"/>
          </a:solidFill>
        </a:fill>
      </a:tcStyle>
    </a:lastCol>
    <a:firstCol>
      <a:tcTxStyle b="on" i="off">
        <a:font>
          <a:latin typeface="Trebuchet MS"/>
          <a:ea typeface="Trebuchet MS"/>
          <a:cs typeface="Trebuchet MS"/>
        </a:font>
        <a:schemeClr val="lt1"/>
      </a:tcTxStyle>
      <a:tcStyle>
        <a:tcBdr/>
        <a:fill>
          <a:solidFill>
            <a:schemeClr val="accent1"/>
          </a:solidFill>
        </a:fill>
      </a:tcStyle>
    </a:firstCol>
    <a:lastRow>
      <a:tcTxStyle b="on" i="off">
        <a:font>
          <a:latin typeface="Trebuchet MS"/>
          <a:ea typeface="Trebuchet MS"/>
          <a:cs typeface="Trebuchet MS"/>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Trebuchet MS"/>
          <a:ea typeface="Trebuchet MS"/>
          <a:cs typeface="Trebuchet MS"/>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BD6E39EE-3DAA-4A54-AF19-2EDD137A0911}" styleName="Table_2">
    <a:wholeTbl>
      <a:tcTxStyle b="off" i="off">
        <a:font>
          <a:latin typeface="Trebuchet MS"/>
          <a:ea typeface="Trebuchet MS"/>
          <a:cs typeface="Trebuchet MS"/>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chemeClr val="lt1"/>
          </a:solidFill>
        </a:fill>
      </a:tcStyle>
    </a:wholeTbl>
    <a:band1H>
      <a:tcTxStyle/>
      <a:tcStyle>
        <a:tcBdr/>
        <a:fill>
          <a:solidFill>
            <a:srgbClr val="E6E6E6"/>
          </a:solidFill>
        </a:fill>
      </a:tcStyle>
    </a:band1H>
    <a:band2H>
      <a:tcTxStyle/>
      <a:tcStyle>
        <a:tcBdr/>
      </a:tcStyle>
    </a:band2H>
    <a:band1V>
      <a:tcTxStyle/>
      <a:tcStyle>
        <a:tcBdr/>
        <a:fill>
          <a:solidFill>
            <a:srgbClr val="E6E6E6"/>
          </a:solidFill>
        </a:fill>
      </a:tcStyle>
    </a:band1V>
    <a:band2V>
      <a:tcTxStyle/>
      <a:tcStyle>
        <a:tcBdr/>
      </a:tcStyle>
    </a:band2V>
    <a:lastCol>
      <a:tcTxStyle b="on" i="off"/>
      <a:tcStyle>
        <a:tcBdr/>
      </a:tcStyle>
    </a:lastCol>
    <a:firstCol>
      <a:tcTxStyle b="on" i="off"/>
      <a:tcStyle>
        <a:tcBdr/>
      </a:tcStyle>
    </a:firstCol>
    <a:lastRow>
      <a:tcTxStyle b="on" i="off"/>
      <a:tcStyle>
        <a:tcBdr>
          <a:top>
            <a:ln w="50800" cap="flat" cmpd="sng">
              <a:solidFill>
                <a:schemeClr val="dk1"/>
              </a:solidFill>
              <a:prstDash val="solid"/>
              <a:round/>
              <a:headEnd type="none" w="sm" len="sm"/>
              <a:tailEnd type="none" w="sm" len="sm"/>
            </a:ln>
          </a:top>
        </a:tcBdr>
        <a:fill>
          <a:solidFill>
            <a:schemeClr val="lt1"/>
          </a:solidFill>
        </a:fill>
      </a:tcStyle>
    </a:lastRow>
    <a:seCell>
      <a:tcTxStyle/>
      <a:tcStyle>
        <a:tcBdr/>
      </a:tcStyle>
    </a:seCell>
    <a:swCell>
      <a:tcTxStyle/>
      <a:tcStyle>
        <a:tcBdr/>
      </a:tcStyle>
    </a:swCell>
    <a:firstRow>
      <a:tcTxStyle b="on" i="off">
        <a:font>
          <a:latin typeface="Trebuchet MS"/>
          <a:ea typeface="Trebuchet MS"/>
          <a:cs typeface="Trebuchet MS"/>
        </a:font>
        <a:schemeClr val="lt1"/>
      </a:tcTxStyle>
      <a:tcStyle>
        <a:tcBdr/>
        <a:fill>
          <a:solidFill>
            <a:schemeClr val="dk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7" d="100"/>
          <a:sy n="77" d="100"/>
        </p:scale>
        <p:origin x="806"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font" Target="fonts/font1.fntdata"/><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font" Target="fonts/font7.fntdata"/><Relationship Id="rId128" Type="http://schemas.openxmlformats.org/officeDocument/2006/relationships/font" Target="fonts/font12.fntdata"/><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font" Target="fonts/font2.fntdata"/><Relationship Id="rId134"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font" Target="fonts/font8.fntdata"/><Relationship Id="rId129" Type="http://schemas.openxmlformats.org/officeDocument/2006/relationships/font" Target="fonts/font13.fntdata"/><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font" Target="fonts/font3.fntdata"/><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font" Target="fonts/font14.fntdata"/><Relationship Id="rId135" Type="http://schemas.openxmlformats.org/officeDocument/2006/relationships/viewProps" Target="view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font" Target="fonts/font4.fntdata"/><Relationship Id="rId125" Type="http://schemas.openxmlformats.org/officeDocument/2006/relationships/font" Target="fonts/font9.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font" Target="fonts/font15.fntdata"/><Relationship Id="rId136"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font" Target="fonts/font10.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font" Target="fonts/font5.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notesMaster" Target="notesMasters/notesMaster1.xml"/><Relationship Id="rId13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font" Target="fonts/font16.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font" Target="fonts/font11.fntdata"/><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 name="Google Shape;14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3" name="Google Shape;15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5" name="Google Shape;16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2" name="Google Shape;172;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8" name="Google Shape;17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4" name="Google Shape;18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0" name="Google Shape;190;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2" name="Google Shape;202;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0" name="Google Shape;210;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7" name="Google Shape;217;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3" name="Google Shape;223;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9" name="Google Shape;229;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0" name="Google Shape;240;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6" name="Google Shape;246;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2" name="Google Shape;252;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8" name="Google Shape;258;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4" name="Google Shape;264;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0" name="Google Shape;270;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2" name="Google Shape;282;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4" name="Google Shape;294;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0" name="Google Shape;300;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6" name="Google Shape;306;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9" name="Google Shape;319;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7" name="Google Shape;327;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4" name="Google Shape;334;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1" name="Google Shape;341;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8" name="Google Shape;348;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4" name="Google Shape;354;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0" name="Google Shape;360;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6" name="Google Shape;366;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4" name="Google Shape;37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1" name="Google Shape;381;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9" name="Google Shape;389;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p4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8" name="Google Shape;398;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4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6" name="Google Shape;406;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p4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4" name="Google Shape;414;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p4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1" name="Google Shape;421;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p4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9" name="Google Shape;429;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p4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5" name="Google Shape;435;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p4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2" name="Google Shape;442;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
        <p:cNvGrpSpPr/>
        <p:nvPr/>
      </p:nvGrpSpPr>
      <p:grpSpPr>
        <a:xfrm>
          <a:off x="0" y="0"/>
          <a:ext cx="0" cy="0"/>
          <a:chOff x="0" y="0"/>
          <a:chExt cx="0" cy="0"/>
        </a:xfrm>
      </p:grpSpPr>
      <p:sp>
        <p:nvSpPr>
          <p:cNvPr id="449" name="Google Shape;449;p4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0" name="Google Shape;450;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p4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6" name="Google Shape;456;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4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2" name="Google Shape;462;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p5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8" name="Google Shape;468;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p5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6" name="Google Shape;476;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p5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2" name="Google Shape;482;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p5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8" name="Google Shape;488;p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p5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4" name="Google Shape;494;p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p5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0" name="Google Shape;500;p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p5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6" name="Google Shape;506;p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p5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3" name="Google Shape;513;p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p:cNvGrpSpPr/>
        <p:nvPr/>
      </p:nvGrpSpPr>
      <p:grpSpPr>
        <a:xfrm>
          <a:off x="0" y="0"/>
          <a:ext cx="0" cy="0"/>
          <a:chOff x="0" y="0"/>
          <a:chExt cx="0" cy="0"/>
        </a:xfrm>
      </p:grpSpPr>
      <p:sp>
        <p:nvSpPr>
          <p:cNvPr id="520" name="Google Shape;520;p5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1" name="Google Shape;521;p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p:cNvGrpSpPr/>
        <p:nvPr/>
      </p:nvGrpSpPr>
      <p:grpSpPr>
        <a:xfrm>
          <a:off x="0" y="0"/>
          <a:ext cx="0" cy="0"/>
          <a:chOff x="0" y="0"/>
          <a:chExt cx="0" cy="0"/>
        </a:xfrm>
      </p:grpSpPr>
      <p:sp>
        <p:nvSpPr>
          <p:cNvPr id="526" name="Google Shape;526;p5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7" name="Google Shape;527;p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2"/>
        <p:cNvGrpSpPr/>
        <p:nvPr/>
      </p:nvGrpSpPr>
      <p:grpSpPr>
        <a:xfrm>
          <a:off x="0" y="0"/>
          <a:ext cx="0" cy="0"/>
          <a:chOff x="0" y="0"/>
          <a:chExt cx="0" cy="0"/>
        </a:xfrm>
      </p:grpSpPr>
      <p:sp>
        <p:nvSpPr>
          <p:cNvPr id="533" name="Google Shape;533;p6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4" name="Google Shape;534;p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9"/>
        <p:cNvGrpSpPr/>
        <p:nvPr/>
      </p:nvGrpSpPr>
      <p:grpSpPr>
        <a:xfrm>
          <a:off x="0" y="0"/>
          <a:ext cx="0" cy="0"/>
          <a:chOff x="0" y="0"/>
          <a:chExt cx="0" cy="0"/>
        </a:xfrm>
      </p:grpSpPr>
      <p:sp>
        <p:nvSpPr>
          <p:cNvPr id="540" name="Google Shape;540;p6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1" name="Google Shape;541;p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p:cNvGrpSpPr/>
        <p:nvPr/>
      </p:nvGrpSpPr>
      <p:grpSpPr>
        <a:xfrm>
          <a:off x="0" y="0"/>
          <a:ext cx="0" cy="0"/>
          <a:chOff x="0" y="0"/>
          <a:chExt cx="0" cy="0"/>
        </a:xfrm>
      </p:grpSpPr>
      <p:sp>
        <p:nvSpPr>
          <p:cNvPr id="546" name="Google Shape;546;p6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7" name="Google Shape;547;p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1"/>
        <p:cNvGrpSpPr/>
        <p:nvPr/>
      </p:nvGrpSpPr>
      <p:grpSpPr>
        <a:xfrm>
          <a:off x="0" y="0"/>
          <a:ext cx="0" cy="0"/>
          <a:chOff x="0" y="0"/>
          <a:chExt cx="0" cy="0"/>
        </a:xfrm>
      </p:grpSpPr>
      <p:sp>
        <p:nvSpPr>
          <p:cNvPr id="552" name="Google Shape;552;p6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3" name="Google Shape;553;p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7"/>
        <p:cNvGrpSpPr/>
        <p:nvPr/>
      </p:nvGrpSpPr>
      <p:grpSpPr>
        <a:xfrm>
          <a:off x="0" y="0"/>
          <a:ext cx="0" cy="0"/>
          <a:chOff x="0" y="0"/>
          <a:chExt cx="0" cy="0"/>
        </a:xfrm>
      </p:grpSpPr>
      <p:sp>
        <p:nvSpPr>
          <p:cNvPr id="558" name="Google Shape;558;p6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9" name="Google Shape;559;p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p6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6" name="Google Shape;566;p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0"/>
        <p:cNvGrpSpPr/>
        <p:nvPr/>
      </p:nvGrpSpPr>
      <p:grpSpPr>
        <a:xfrm>
          <a:off x="0" y="0"/>
          <a:ext cx="0" cy="0"/>
          <a:chOff x="0" y="0"/>
          <a:chExt cx="0" cy="0"/>
        </a:xfrm>
      </p:grpSpPr>
      <p:sp>
        <p:nvSpPr>
          <p:cNvPr id="571" name="Google Shape;571;p6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2" name="Google Shape;572;p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6"/>
        <p:cNvGrpSpPr/>
        <p:nvPr/>
      </p:nvGrpSpPr>
      <p:grpSpPr>
        <a:xfrm>
          <a:off x="0" y="0"/>
          <a:ext cx="0" cy="0"/>
          <a:chOff x="0" y="0"/>
          <a:chExt cx="0" cy="0"/>
        </a:xfrm>
      </p:grpSpPr>
      <p:sp>
        <p:nvSpPr>
          <p:cNvPr id="577" name="Google Shape;577;p6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8" name="Google Shape;578;p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2"/>
        <p:cNvGrpSpPr/>
        <p:nvPr/>
      </p:nvGrpSpPr>
      <p:grpSpPr>
        <a:xfrm>
          <a:off x="0" y="0"/>
          <a:ext cx="0" cy="0"/>
          <a:chOff x="0" y="0"/>
          <a:chExt cx="0" cy="0"/>
        </a:xfrm>
      </p:grpSpPr>
      <p:sp>
        <p:nvSpPr>
          <p:cNvPr id="583" name="Google Shape;583;p6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4" name="Google Shape;584;p6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8"/>
        <p:cNvGrpSpPr/>
        <p:nvPr/>
      </p:nvGrpSpPr>
      <p:grpSpPr>
        <a:xfrm>
          <a:off x="0" y="0"/>
          <a:ext cx="0" cy="0"/>
          <a:chOff x="0" y="0"/>
          <a:chExt cx="0" cy="0"/>
        </a:xfrm>
      </p:grpSpPr>
      <p:sp>
        <p:nvSpPr>
          <p:cNvPr id="589" name="Google Shape;589;p6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0" name="Google Shape;590;p6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p7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6" name="Google Shape;596;p7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0"/>
        <p:cNvGrpSpPr/>
        <p:nvPr/>
      </p:nvGrpSpPr>
      <p:grpSpPr>
        <a:xfrm>
          <a:off x="0" y="0"/>
          <a:ext cx="0" cy="0"/>
          <a:chOff x="0" y="0"/>
          <a:chExt cx="0" cy="0"/>
        </a:xfrm>
      </p:grpSpPr>
      <p:sp>
        <p:nvSpPr>
          <p:cNvPr id="601" name="Google Shape;601;p7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2" name="Google Shape;602;p7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p7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8" name="Google Shape;608;p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2"/>
        <p:cNvGrpSpPr/>
        <p:nvPr/>
      </p:nvGrpSpPr>
      <p:grpSpPr>
        <a:xfrm>
          <a:off x="0" y="0"/>
          <a:ext cx="0" cy="0"/>
          <a:chOff x="0" y="0"/>
          <a:chExt cx="0" cy="0"/>
        </a:xfrm>
      </p:grpSpPr>
      <p:sp>
        <p:nvSpPr>
          <p:cNvPr id="613" name="Google Shape;613;p7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4" name="Google Shape;614;p7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p:cNvGrpSpPr/>
        <p:nvPr/>
      </p:nvGrpSpPr>
      <p:grpSpPr>
        <a:xfrm>
          <a:off x="0" y="0"/>
          <a:ext cx="0" cy="0"/>
          <a:chOff x="0" y="0"/>
          <a:chExt cx="0" cy="0"/>
        </a:xfrm>
      </p:grpSpPr>
      <p:sp>
        <p:nvSpPr>
          <p:cNvPr id="618" name="Google Shape;618;p7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9" name="Google Shape;619;p7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2"/>
        <p:cNvGrpSpPr/>
        <p:nvPr/>
      </p:nvGrpSpPr>
      <p:grpSpPr>
        <a:xfrm>
          <a:off x="0" y="0"/>
          <a:ext cx="0" cy="0"/>
          <a:chOff x="0" y="0"/>
          <a:chExt cx="0" cy="0"/>
        </a:xfrm>
      </p:grpSpPr>
      <p:sp>
        <p:nvSpPr>
          <p:cNvPr id="623" name="Google Shape;623;p7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4" name="Google Shape;624;p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7"/>
        <p:cNvGrpSpPr/>
        <p:nvPr/>
      </p:nvGrpSpPr>
      <p:grpSpPr>
        <a:xfrm>
          <a:off x="0" y="0"/>
          <a:ext cx="0" cy="0"/>
          <a:chOff x="0" y="0"/>
          <a:chExt cx="0" cy="0"/>
        </a:xfrm>
      </p:grpSpPr>
      <p:sp>
        <p:nvSpPr>
          <p:cNvPr id="628" name="Google Shape;628;p7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9" name="Google Shape;629;p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2"/>
        <p:cNvGrpSpPr/>
        <p:nvPr/>
      </p:nvGrpSpPr>
      <p:grpSpPr>
        <a:xfrm>
          <a:off x="0" y="0"/>
          <a:ext cx="0" cy="0"/>
          <a:chOff x="0" y="0"/>
          <a:chExt cx="0" cy="0"/>
        </a:xfrm>
      </p:grpSpPr>
      <p:sp>
        <p:nvSpPr>
          <p:cNvPr id="633" name="Google Shape;633;p7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34" name="Google Shape;634;p7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8"/>
        <p:cNvGrpSpPr/>
        <p:nvPr/>
      </p:nvGrpSpPr>
      <p:grpSpPr>
        <a:xfrm>
          <a:off x="0" y="0"/>
          <a:ext cx="0" cy="0"/>
          <a:chOff x="0" y="0"/>
          <a:chExt cx="0" cy="0"/>
        </a:xfrm>
      </p:grpSpPr>
      <p:sp>
        <p:nvSpPr>
          <p:cNvPr id="639" name="Google Shape;639;p7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0" name="Google Shape;640;p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5"/>
        <p:cNvGrpSpPr/>
        <p:nvPr/>
      </p:nvGrpSpPr>
      <p:grpSpPr>
        <a:xfrm>
          <a:off x="0" y="0"/>
          <a:ext cx="0" cy="0"/>
          <a:chOff x="0" y="0"/>
          <a:chExt cx="0" cy="0"/>
        </a:xfrm>
      </p:grpSpPr>
      <p:sp>
        <p:nvSpPr>
          <p:cNvPr id="646" name="Google Shape;646;p7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7" name="Google Shape;647;p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p:cNvGrpSpPr/>
        <p:nvPr/>
      </p:nvGrpSpPr>
      <p:grpSpPr>
        <a:xfrm>
          <a:off x="0" y="0"/>
          <a:ext cx="0" cy="0"/>
          <a:chOff x="0" y="0"/>
          <a:chExt cx="0" cy="0"/>
        </a:xfrm>
      </p:grpSpPr>
      <p:sp>
        <p:nvSpPr>
          <p:cNvPr id="652" name="Google Shape;652;p8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3" name="Google Shape;653;p8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1"/>
        <p:cNvGrpSpPr/>
        <p:nvPr/>
      </p:nvGrpSpPr>
      <p:grpSpPr>
        <a:xfrm>
          <a:off x="0" y="0"/>
          <a:ext cx="0" cy="0"/>
          <a:chOff x="0" y="0"/>
          <a:chExt cx="0" cy="0"/>
        </a:xfrm>
      </p:grpSpPr>
      <p:sp>
        <p:nvSpPr>
          <p:cNvPr id="662" name="Google Shape;662;p8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3" name="Google Shape;663;p8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7"/>
        <p:cNvGrpSpPr/>
        <p:nvPr/>
      </p:nvGrpSpPr>
      <p:grpSpPr>
        <a:xfrm>
          <a:off x="0" y="0"/>
          <a:ext cx="0" cy="0"/>
          <a:chOff x="0" y="0"/>
          <a:chExt cx="0" cy="0"/>
        </a:xfrm>
      </p:grpSpPr>
      <p:sp>
        <p:nvSpPr>
          <p:cNvPr id="668" name="Google Shape;668;p8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9" name="Google Shape;669;p8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p8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0" name="Google Shape;680;p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5"/>
        <p:cNvGrpSpPr/>
        <p:nvPr/>
      </p:nvGrpSpPr>
      <p:grpSpPr>
        <a:xfrm>
          <a:off x="0" y="0"/>
          <a:ext cx="0" cy="0"/>
          <a:chOff x="0" y="0"/>
          <a:chExt cx="0" cy="0"/>
        </a:xfrm>
      </p:grpSpPr>
      <p:sp>
        <p:nvSpPr>
          <p:cNvPr id="686" name="Google Shape;686;p8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7" name="Google Shape;687;p8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1"/>
        <p:cNvGrpSpPr/>
        <p:nvPr/>
      </p:nvGrpSpPr>
      <p:grpSpPr>
        <a:xfrm>
          <a:off x="0" y="0"/>
          <a:ext cx="0" cy="0"/>
          <a:chOff x="0" y="0"/>
          <a:chExt cx="0" cy="0"/>
        </a:xfrm>
      </p:grpSpPr>
      <p:sp>
        <p:nvSpPr>
          <p:cNvPr id="692" name="Google Shape;692;p8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3" name="Google Shape;693;p8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9"/>
        <p:cNvGrpSpPr/>
        <p:nvPr/>
      </p:nvGrpSpPr>
      <p:grpSpPr>
        <a:xfrm>
          <a:off x="0" y="0"/>
          <a:ext cx="0" cy="0"/>
          <a:chOff x="0" y="0"/>
          <a:chExt cx="0" cy="0"/>
        </a:xfrm>
      </p:grpSpPr>
      <p:sp>
        <p:nvSpPr>
          <p:cNvPr id="700" name="Google Shape;700;p8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1" name="Google Shape;701;p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p8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7" name="Google Shape;707;p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4"/>
        <p:cNvGrpSpPr/>
        <p:nvPr/>
      </p:nvGrpSpPr>
      <p:grpSpPr>
        <a:xfrm>
          <a:off x="0" y="0"/>
          <a:ext cx="0" cy="0"/>
          <a:chOff x="0" y="0"/>
          <a:chExt cx="0" cy="0"/>
        </a:xfrm>
      </p:grpSpPr>
      <p:sp>
        <p:nvSpPr>
          <p:cNvPr id="715" name="Google Shape;715;p8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6" name="Google Shape;716;p8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3"/>
        <p:cNvGrpSpPr/>
        <p:nvPr/>
      </p:nvGrpSpPr>
      <p:grpSpPr>
        <a:xfrm>
          <a:off x="0" y="0"/>
          <a:ext cx="0" cy="0"/>
          <a:chOff x="0" y="0"/>
          <a:chExt cx="0" cy="0"/>
        </a:xfrm>
      </p:grpSpPr>
      <p:sp>
        <p:nvSpPr>
          <p:cNvPr id="724" name="Google Shape;724;p8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5" name="Google Shape;725;p8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4"/>
        <p:cNvGrpSpPr/>
        <p:nvPr/>
      </p:nvGrpSpPr>
      <p:grpSpPr>
        <a:xfrm>
          <a:off x="0" y="0"/>
          <a:ext cx="0" cy="0"/>
          <a:chOff x="0" y="0"/>
          <a:chExt cx="0" cy="0"/>
        </a:xfrm>
      </p:grpSpPr>
      <p:sp>
        <p:nvSpPr>
          <p:cNvPr id="735" name="Google Shape;735;p9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36" name="Google Shape;736;p9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6"/>
        <p:cNvGrpSpPr/>
        <p:nvPr/>
      </p:nvGrpSpPr>
      <p:grpSpPr>
        <a:xfrm>
          <a:off x="0" y="0"/>
          <a:ext cx="0" cy="0"/>
          <a:chOff x="0" y="0"/>
          <a:chExt cx="0" cy="0"/>
        </a:xfrm>
      </p:grpSpPr>
      <p:sp>
        <p:nvSpPr>
          <p:cNvPr id="757" name="Google Shape;757;p9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8" name="Google Shape;758;p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2"/>
        <p:cNvGrpSpPr/>
        <p:nvPr/>
      </p:nvGrpSpPr>
      <p:grpSpPr>
        <a:xfrm>
          <a:off x="0" y="0"/>
          <a:ext cx="0" cy="0"/>
          <a:chOff x="0" y="0"/>
          <a:chExt cx="0" cy="0"/>
        </a:xfrm>
      </p:grpSpPr>
      <p:sp>
        <p:nvSpPr>
          <p:cNvPr id="763" name="Google Shape;763;p9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4" name="Google Shape;764;p9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9"/>
        <p:cNvGrpSpPr/>
        <p:nvPr/>
      </p:nvGrpSpPr>
      <p:grpSpPr>
        <a:xfrm>
          <a:off x="0" y="0"/>
          <a:ext cx="0" cy="0"/>
          <a:chOff x="0" y="0"/>
          <a:chExt cx="0" cy="0"/>
        </a:xfrm>
      </p:grpSpPr>
      <p:sp>
        <p:nvSpPr>
          <p:cNvPr id="770" name="Google Shape;770;p9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71" name="Google Shape;771;p9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7"/>
        <p:cNvGrpSpPr/>
        <p:nvPr/>
      </p:nvGrpSpPr>
      <p:grpSpPr>
        <a:xfrm>
          <a:off x="0" y="0"/>
          <a:ext cx="0" cy="0"/>
          <a:chOff x="0" y="0"/>
          <a:chExt cx="0" cy="0"/>
        </a:xfrm>
      </p:grpSpPr>
      <p:sp>
        <p:nvSpPr>
          <p:cNvPr id="778" name="Google Shape;778;p9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79" name="Google Shape;779;p9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5"/>
        <p:cNvGrpSpPr/>
        <p:nvPr/>
      </p:nvGrpSpPr>
      <p:grpSpPr>
        <a:xfrm>
          <a:off x="0" y="0"/>
          <a:ext cx="0" cy="0"/>
          <a:chOff x="0" y="0"/>
          <a:chExt cx="0" cy="0"/>
        </a:xfrm>
      </p:grpSpPr>
      <p:sp>
        <p:nvSpPr>
          <p:cNvPr id="786" name="Google Shape;786;p9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87" name="Google Shape;787;p9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1"/>
        <p:cNvGrpSpPr/>
        <p:nvPr/>
      </p:nvGrpSpPr>
      <p:grpSpPr>
        <a:xfrm>
          <a:off x="0" y="0"/>
          <a:ext cx="0" cy="0"/>
          <a:chOff x="0" y="0"/>
          <a:chExt cx="0" cy="0"/>
        </a:xfrm>
      </p:grpSpPr>
      <p:sp>
        <p:nvSpPr>
          <p:cNvPr id="792" name="Google Shape;792;p9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93" name="Google Shape;793;p9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8"/>
        <p:cNvGrpSpPr/>
        <p:nvPr/>
      </p:nvGrpSpPr>
      <p:grpSpPr>
        <a:xfrm>
          <a:off x="0" y="0"/>
          <a:ext cx="0" cy="0"/>
          <a:chOff x="0" y="0"/>
          <a:chExt cx="0" cy="0"/>
        </a:xfrm>
      </p:grpSpPr>
      <p:sp>
        <p:nvSpPr>
          <p:cNvPr id="799" name="Google Shape;799;p9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00" name="Google Shape;800;p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9"/>
        <p:cNvGrpSpPr/>
        <p:nvPr/>
      </p:nvGrpSpPr>
      <p:grpSpPr>
        <a:xfrm>
          <a:off x="0" y="0"/>
          <a:ext cx="0" cy="0"/>
          <a:chOff x="0" y="0"/>
          <a:chExt cx="0" cy="0"/>
        </a:xfrm>
      </p:grpSpPr>
      <p:sp>
        <p:nvSpPr>
          <p:cNvPr id="810" name="Google Shape;810;p9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11" name="Google Shape;811;p9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5"/>
        <p:cNvGrpSpPr/>
        <p:nvPr/>
      </p:nvGrpSpPr>
      <p:grpSpPr>
        <a:xfrm>
          <a:off x="0" y="0"/>
          <a:ext cx="0" cy="0"/>
          <a:chOff x="0" y="0"/>
          <a:chExt cx="0" cy="0"/>
        </a:xfrm>
      </p:grpSpPr>
      <p:sp>
        <p:nvSpPr>
          <p:cNvPr id="816" name="Google Shape;816;p9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17" name="Google Shape;817;p9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1"/>
        <p:cNvGrpSpPr/>
        <p:nvPr/>
      </p:nvGrpSpPr>
      <p:grpSpPr>
        <a:xfrm>
          <a:off x="0" y="0"/>
          <a:ext cx="0" cy="0"/>
          <a:chOff x="0" y="0"/>
          <a:chExt cx="0" cy="0"/>
        </a:xfrm>
      </p:grpSpPr>
      <p:sp>
        <p:nvSpPr>
          <p:cNvPr id="822" name="Google Shape;822;p10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3" name="Google Shape;823;p10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Google Shape;828;p10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9" name="Google Shape;829;p10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3"/>
        <p:cNvGrpSpPr/>
        <p:nvPr/>
      </p:nvGrpSpPr>
      <p:grpSpPr>
        <a:xfrm>
          <a:off x="0" y="0"/>
          <a:ext cx="0" cy="0"/>
          <a:chOff x="0" y="0"/>
          <a:chExt cx="0" cy="0"/>
        </a:xfrm>
      </p:grpSpPr>
      <p:sp>
        <p:nvSpPr>
          <p:cNvPr id="834" name="Google Shape;834;p10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35" name="Google Shape;835;p10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9"/>
        <p:cNvGrpSpPr/>
        <p:nvPr/>
      </p:nvGrpSpPr>
      <p:grpSpPr>
        <a:xfrm>
          <a:off x="0" y="0"/>
          <a:ext cx="0" cy="0"/>
          <a:chOff x="0" y="0"/>
          <a:chExt cx="0" cy="0"/>
        </a:xfrm>
      </p:grpSpPr>
      <p:sp>
        <p:nvSpPr>
          <p:cNvPr id="840" name="Google Shape;840;p10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41" name="Google Shape;841;p10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5"/>
        <p:cNvGrpSpPr/>
        <p:nvPr/>
      </p:nvGrpSpPr>
      <p:grpSpPr>
        <a:xfrm>
          <a:off x="0" y="0"/>
          <a:ext cx="0" cy="0"/>
          <a:chOff x="0" y="0"/>
          <a:chExt cx="0" cy="0"/>
        </a:xfrm>
      </p:grpSpPr>
      <p:sp>
        <p:nvSpPr>
          <p:cNvPr id="846" name="Google Shape;846;p10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47" name="Google Shape;847;p10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3"/>
        <p:cNvGrpSpPr/>
        <p:nvPr/>
      </p:nvGrpSpPr>
      <p:grpSpPr>
        <a:xfrm>
          <a:off x="0" y="0"/>
          <a:ext cx="0" cy="0"/>
          <a:chOff x="0" y="0"/>
          <a:chExt cx="0" cy="0"/>
        </a:xfrm>
      </p:grpSpPr>
      <p:sp>
        <p:nvSpPr>
          <p:cNvPr id="854" name="Google Shape;854;p10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55" name="Google Shape;855;p10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9"/>
        <p:cNvGrpSpPr/>
        <p:nvPr/>
      </p:nvGrpSpPr>
      <p:grpSpPr>
        <a:xfrm>
          <a:off x="0" y="0"/>
          <a:ext cx="0" cy="0"/>
          <a:chOff x="0" y="0"/>
          <a:chExt cx="0" cy="0"/>
        </a:xfrm>
      </p:grpSpPr>
      <p:sp>
        <p:nvSpPr>
          <p:cNvPr id="860" name="Google Shape;860;p10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1" name="Google Shape;861;p10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1"/>
        <p:cNvGrpSpPr/>
        <p:nvPr/>
      </p:nvGrpSpPr>
      <p:grpSpPr>
        <a:xfrm>
          <a:off x="0" y="0"/>
          <a:ext cx="0" cy="0"/>
          <a:chOff x="0" y="0"/>
          <a:chExt cx="0" cy="0"/>
        </a:xfrm>
      </p:grpSpPr>
      <p:sp>
        <p:nvSpPr>
          <p:cNvPr id="872" name="Google Shape;872;p10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3" name="Google Shape;873;p10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8"/>
        <p:cNvGrpSpPr/>
        <p:nvPr/>
      </p:nvGrpSpPr>
      <p:grpSpPr>
        <a:xfrm>
          <a:off x="0" y="0"/>
          <a:ext cx="0" cy="0"/>
          <a:chOff x="0" y="0"/>
          <a:chExt cx="0" cy="0"/>
        </a:xfrm>
      </p:grpSpPr>
      <p:sp>
        <p:nvSpPr>
          <p:cNvPr id="879" name="Google Shape;879;p10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80" name="Google Shape;880;p10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5"/>
        <p:cNvGrpSpPr/>
        <p:nvPr/>
      </p:nvGrpSpPr>
      <p:grpSpPr>
        <a:xfrm>
          <a:off x="0" y="0"/>
          <a:ext cx="0" cy="0"/>
          <a:chOff x="0" y="0"/>
          <a:chExt cx="0" cy="0"/>
        </a:xfrm>
      </p:grpSpPr>
      <p:sp>
        <p:nvSpPr>
          <p:cNvPr id="886" name="Google Shape;886;p10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87" name="Google Shape;887;p10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2"/>
        <p:cNvGrpSpPr/>
        <p:nvPr/>
      </p:nvGrpSpPr>
      <p:grpSpPr>
        <a:xfrm>
          <a:off x="0" y="0"/>
          <a:ext cx="0" cy="0"/>
          <a:chOff x="0" y="0"/>
          <a:chExt cx="0" cy="0"/>
        </a:xfrm>
      </p:grpSpPr>
      <p:sp>
        <p:nvSpPr>
          <p:cNvPr id="893" name="Google Shape;893;p1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94" name="Google Shape;894;p1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9"/>
        <p:cNvGrpSpPr/>
        <p:nvPr/>
      </p:nvGrpSpPr>
      <p:grpSpPr>
        <a:xfrm>
          <a:off x="0" y="0"/>
          <a:ext cx="0" cy="0"/>
          <a:chOff x="0" y="0"/>
          <a:chExt cx="0" cy="0"/>
        </a:xfrm>
      </p:grpSpPr>
      <p:sp>
        <p:nvSpPr>
          <p:cNvPr id="900" name="Google Shape;900;p1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01" name="Google Shape;901;p1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6"/>
        <p:cNvGrpSpPr/>
        <p:nvPr/>
      </p:nvGrpSpPr>
      <p:grpSpPr>
        <a:xfrm>
          <a:off x="0" y="0"/>
          <a:ext cx="0" cy="0"/>
          <a:chOff x="0" y="0"/>
          <a:chExt cx="0" cy="0"/>
        </a:xfrm>
      </p:grpSpPr>
      <p:sp>
        <p:nvSpPr>
          <p:cNvPr id="907" name="Google Shape;907;p1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08" name="Google Shape;908;p1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4"/>
        <p:cNvGrpSpPr/>
        <p:nvPr/>
      </p:nvGrpSpPr>
      <p:grpSpPr>
        <a:xfrm>
          <a:off x="0" y="0"/>
          <a:ext cx="0" cy="0"/>
          <a:chOff x="0" y="0"/>
          <a:chExt cx="0" cy="0"/>
        </a:xfrm>
      </p:grpSpPr>
      <p:sp>
        <p:nvSpPr>
          <p:cNvPr id="915" name="Google Shape;915;p1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6" name="Google Shape;916;p1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0"/>
        <p:cNvGrpSpPr/>
        <p:nvPr/>
      </p:nvGrpSpPr>
      <p:grpSpPr>
        <a:xfrm>
          <a:off x="0" y="0"/>
          <a:ext cx="0" cy="0"/>
          <a:chOff x="0" y="0"/>
          <a:chExt cx="0" cy="0"/>
        </a:xfrm>
      </p:grpSpPr>
      <p:sp>
        <p:nvSpPr>
          <p:cNvPr id="921" name="Google Shape;921;p1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2" name="Google Shape;922;p1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27"/>
        <p:cNvGrpSpPr/>
        <p:nvPr/>
      </p:nvGrpSpPr>
      <p:grpSpPr>
        <a:xfrm>
          <a:off x="0" y="0"/>
          <a:ext cx="0" cy="0"/>
          <a:chOff x="0" y="0"/>
          <a:chExt cx="0" cy="0"/>
        </a:xfrm>
      </p:grpSpPr>
      <p:grpSp>
        <p:nvGrpSpPr>
          <p:cNvPr id="28" name="Google Shape;28;p116"/>
          <p:cNvGrpSpPr/>
          <p:nvPr/>
        </p:nvGrpSpPr>
        <p:grpSpPr>
          <a:xfrm>
            <a:off x="0" y="-8467"/>
            <a:ext cx="12192000" cy="6866467"/>
            <a:chOff x="0" y="-8467"/>
            <a:chExt cx="12192000" cy="6866467"/>
          </a:xfrm>
        </p:grpSpPr>
        <p:cxnSp>
          <p:nvCxnSpPr>
            <p:cNvPr id="29" name="Google Shape;29;p116"/>
            <p:cNvCxnSpPr/>
            <p:nvPr/>
          </p:nvCxnSpPr>
          <p:spPr>
            <a:xfrm>
              <a:off x="9371012" y="0"/>
              <a:ext cx="1219200" cy="6858000"/>
            </a:xfrm>
            <a:prstGeom prst="straightConnector1">
              <a:avLst/>
            </a:prstGeom>
            <a:noFill/>
            <a:ln w="9525" cap="flat" cmpd="sng">
              <a:solidFill>
                <a:srgbClr val="BFBFBF"/>
              </a:solidFill>
              <a:prstDash val="solid"/>
              <a:round/>
              <a:headEnd type="none" w="sm" len="sm"/>
              <a:tailEnd type="none" w="sm" len="sm"/>
            </a:ln>
          </p:spPr>
        </p:cxnSp>
        <p:cxnSp>
          <p:nvCxnSpPr>
            <p:cNvPr id="30" name="Google Shape;30;p116"/>
            <p:cNvCxnSpPr/>
            <p:nvPr/>
          </p:nvCxnSpPr>
          <p:spPr>
            <a:xfrm flipH="1">
              <a:off x="7425267" y="3681413"/>
              <a:ext cx="4763558" cy="3176587"/>
            </a:xfrm>
            <a:prstGeom prst="straightConnector1">
              <a:avLst/>
            </a:prstGeom>
            <a:noFill/>
            <a:ln w="9525" cap="flat" cmpd="sng">
              <a:solidFill>
                <a:srgbClr val="D8D8D8"/>
              </a:solidFill>
              <a:prstDash val="solid"/>
              <a:round/>
              <a:headEnd type="none" w="sm" len="sm"/>
              <a:tailEnd type="none" w="sm" len="sm"/>
            </a:ln>
          </p:spPr>
        </p:cxnSp>
        <p:sp>
          <p:nvSpPr>
            <p:cNvPr id="31" name="Google Shape;31;p116"/>
            <p:cNvSpPr/>
            <p:nvPr/>
          </p:nvSpPr>
          <p:spPr>
            <a:xfrm>
              <a:off x="9181476" y="-8467"/>
              <a:ext cx="3007349" cy="6866467"/>
            </a:xfrm>
            <a:custGeom>
              <a:avLst/>
              <a:gdLst/>
              <a:ahLst/>
              <a:cxnLst/>
              <a:rect l="l" t="t" r="r" b="b"/>
              <a:pathLst>
                <a:path w="3007349" h="6866467" extrusionOk="0">
                  <a:moveTo>
                    <a:pt x="2045532" y="0"/>
                  </a:moveTo>
                  <a:lnTo>
                    <a:pt x="3007349" y="0"/>
                  </a:lnTo>
                  <a:lnTo>
                    <a:pt x="3007349" y="6866467"/>
                  </a:lnTo>
                  <a:lnTo>
                    <a:pt x="0" y="6866467"/>
                  </a:lnTo>
                  <a:lnTo>
                    <a:pt x="2045532" y="0"/>
                  </a:lnTo>
                  <a:close/>
                </a:path>
              </a:pathLst>
            </a:custGeom>
            <a:solidFill>
              <a:schemeClr val="accent1">
                <a:alpha val="29803"/>
              </a:schemeClr>
            </a:solidFill>
            <a:ln>
              <a:noFill/>
            </a:ln>
          </p:spPr>
        </p:sp>
        <p:sp>
          <p:nvSpPr>
            <p:cNvPr id="32" name="Google Shape;32;p116"/>
            <p:cNvSpPr/>
            <p:nvPr/>
          </p:nvSpPr>
          <p:spPr>
            <a:xfrm>
              <a:off x="9603442" y="-8467"/>
              <a:ext cx="2588558" cy="6866467"/>
            </a:xfrm>
            <a:custGeom>
              <a:avLst/>
              <a:gdLst/>
              <a:ahLst/>
              <a:cxnLst/>
              <a:rect l="l" t="t" r="r" b="b"/>
              <a:pathLst>
                <a:path w="2573311" h="6866467" extrusionOk="0">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33" name="Google Shape;33;p116"/>
            <p:cNvSpPr/>
            <p:nvPr/>
          </p:nvSpPr>
          <p:spPr>
            <a:xfrm>
              <a:off x="8932333" y="3048000"/>
              <a:ext cx="3259667" cy="3810000"/>
            </a:xfrm>
            <a:prstGeom prst="triangle">
              <a:avLst>
                <a:gd name="adj" fmla="val 100000"/>
              </a:avLst>
            </a:prstGeom>
            <a:solidFill>
              <a:schemeClr val="accent2">
                <a:alpha val="71764"/>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116"/>
            <p:cNvSpPr/>
            <p:nvPr/>
          </p:nvSpPr>
          <p:spPr>
            <a:xfrm>
              <a:off x="9334500" y="-8467"/>
              <a:ext cx="2854326" cy="6866467"/>
            </a:xfrm>
            <a:custGeom>
              <a:avLst/>
              <a:gdLst/>
              <a:ahLst/>
              <a:cxnLst/>
              <a:rect l="l" t="t" r="r" b="b"/>
              <a:pathLst>
                <a:path w="2858013" h="6866467" extrusionOk="0">
                  <a:moveTo>
                    <a:pt x="0" y="0"/>
                  </a:moveTo>
                  <a:lnTo>
                    <a:pt x="2858013" y="0"/>
                  </a:lnTo>
                  <a:lnTo>
                    <a:pt x="2858013" y="6866467"/>
                  </a:lnTo>
                  <a:lnTo>
                    <a:pt x="2473942" y="6866467"/>
                  </a:lnTo>
                  <a:lnTo>
                    <a:pt x="0" y="0"/>
                  </a:lnTo>
                  <a:close/>
                </a:path>
              </a:pathLst>
            </a:custGeom>
            <a:solidFill>
              <a:srgbClr val="3F7818">
                <a:alpha val="69803"/>
              </a:srgbClr>
            </a:solidFill>
            <a:ln>
              <a:noFill/>
            </a:ln>
          </p:spPr>
        </p:sp>
        <p:sp>
          <p:nvSpPr>
            <p:cNvPr id="35" name="Google Shape;35;p116"/>
            <p:cNvSpPr/>
            <p:nvPr/>
          </p:nvSpPr>
          <p:spPr>
            <a:xfrm>
              <a:off x="10898730" y="-8467"/>
              <a:ext cx="1290094" cy="6866467"/>
            </a:xfrm>
            <a:custGeom>
              <a:avLst/>
              <a:gdLst/>
              <a:ahLst/>
              <a:cxnLst/>
              <a:rect l="l" t="t" r="r" b="b"/>
              <a:pathLst>
                <a:path w="1290094" h="6858000" extrusionOk="0">
                  <a:moveTo>
                    <a:pt x="1019735" y="0"/>
                  </a:moveTo>
                  <a:lnTo>
                    <a:pt x="1290094" y="0"/>
                  </a:lnTo>
                  <a:lnTo>
                    <a:pt x="1290094" y="6858000"/>
                  </a:lnTo>
                  <a:lnTo>
                    <a:pt x="0" y="6858000"/>
                  </a:lnTo>
                  <a:lnTo>
                    <a:pt x="1019735" y="0"/>
                  </a:lnTo>
                  <a:close/>
                </a:path>
              </a:pathLst>
            </a:custGeom>
            <a:solidFill>
              <a:srgbClr val="BFE471">
                <a:alpha val="69803"/>
              </a:srgbClr>
            </a:solidFill>
            <a:ln>
              <a:noFill/>
            </a:ln>
          </p:spPr>
        </p:sp>
        <p:sp>
          <p:nvSpPr>
            <p:cNvPr id="36" name="Google Shape;36;p116"/>
            <p:cNvSpPr/>
            <p:nvPr/>
          </p:nvSpPr>
          <p:spPr>
            <a:xfrm>
              <a:off x="10938999" y="-8467"/>
              <a:ext cx="1249825" cy="6866467"/>
            </a:xfrm>
            <a:custGeom>
              <a:avLst/>
              <a:gdLst/>
              <a:ahLst/>
              <a:cxnLst/>
              <a:rect l="l" t="t" r="r" b="b"/>
              <a:pathLst>
                <a:path w="1249825" h="6858000" extrusionOk="0">
                  <a:moveTo>
                    <a:pt x="0" y="0"/>
                  </a:moveTo>
                  <a:lnTo>
                    <a:pt x="1249825" y="0"/>
                  </a:lnTo>
                  <a:lnTo>
                    <a:pt x="1249825" y="6858000"/>
                  </a:lnTo>
                  <a:lnTo>
                    <a:pt x="1109382" y="6858000"/>
                  </a:lnTo>
                  <a:lnTo>
                    <a:pt x="0" y="0"/>
                  </a:lnTo>
                  <a:close/>
                </a:path>
              </a:pathLst>
            </a:custGeom>
            <a:solidFill>
              <a:schemeClr val="accent1">
                <a:alpha val="64705"/>
              </a:schemeClr>
            </a:solidFill>
            <a:ln>
              <a:noFill/>
            </a:ln>
          </p:spPr>
        </p:sp>
        <p:sp>
          <p:nvSpPr>
            <p:cNvPr id="37" name="Google Shape;37;p116"/>
            <p:cNvSpPr/>
            <p:nvPr/>
          </p:nvSpPr>
          <p:spPr>
            <a:xfrm>
              <a:off x="10371666" y="3589867"/>
              <a:ext cx="1817159" cy="3268133"/>
            </a:xfrm>
            <a:prstGeom prst="triangle">
              <a:avLst>
                <a:gd name="adj" fmla="val 100000"/>
              </a:avLst>
            </a:prstGeom>
            <a:solidFill>
              <a:schemeClr val="accent1">
                <a:alpha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116"/>
            <p:cNvSpPr/>
            <p:nvPr/>
          </p:nvSpPr>
          <p:spPr>
            <a:xfrm rot="10800000">
              <a:off x="0" y="0"/>
              <a:ext cx="842596" cy="5666154"/>
            </a:xfrm>
            <a:prstGeom prst="triangle">
              <a:avLst>
                <a:gd name="adj" fmla="val 100000"/>
              </a:avLst>
            </a:prstGeom>
            <a:solidFill>
              <a:schemeClr val="accent1">
                <a:alpha val="84705"/>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 name="Google Shape;39;p116"/>
          <p:cNvSpPr txBox="1">
            <a:spLocks noGrp="1"/>
          </p:cNvSpPr>
          <p:nvPr>
            <p:ph type="ctrTitle"/>
          </p:nvPr>
        </p:nvSpPr>
        <p:spPr>
          <a:xfrm>
            <a:off x="1507067" y="2404534"/>
            <a:ext cx="7766936" cy="1646302"/>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Clr>
                <a:schemeClr val="accent1"/>
              </a:buClr>
              <a:buSzPts val="5400"/>
              <a:buFont typeface="Trebuchet MS"/>
              <a:buNone/>
              <a:defRPr sz="54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116"/>
          <p:cNvSpPr txBox="1">
            <a:spLocks noGrp="1"/>
          </p:cNvSpPr>
          <p:nvPr>
            <p:ph type="subTitle" idx="1"/>
          </p:nvPr>
        </p:nvSpPr>
        <p:spPr>
          <a:xfrm>
            <a:off x="1507067" y="4050833"/>
            <a:ext cx="7766936" cy="1096899"/>
          </a:xfrm>
          <a:prstGeom prst="rect">
            <a:avLst/>
          </a:prstGeom>
          <a:noFill/>
          <a:ln>
            <a:noFill/>
          </a:ln>
        </p:spPr>
        <p:txBody>
          <a:bodyPr spcFirstLastPara="1" wrap="square" lIns="91425" tIns="45700" rIns="91425" bIns="45700" anchor="t" anchorCtr="0">
            <a:normAutofit/>
          </a:bodyPr>
          <a:lstStyle>
            <a:lvl1pPr lvl="0" algn="r">
              <a:spcBef>
                <a:spcPts val="1000"/>
              </a:spcBef>
              <a:spcAft>
                <a:spcPts val="0"/>
              </a:spcAft>
              <a:buSzPts val="1440"/>
              <a:buNone/>
              <a:defRPr>
                <a:solidFill>
                  <a:srgbClr val="7F7F7F"/>
                </a:solidFill>
              </a:defRPr>
            </a:lvl1pPr>
            <a:lvl2pPr lvl="1" algn="ctr">
              <a:spcBef>
                <a:spcPts val="1000"/>
              </a:spcBef>
              <a:spcAft>
                <a:spcPts val="0"/>
              </a:spcAft>
              <a:buSzPts val="1280"/>
              <a:buNone/>
              <a:defRPr>
                <a:solidFill>
                  <a:srgbClr val="888888"/>
                </a:solidFill>
              </a:defRPr>
            </a:lvl2pPr>
            <a:lvl3pPr lvl="2" algn="ctr">
              <a:spcBef>
                <a:spcPts val="1000"/>
              </a:spcBef>
              <a:spcAft>
                <a:spcPts val="0"/>
              </a:spcAft>
              <a:buSzPts val="1120"/>
              <a:buNone/>
              <a:defRPr>
                <a:solidFill>
                  <a:srgbClr val="888888"/>
                </a:solidFill>
              </a:defRPr>
            </a:lvl3pPr>
            <a:lvl4pPr lvl="3" algn="ctr">
              <a:spcBef>
                <a:spcPts val="1000"/>
              </a:spcBef>
              <a:spcAft>
                <a:spcPts val="0"/>
              </a:spcAft>
              <a:buSzPts val="960"/>
              <a:buNone/>
              <a:defRPr>
                <a:solidFill>
                  <a:srgbClr val="888888"/>
                </a:solidFill>
              </a:defRPr>
            </a:lvl4pPr>
            <a:lvl5pPr lvl="4" algn="ctr">
              <a:spcBef>
                <a:spcPts val="1000"/>
              </a:spcBef>
              <a:spcAft>
                <a:spcPts val="0"/>
              </a:spcAft>
              <a:buSzPts val="960"/>
              <a:buNone/>
              <a:defRPr>
                <a:solidFill>
                  <a:srgbClr val="888888"/>
                </a:solidFill>
              </a:defRPr>
            </a:lvl5pPr>
            <a:lvl6pPr lvl="5" algn="ctr">
              <a:spcBef>
                <a:spcPts val="1000"/>
              </a:spcBef>
              <a:spcAft>
                <a:spcPts val="0"/>
              </a:spcAft>
              <a:buSzPts val="960"/>
              <a:buNone/>
              <a:defRPr>
                <a:solidFill>
                  <a:srgbClr val="888888"/>
                </a:solidFill>
              </a:defRPr>
            </a:lvl6pPr>
            <a:lvl7pPr lvl="6" algn="ctr">
              <a:spcBef>
                <a:spcPts val="1000"/>
              </a:spcBef>
              <a:spcAft>
                <a:spcPts val="0"/>
              </a:spcAft>
              <a:buSzPts val="960"/>
              <a:buNone/>
              <a:defRPr>
                <a:solidFill>
                  <a:srgbClr val="888888"/>
                </a:solidFill>
              </a:defRPr>
            </a:lvl7pPr>
            <a:lvl8pPr lvl="7" algn="ctr">
              <a:spcBef>
                <a:spcPts val="1000"/>
              </a:spcBef>
              <a:spcAft>
                <a:spcPts val="0"/>
              </a:spcAft>
              <a:buSzPts val="960"/>
              <a:buNone/>
              <a:defRPr>
                <a:solidFill>
                  <a:srgbClr val="888888"/>
                </a:solidFill>
              </a:defRPr>
            </a:lvl8pPr>
            <a:lvl9pPr lvl="8" algn="ctr">
              <a:spcBef>
                <a:spcPts val="1000"/>
              </a:spcBef>
              <a:spcAft>
                <a:spcPts val="0"/>
              </a:spcAft>
              <a:buSzPts val="960"/>
              <a:buNone/>
              <a:defRPr>
                <a:solidFill>
                  <a:srgbClr val="888888"/>
                </a:solidFill>
              </a:defRPr>
            </a:lvl9pPr>
          </a:lstStyle>
          <a:p>
            <a:endParaRPr/>
          </a:p>
        </p:txBody>
      </p:sp>
      <p:sp>
        <p:nvSpPr>
          <p:cNvPr id="41" name="Google Shape;41;p116"/>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116"/>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116"/>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44"/>
        <p:cNvGrpSpPr/>
        <p:nvPr/>
      </p:nvGrpSpPr>
      <p:grpSpPr>
        <a:xfrm>
          <a:off x="0" y="0"/>
          <a:ext cx="0" cy="0"/>
          <a:chOff x="0" y="0"/>
          <a:chExt cx="0" cy="0"/>
        </a:xfrm>
      </p:grpSpPr>
      <p:sp>
        <p:nvSpPr>
          <p:cNvPr id="45" name="Google Shape;45;p117"/>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3600"/>
              <a:buFont typeface="Trebuchet MS"/>
              <a:buNone/>
              <a:defRPr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117"/>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47" name="Google Shape;47;p117"/>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17"/>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117"/>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0"/>
        <p:cNvGrpSpPr/>
        <p:nvPr/>
      </p:nvGrpSpPr>
      <p:grpSpPr>
        <a:xfrm>
          <a:off x="0" y="0"/>
          <a:ext cx="0" cy="0"/>
          <a:chOff x="0" y="0"/>
          <a:chExt cx="0" cy="0"/>
        </a:xfrm>
      </p:grpSpPr>
      <p:sp>
        <p:nvSpPr>
          <p:cNvPr id="51" name="Google Shape;51;p118"/>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18"/>
          <p:cNvSpPr txBox="1">
            <a:spLocks noGrp="1"/>
          </p:cNvSpPr>
          <p:nvPr>
            <p:ph type="body" idx="1"/>
          </p:nvPr>
        </p:nvSpPr>
        <p:spPr>
          <a:xfrm>
            <a:off x="677334" y="2160589"/>
            <a:ext cx="4184035" cy="3880772"/>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53" name="Google Shape;53;p118"/>
          <p:cNvSpPr txBox="1">
            <a:spLocks noGrp="1"/>
          </p:cNvSpPr>
          <p:nvPr>
            <p:ph type="body" idx="2"/>
          </p:nvPr>
        </p:nvSpPr>
        <p:spPr>
          <a:xfrm>
            <a:off x="5089970" y="2160589"/>
            <a:ext cx="4184034" cy="3880773"/>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54" name="Google Shape;54;p118"/>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118"/>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118"/>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7"/>
        <p:cNvGrpSpPr/>
        <p:nvPr/>
      </p:nvGrpSpPr>
      <p:grpSpPr>
        <a:xfrm>
          <a:off x="0" y="0"/>
          <a:ext cx="0" cy="0"/>
          <a:chOff x="0" y="0"/>
          <a:chExt cx="0" cy="0"/>
        </a:xfrm>
      </p:grpSpPr>
      <p:sp>
        <p:nvSpPr>
          <p:cNvPr id="58" name="Google Shape;58;p119"/>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3600"/>
              <a:buFont typeface="Trebuchet MS"/>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19"/>
          <p:cNvSpPr txBox="1">
            <a:spLocks noGrp="1"/>
          </p:cNvSpPr>
          <p:nvPr>
            <p:ph type="body" idx="1"/>
          </p:nvPr>
        </p:nvSpPr>
        <p:spPr>
          <a:xfrm>
            <a:off x="675745" y="2160983"/>
            <a:ext cx="4185623"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60" name="Google Shape;60;p119"/>
          <p:cNvSpPr txBox="1">
            <a:spLocks noGrp="1"/>
          </p:cNvSpPr>
          <p:nvPr>
            <p:ph type="body" idx="2"/>
          </p:nvPr>
        </p:nvSpPr>
        <p:spPr>
          <a:xfrm>
            <a:off x="675745" y="2737245"/>
            <a:ext cx="4185623" cy="3304117"/>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61" name="Google Shape;61;p119"/>
          <p:cNvSpPr txBox="1">
            <a:spLocks noGrp="1"/>
          </p:cNvSpPr>
          <p:nvPr>
            <p:ph type="body" idx="3"/>
          </p:nvPr>
        </p:nvSpPr>
        <p:spPr>
          <a:xfrm>
            <a:off x="5088383" y="2160983"/>
            <a:ext cx="4185618"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62" name="Google Shape;62;p119"/>
          <p:cNvSpPr txBox="1">
            <a:spLocks noGrp="1"/>
          </p:cNvSpPr>
          <p:nvPr>
            <p:ph type="body" idx="4"/>
          </p:nvPr>
        </p:nvSpPr>
        <p:spPr>
          <a:xfrm>
            <a:off x="5088384" y="2737245"/>
            <a:ext cx="4185617" cy="3304117"/>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63" name="Google Shape;63;p119"/>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19"/>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119"/>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6"/>
        <p:cNvGrpSpPr/>
        <p:nvPr/>
      </p:nvGrpSpPr>
      <p:grpSpPr>
        <a:xfrm>
          <a:off x="0" y="0"/>
          <a:ext cx="0" cy="0"/>
          <a:chOff x="0" y="0"/>
          <a:chExt cx="0" cy="0"/>
        </a:xfrm>
      </p:grpSpPr>
      <p:sp>
        <p:nvSpPr>
          <p:cNvPr id="67" name="Google Shape;67;p120"/>
          <p:cNvSpPr txBox="1">
            <a:spLocks noGrp="1"/>
          </p:cNvSpPr>
          <p:nvPr>
            <p:ph type="title"/>
          </p:nvPr>
        </p:nvSpPr>
        <p:spPr>
          <a:xfrm>
            <a:off x="677335" y="2700867"/>
            <a:ext cx="8596668" cy="1826581"/>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4000"/>
              <a:buFont typeface="Trebuchet MS"/>
              <a:buNone/>
              <a:defRPr sz="40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120"/>
          <p:cNvSpPr txBox="1">
            <a:spLocks noGrp="1"/>
          </p:cNvSpPr>
          <p:nvPr>
            <p:ph type="body" idx="1"/>
          </p:nvPr>
        </p:nvSpPr>
        <p:spPr>
          <a:xfrm>
            <a:off x="677335" y="4527448"/>
            <a:ext cx="8596668" cy="860400"/>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600"/>
              <a:buNone/>
              <a:defRPr sz="2000">
                <a:solidFill>
                  <a:srgbClr val="7F7F7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69" name="Google Shape;69;p120"/>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20"/>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20"/>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2"/>
        <p:cNvGrpSpPr/>
        <p:nvPr/>
      </p:nvGrpSpPr>
      <p:grpSpPr>
        <a:xfrm>
          <a:off x="0" y="0"/>
          <a:ext cx="0" cy="0"/>
          <a:chOff x="0" y="0"/>
          <a:chExt cx="0" cy="0"/>
        </a:xfrm>
      </p:grpSpPr>
      <p:sp>
        <p:nvSpPr>
          <p:cNvPr id="73" name="Google Shape;73;p121"/>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121"/>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121"/>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21"/>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7"/>
        <p:cNvGrpSpPr/>
        <p:nvPr/>
      </p:nvGrpSpPr>
      <p:grpSpPr>
        <a:xfrm>
          <a:off x="0" y="0"/>
          <a:ext cx="0" cy="0"/>
          <a:chOff x="0" y="0"/>
          <a:chExt cx="0" cy="0"/>
        </a:xfrm>
      </p:grpSpPr>
      <p:sp>
        <p:nvSpPr>
          <p:cNvPr id="78" name="Google Shape;78;p122"/>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2"/>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122"/>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81"/>
        <p:cNvGrpSpPr/>
        <p:nvPr/>
      </p:nvGrpSpPr>
      <p:grpSpPr>
        <a:xfrm>
          <a:off x="0" y="0"/>
          <a:ext cx="0" cy="0"/>
          <a:chOff x="0" y="0"/>
          <a:chExt cx="0" cy="0"/>
        </a:xfrm>
      </p:grpSpPr>
      <p:sp>
        <p:nvSpPr>
          <p:cNvPr id="82" name="Google Shape;82;p123"/>
          <p:cNvSpPr txBox="1">
            <a:spLocks noGrp="1"/>
          </p:cNvSpPr>
          <p:nvPr>
            <p:ph type="title"/>
          </p:nvPr>
        </p:nvSpPr>
        <p:spPr>
          <a:xfrm>
            <a:off x="677334" y="1498604"/>
            <a:ext cx="3854528" cy="1278466"/>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2000"/>
              <a:buFont typeface="Trebuchet MS"/>
              <a:buNone/>
              <a:defRPr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3"/>
          <p:cNvSpPr txBox="1">
            <a:spLocks noGrp="1"/>
          </p:cNvSpPr>
          <p:nvPr>
            <p:ph type="body" idx="1"/>
          </p:nvPr>
        </p:nvSpPr>
        <p:spPr>
          <a:xfrm>
            <a:off x="4760461" y="514924"/>
            <a:ext cx="4513541" cy="5526437"/>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84" name="Google Shape;84;p123"/>
          <p:cNvSpPr txBox="1">
            <a:spLocks noGrp="1"/>
          </p:cNvSpPr>
          <p:nvPr>
            <p:ph type="body" idx="2"/>
          </p:nvPr>
        </p:nvSpPr>
        <p:spPr>
          <a:xfrm>
            <a:off x="677334" y="2777069"/>
            <a:ext cx="3854528" cy="2584449"/>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1120"/>
              <a:buNone/>
              <a:defRPr sz="1400"/>
            </a:lvl2pPr>
            <a:lvl3pPr marL="1371600" lvl="2" indent="-228600" algn="l">
              <a:spcBef>
                <a:spcPts val="1000"/>
              </a:spcBef>
              <a:spcAft>
                <a:spcPts val="0"/>
              </a:spcAft>
              <a:buSzPts val="960"/>
              <a:buNone/>
              <a:defRPr sz="1200"/>
            </a:lvl3pPr>
            <a:lvl4pPr marL="1828800" lvl="3" indent="-228600" algn="l">
              <a:spcBef>
                <a:spcPts val="1000"/>
              </a:spcBef>
              <a:spcAft>
                <a:spcPts val="0"/>
              </a:spcAft>
              <a:buSzPts val="800"/>
              <a:buNone/>
              <a:defRPr sz="1000"/>
            </a:lvl4pPr>
            <a:lvl5pPr marL="2286000" lvl="4" indent="-228600" algn="l">
              <a:spcBef>
                <a:spcPts val="1000"/>
              </a:spcBef>
              <a:spcAft>
                <a:spcPts val="0"/>
              </a:spcAft>
              <a:buSzPts val="800"/>
              <a:buNone/>
              <a:defRPr sz="1000"/>
            </a:lvl5pPr>
            <a:lvl6pPr marL="2743200" lvl="5" indent="-228600" algn="l">
              <a:spcBef>
                <a:spcPts val="1000"/>
              </a:spcBef>
              <a:spcAft>
                <a:spcPts val="0"/>
              </a:spcAft>
              <a:buSzPts val="800"/>
              <a:buNone/>
              <a:defRPr sz="1000"/>
            </a:lvl6pPr>
            <a:lvl7pPr marL="3200400" lvl="6" indent="-228600" algn="l">
              <a:spcBef>
                <a:spcPts val="1000"/>
              </a:spcBef>
              <a:spcAft>
                <a:spcPts val="0"/>
              </a:spcAft>
              <a:buSzPts val="800"/>
              <a:buNone/>
              <a:defRPr sz="1000"/>
            </a:lvl7pPr>
            <a:lvl8pPr marL="3657600" lvl="7" indent="-228600" algn="l">
              <a:spcBef>
                <a:spcPts val="1000"/>
              </a:spcBef>
              <a:spcAft>
                <a:spcPts val="0"/>
              </a:spcAft>
              <a:buSzPts val="800"/>
              <a:buNone/>
              <a:defRPr sz="1000"/>
            </a:lvl8pPr>
            <a:lvl9pPr marL="4114800" lvl="8" indent="-228600" algn="l">
              <a:spcBef>
                <a:spcPts val="1000"/>
              </a:spcBef>
              <a:spcAft>
                <a:spcPts val="0"/>
              </a:spcAft>
              <a:buSzPts val="800"/>
              <a:buNone/>
              <a:defRPr sz="1000"/>
            </a:lvl9pPr>
          </a:lstStyle>
          <a:p>
            <a:endParaRPr/>
          </a:p>
        </p:txBody>
      </p:sp>
      <p:sp>
        <p:nvSpPr>
          <p:cNvPr id="85" name="Google Shape;85;p123"/>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123"/>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123"/>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8"/>
        <p:cNvGrpSpPr/>
        <p:nvPr/>
      </p:nvGrpSpPr>
      <p:grpSpPr>
        <a:xfrm>
          <a:off x="0" y="0"/>
          <a:ext cx="0" cy="0"/>
          <a:chOff x="0" y="0"/>
          <a:chExt cx="0" cy="0"/>
        </a:xfrm>
      </p:grpSpPr>
      <p:sp>
        <p:nvSpPr>
          <p:cNvPr id="89" name="Google Shape;89;p124"/>
          <p:cNvSpPr txBox="1">
            <a:spLocks noGrp="1"/>
          </p:cNvSpPr>
          <p:nvPr>
            <p:ph type="title"/>
          </p:nvPr>
        </p:nvSpPr>
        <p:spPr>
          <a:xfrm>
            <a:off x="677334" y="4800600"/>
            <a:ext cx="8596667"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2400"/>
              <a:buFont typeface="Trebuchet MS"/>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124"/>
          <p:cNvSpPr>
            <a:spLocks noGrp="1"/>
          </p:cNvSpPr>
          <p:nvPr>
            <p:ph type="pic" idx="2"/>
          </p:nvPr>
        </p:nvSpPr>
        <p:spPr>
          <a:xfrm>
            <a:off x="677334" y="609600"/>
            <a:ext cx="8596668" cy="3845718"/>
          </a:xfrm>
          <a:prstGeom prst="rect">
            <a:avLst/>
          </a:prstGeom>
          <a:noFill/>
          <a:ln>
            <a:noFill/>
          </a:ln>
        </p:spPr>
      </p:sp>
      <p:sp>
        <p:nvSpPr>
          <p:cNvPr id="91" name="Google Shape;91;p124"/>
          <p:cNvSpPr txBox="1">
            <a:spLocks noGrp="1"/>
          </p:cNvSpPr>
          <p:nvPr>
            <p:ph type="body" idx="1"/>
          </p:nvPr>
        </p:nvSpPr>
        <p:spPr>
          <a:xfrm>
            <a:off x="677334" y="5367338"/>
            <a:ext cx="8596667" cy="67402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960"/>
              <a:buNone/>
              <a:defRPr sz="12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92" name="Google Shape;92;p124"/>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124"/>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124"/>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Caption">
  <p:cSld name="Title and Caption">
    <p:spTree>
      <p:nvGrpSpPr>
        <p:cNvPr id="1" name="Shape 95"/>
        <p:cNvGrpSpPr/>
        <p:nvPr/>
      </p:nvGrpSpPr>
      <p:grpSpPr>
        <a:xfrm>
          <a:off x="0" y="0"/>
          <a:ext cx="0" cy="0"/>
          <a:chOff x="0" y="0"/>
          <a:chExt cx="0" cy="0"/>
        </a:xfrm>
      </p:grpSpPr>
      <p:sp>
        <p:nvSpPr>
          <p:cNvPr id="96" name="Google Shape;96;p125"/>
          <p:cNvSpPr txBox="1">
            <a:spLocks noGrp="1"/>
          </p:cNvSpPr>
          <p:nvPr>
            <p:ph type="title"/>
          </p:nvPr>
        </p:nvSpPr>
        <p:spPr>
          <a:xfrm>
            <a:off x="677335" y="609600"/>
            <a:ext cx="8596668" cy="3403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125"/>
          <p:cNvSpPr txBox="1">
            <a:spLocks noGrp="1"/>
          </p:cNvSpPr>
          <p:nvPr>
            <p:ph type="body" idx="1"/>
          </p:nvPr>
        </p:nvSpPr>
        <p:spPr>
          <a:xfrm>
            <a:off x="677335" y="4470400"/>
            <a:ext cx="8596668" cy="1570962"/>
          </a:xfrm>
          <a:prstGeom prst="rect">
            <a:avLst/>
          </a:prstGeom>
          <a:noFill/>
          <a:ln>
            <a:noFill/>
          </a:ln>
        </p:spPr>
        <p:txBody>
          <a:bodyPr spcFirstLastPara="1" wrap="square" lIns="91425" tIns="45700" rIns="91425" bIns="45700" anchor="ctr" anchorCtr="0">
            <a:normAutofit/>
          </a:bodyPr>
          <a:lstStyle>
            <a:lvl1pPr marL="457200" lvl="0" indent="-228600" algn="l">
              <a:spcBef>
                <a:spcPts val="1000"/>
              </a:spcBef>
              <a:spcAft>
                <a:spcPts val="0"/>
              </a:spcAft>
              <a:buSzPts val="1440"/>
              <a:buNone/>
              <a:defRPr sz="1800">
                <a:solidFill>
                  <a:srgbClr val="3F3F3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98" name="Google Shape;98;p125"/>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9" name="Google Shape;99;p125"/>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125"/>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Quote with Caption">
  <p:cSld name="Quote with Caption">
    <p:spTree>
      <p:nvGrpSpPr>
        <p:cNvPr id="1" name="Shape 101"/>
        <p:cNvGrpSpPr/>
        <p:nvPr/>
      </p:nvGrpSpPr>
      <p:grpSpPr>
        <a:xfrm>
          <a:off x="0" y="0"/>
          <a:ext cx="0" cy="0"/>
          <a:chOff x="0" y="0"/>
          <a:chExt cx="0" cy="0"/>
        </a:xfrm>
      </p:grpSpPr>
      <p:sp>
        <p:nvSpPr>
          <p:cNvPr id="102" name="Google Shape;102;p126"/>
          <p:cNvSpPr txBox="1">
            <a:spLocks noGrp="1"/>
          </p:cNvSpPr>
          <p:nvPr>
            <p:ph type="title"/>
          </p:nvPr>
        </p:nvSpPr>
        <p:spPr>
          <a:xfrm>
            <a:off x="931334" y="609600"/>
            <a:ext cx="8094134" cy="3022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126"/>
          <p:cNvSpPr txBox="1">
            <a:spLocks noGrp="1"/>
          </p:cNvSpPr>
          <p:nvPr>
            <p:ph type="body" idx="1"/>
          </p:nvPr>
        </p:nvSpPr>
        <p:spPr>
          <a:xfrm>
            <a:off x="1366139" y="3632200"/>
            <a:ext cx="7224524" cy="381000"/>
          </a:xfrm>
          <a:prstGeom prst="rect">
            <a:avLst/>
          </a:prstGeom>
          <a:noFill/>
          <a:ln>
            <a:noFill/>
          </a:ln>
        </p:spPr>
        <p:txBody>
          <a:bodyPr spcFirstLastPara="1" wrap="square" lIns="91425" tIns="45700" rIns="91425" bIns="45700" anchor="ctr" anchorCtr="0">
            <a:noAutofit/>
          </a:bodyPr>
          <a:lstStyle>
            <a:lvl1pPr marL="457200" lvl="0" indent="-228600" algn="l">
              <a:spcBef>
                <a:spcPts val="1000"/>
              </a:spcBef>
              <a:spcAft>
                <a:spcPts val="0"/>
              </a:spcAft>
              <a:buSzPts val="1280"/>
              <a:buFont typeface="Trebuchet MS"/>
              <a:buNone/>
              <a:defRPr sz="1600">
                <a:solidFill>
                  <a:srgbClr val="7F7F7F"/>
                </a:solidFill>
              </a:defRPr>
            </a:lvl1pPr>
            <a:lvl2pPr marL="914400" lvl="1" indent="-228600" algn="l">
              <a:spcBef>
                <a:spcPts val="1000"/>
              </a:spcBef>
              <a:spcAft>
                <a:spcPts val="0"/>
              </a:spcAft>
              <a:buSzPts val="1280"/>
              <a:buFont typeface="Trebuchet MS"/>
              <a:buNone/>
              <a:defRPr/>
            </a:lvl2pPr>
            <a:lvl3pPr marL="1371600" lvl="2" indent="-228600" algn="l">
              <a:spcBef>
                <a:spcPts val="1000"/>
              </a:spcBef>
              <a:spcAft>
                <a:spcPts val="0"/>
              </a:spcAft>
              <a:buSzPts val="1120"/>
              <a:buFont typeface="Trebuchet MS"/>
              <a:buNone/>
              <a:defRPr/>
            </a:lvl3pPr>
            <a:lvl4pPr marL="1828800" lvl="3" indent="-228600" algn="l">
              <a:spcBef>
                <a:spcPts val="1000"/>
              </a:spcBef>
              <a:spcAft>
                <a:spcPts val="0"/>
              </a:spcAft>
              <a:buSzPts val="960"/>
              <a:buFont typeface="Trebuchet MS"/>
              <a:buNone/>
              <a:defRPr/>
            </a:lvl4pPr>
            <a:lvl5pPr marL="2286000" lvl="4" indent="-228600" algn="l">
              <a:spcBef>
                <a:spcPts val="1000"/>
              </a:spcBef>
              <a:spcAft>
                <a:spcPts val="0"/>
              </a:spcAft>
              <a:buSzPts val="960"/>
              <a:buFont typeface="Trebuchet MS"/>
              <a:buNone/>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04" name="Google Shape;104;p126"/>
          <p:cNvSpPr txBox="1">
            <a:spLocks noGrp="1"/>
          </p:cNvSpPr>
          <p:nvPr>
            <p:ph type="body" idx="2"/>
          </p:nvPr>
        </p:nvSpPr>
        <p:spPr>
          <a:xfrm>
            <a:off x="677335" y="4470400"/>
            <a:ext cx="8596668" cy="1570962"/>
          </a:xfrm>
          <a:prstGeom prst="rect">
            <a:avLst/>
          </a:prstGeom>
          <a:noFill/>
          <a:ln>
            <a:noFill/>
          </a:ln>
        </p:spPr>
        <p:txBody>
          <a:bodyPr spcFirstLastPara="1" wrap="square" lIns="91425" tIns="45700" rIns="91425" bIns="45700" anchor="ctr" anchorCtr="0">
            <a:normAutofit/>
          </a:bodyPr>
          <a:lstStyle>
            <a:lvl1pPr marL="457200" lvl="0" indent="-228600" algn="l">
              <a:spcBef>
                <a:spcPts val="1000"/>
              </a:spcBef>
              <a:spcAft>
                <a:spcPts val="0"/>
              </a:spcAft>
              <a:buSzPts val="1440"/>
              <a:buNone/>
              <a:defRPr sz="1800">
                <a:solidFill>
                  <a:srgbClr val="3F3F3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105" name="Google Shape;105;p126"/>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6" name="Google Shape;106;p126"/>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126"/>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08" name="Google Shape;108;p126"/>
          <p:cNvSpPr txBox="1"/>
          <p:nvPr/>
        </p:nvSpPr>
        <p:spPr>
          <a:xfrm>
            <a:off x="541870" y="790378"/>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a:solidFill>
                  <a:srgbClr val="BFE471"/>
                </a:solidFill>
                <a:latin typeface="Arial"/>
                <a:ea typeface="Arial"/>
                <a:cs typeface="Arial"/>
                <a:sym typeface="Arial"/>
              </a:rPr>
              <a:t>“</a:t>
            </a:r>
            <a:endParaRPr/>
          </a:p>
        </p:txBody>
      </p:sp>
      <p:sp>
        <p:nvSpPr>
          <p:cNvPr id="109" name="Google Shape;109;p126"/>
          <p:cNvSpPr txBox="1"/>
          <p:nvPr/>
        </p:nvSpPr>
        <p:spPr>
          <a:xfrm>
            <a:off x="8893011" y="2886556"/>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a:solidFill>
                  <a:srgbClr val="BFE471"/>
                </a:solidFill>
                <a:latin typeface="Arial"/>
                <a:ea typeface="Arial"/>
                <a:cs typeface="Arial"/>
                <a:sym typeface="Arial"/>
              </a:rPr>
              <a:t>”</a:t>
            </a:r>
            <a:endParaRPr sz="1800">
              <a:solidFill>
                <a:srgbClr val="BFE471"/>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Name Card">
  <p:cSld name="Name Card">
    <p:spTree>
      <p:nvGrpSpPr>
        <p:cNvPr id="1" name="Shape 110"/>
        <p:cNvGrpSpPr/>
        <p:nvPr/>
      </p:nvGrpSpPr>
      <p:grpSpPr>
        <a:xfrm>
          <a:off x="0" y="0"/>
          <a:ext cx="0" cy="0"/>
          <a:chOff x="0" y="0"/>
          <a:chExt cx="0" cy="0"/>
        </a:xfrm>
      </p:grpSpPr>
      <p:sp>
        <p:nvSpPr>
          <p:cNvPr id="111" name="Google Shape;111;p127"/>
          <p:cNvSpPr txBox="1">
            <a:spLocks noGrp="1"/>
          </p:cNvSpPr>
          <p:nvPr>
            <p:ph type="title"/>
          </p:nvPr>
        </p:nvSpPr>
        <p:spPr>
          <a:xfrm>
            <a:off x="677335" y="1931988"/>
            <a:ext cx="8596668" cy="259546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2" name="Google Shape;112;p127"/>
          <p:cNvSpPr txBox="1">
            <a:spLocks noGrp="1"/>
          </p:cNvSpPr>
          <p:nvPr>
            <p:ph type="body" idx="1"/>
          </p:nvPr>
        </p:nvSpPr>
        <p:spPr>
          <a:xfrm>
            <a:off x="677335" y="4527448"/>
            <a:ext cx="8596668" cy="151391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440"/>
              <a:buNone/>
              <a:defRPr sz="1800">
                <a:solidFill>
                  <a:srgbClr val="3F3F3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113" name="Google Shape;113;p127"/>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p127"/>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5" name="Google Shape;115;p127"/>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Name Card">
  <p:cSld name="Quote Name Card">
    <p:spTree>
      <p:nvGrpSpPr>
        <p:cNvPr id="1" name="Shape 116"/>
        <p:cNvGrpSpPr/>
        <p:nvPr/>
      </p:nvGrpSpPr>
      <p:grpSpPr>
        <a:xfrm>
          <a:off x="0" y="0"/>
          <a:ext cx="0" cy="0"/>
          <a:chOff x="0" y="0"/>
          <a:chExt cx="0" cy="0"/>
        </a:xfrm>
      </p:grpSpPr>
      <p:sp>
        <p:nvSpPr>
          <p:cNvPr id="117" name="Google Shape;117;p128"/>
          <p:cNvSpPr txBox="1">
            <a:spLocks noGrp="1"/>
          </p:cNvSpPr>
          <p:nvPr>
            <p:ph type="title"/>
          </p:nvPr>
        </p:nvSpPr>
        <p:spPr>
          <a:xfrm>
            <a:off x="931334" y="609600"/>
            <a:ext cx="8094134" cy="3022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8" name="Google Shape;118;p128"/>
          <p:cNvSpPr txBox="1">
            <a:spLocks noGrp="1"/>
          </p:cNvSpPr>
          <p:nvPr>
            <p:ph type="body" idx="1"/>
          </p:nvPr>
        </p:nvSpPr>
        <p:spPr>
          <a:xfrm>
            <a:off x="677332" y="4013200"/>
            <a:ext cx="8596669" cy="514248"/>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Font typeface="Trebuchet MS"/>
              <a:buNone/>
              <a:defRPr sz="2400">
                <a:solidFill>
                  <a:srgbClr val="3F3F3F"/>
                </a:solidFill>
              </a:defRPr>
            </a:lvl1pPr>
            <a:lvl2pPr marL="914400" lvl="1" indent="-228600" algn="l">
              <a:spcBef>
                <a:spcPts val="1000"/>
              </a:spcBef>
              <a:spcAft>
                <a:spcPts val="0"/>
              </a:spcAft>
              <a:buSzPts val="1280"/>
              <a:buFont typeface="Trebuchet MS"/>
              <a:buNone/>
              <a:defRPr/>
            </a:lvl2pPr>
            <a:lvl3pPr marL="1371600" lvl="2" indent="-228600" algn="l">
              <a:spcBef>
                <a:spcPts val="1000"/>
              </a:spcBef>
              <a:spcAft>
                <a:spcPts val="0"/>
              </a:spcAft>
              <a:buSzPts val="1120"/>
              <a:buFont typeface="Trebuchet MS"/>
              <a:buNone/>
              <a:defRPr/>
            </a:lvl3pPr>
            <a:lvl4pPr marL="1828800" lvl="3" indent="-228600" algn="l">
              <a:spcBef>
                <a:spcPts val="1000"/>
              </a:spcBef>
              <a:spcAft>
                <a:spcPts val="0"/>
              </a:spcAft>
              <a:buSzPts val="960"/>
              <a:buFont typeface="Trebuchet MS"/>
              <a:buNone/>
              <a:defRPr/>
            </a:lvl4pPr>
            <a:lvl5pPr marL="2286000" lvl="4" indent="-228600" algn="l">
              <a:spcBef>
                <a:spcPts val="1000"/>
              </a:spcBef>
              <a:spcAft>
                <a:spcPts val="0"/>
              </a:spcAft>
              <a:buSzPts val="960"/>
              <a:buFont typeface="Trebuchet MS"/>
              <a:buNone/>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19" name="Google Shape;119;p128"/>
          <p:cNvSpPr txBox="1">
            <a:spLocks noGrp="1"/>
          </p:cNvSpPr>
          <p:nvPr>
            <p:ph type="body" idx="2"/>
          </p:nvPr>
        </p:nvSpPr>
        <p:spPr>
          <a:xfrm>
            <a:off x="677335" y="4527448"/>
            <a:ext cx="8596668" cy="151391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440"/>
              <a:buNone/>
              <a:defRPr sz="1800">
                <a:solidFill>
                  <a:srgbClr val="7F7F7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120" name="Google Shape;120;p128"/>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1" name="Google Shape;121;p128"/>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2" name="Google Shape;122;p128"/>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23" name="Google Shape;123;p128"/>
          <p:cNvSpPr txBox="1"/>
          <p:nvPr/>
        </p:nvSpPr>
        <p:spPr>
          <a:xfrm>
            <a:off x="541870" y="790378"/>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a:solidFill>
                  <a:srgbClr val="BFE471"/>
                </a:solidFill>
                <a:latin typeface="Arial"/>
                <a:ea typeface="Arial"/>
                <a:cs typeface="Arial"/>
                <a:sym typeface="Arial"/>
              </a:rPr>
              <a:t>“</a:t>
            </a:r>
            <a:endParaRPr/>
          </a:p>
        </p:txBody>
      </p:sp>
      <p:sp>
        <p:nvSpPr>
          <p:cNvPr id="124" name="Google Shape;124;p128"/>
          <p:cNvSpPr txBox="1"/>
          <p:nvPr/>
        </p:nvSpPr>
        <p:spPr>
          <a:xfrm>
            <a:off x="8893011" y="2886556"/>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a:solidFill>
                  <a:srgbClr val="BFE471"/>
                </a:solidFill>
                <a:latin typeface="Arial"/>
                <a:ea typeface="Arial"/>
                <a:cs typeface="Arial"/>
                <a:sym typeface="Arial"/>
              </a:rPr>
              <a:t>”</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rue or False">
  <p:cSld name="True or False">
    <p:spTree>
      <p:nvGrpSpPr>
        <p:cNvPr id="1" name="Shape 125"/>
        <p:cNvGrpSpPr/>
        <p:nvPr/>
      </p:nvGrpSpPr>
      <p:grpSpPr>
        <a:xfrm>
          <a:off x="0" y="0"/>
          <a:ext cx="0" cy="0"/>
          <a:chOff x="0" y="0"/>
          <a:chExt cx="0" cy="0"/>
        </a:xfrm>
      </p:grpSpPr>
      <p:sp>
        <p:nvSpPr>
          <p:cNvPr id="126" name="Google Shape;126;p129"/>
          <p:cNvSpPr txBox="1">
            <a:spLocks noGrp="1"/>
          </p:cNvSpPr>
          <p:nvPr>
            <p:ph type="title"/>
          </p:nvPr>
        </p:nvSpPr>
        <p:spPr>
          <a:xfrm>
            <a:off x="685799" y="609600"/>
            <a:ext cx="8588203" cy="3022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7" name="Google Shape;127;p129"/>
          <p:cNvSpPr txBox="1">
            <a:spLocks noGrp="1"/>
          </p:cNvSpPr>
          <p:nvPr>
            <p:ph type="body" idx="1"/>
          </p:nvPr>
        </p:nvSpPr>
        <p:spPr>
          <a:xfrm>
            <a:off x="677332" y="4013200"/>
            <a:ext cx="8596669" cy="514248"/>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Font typeface="Trebuchet MS"/>
              <a:buNone/>
              <a:defRPr sz="2400">
                <a:solidFill>
                  <a:schemeClr val="accent1"/>
                </a:solidFill>
              </a:defRPr>
            </a:lvl1pPr>
            <a:lvl2pPr marL="914400" lvl="1" indent="-228600" algn="l">
              <a:spcBef>
                <a:spcPts val="1000"/>
              </a:spcBef>
              <a:spcAft>
                <a:spcPts val="0"/>
              </a:spcAft>
              <a:buSzPts val="1280"/>
              <a:buFont typeface="Trebuchet MS"/>
              <a:buNone/>
              <a:defRPr/>
            </a:lvl2pPr>
            <a:lvl3pPr marL="1371600" lvl="2" indent="-228600" algn="l">
              <a:spcBef>
                <a:spcPts val="1000"/>
              </a:spcBef>
              <a:spcAft>
                <a:spcPts val="0"/>
              </a:spcAft>
              <a:buSzPts val="1120"/>
              <a:buFont typeface="Trebuchet MS"/>
              <a:buNone/>
              <a:defRPr/>
            </a:lvl3pPr>
            <a:lvl4pPr marL="1828800" lvl="3" indent="-228600" algn="l">
              <a:spcBef>
                <a:spcPts val="1000"/>
              </a:spcBef>
              <a:spcAft>
                <a:spcPts val="0"/>
              </a:spcAft>
              <a:buSzPts val="960"/>
              <a:buFont typeface="Trebuchet MS"/>
              <a:buNone/>
              <a:defRPr/>
            </a:lvl4pPr>
            <a:lvl5pPr marL="2286000" lvl="4" indent="-228600" algn="l">
              <a:spcBef>
                <a:spcPts val="1000"/>
              </a:spcBef>
              <a:spcAft>
                <a:spcPts val="0"/>
              </a:spcAft>
              <a:buSzPts val="960"/>
              <a:buFont typeface="Trebuchet MS"/>
              <a:buNone/>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28" name="Google Shape;128;p129"/>
          <p:cNvSpPr txBox="1">
            <a:spLocks noGrp="1"/>
          </p:cNvSpPr>
          <p:nvPr>
            <p:ph type="body" idx="2"/>
          </p:nvPr>
        </p:nvSpPr>
        <p:spPr>
          <a:xfrm>
            <a:off x="677335" y="4527448"/>
            <a:ext cx="8596668" cy="151391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440"/>
              <a:buNone/>
              <a:defRPr sz="1800">
                <a:solidFill>
                  <a:srgbClr val="7F7F7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129" name="Google Shape;129;p129"/>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0" name="Google Shape;130;p129"/>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1" name="Google Shape;131;p129"/>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32"/>
        <p:cNvGrpSpPr/>
        <p:nvPr/>
      </p:nvGrpSpPr>
      <p:grpSpPr>
        <a:xfrm>
          <a:off x="0" y="0"/>
          <a:ext cx="0" cy="0"/>
          <a:chOff x="0" y="0"/>
          <a:chExt cx="0" cy="0"/>
        </a:xfrm>
      </p:grpSpPr>
      <p:sp>
        <p:nvSpPr>
          <p:cNvPr id="133" name="Google Shape;133;p130"/>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4" name="Google Shape;134;p130"/>
          <p:cNvSpPr txBox="1">
            <a:spLocks noGrp="1"/>
          </p:cNvSpPr>
          <p:nvPr>
            <p:ph type="body" idx="1"/>
          </p:nvPr>
        </p:nvSpPr>
        <p:spPr>
          <a:xfrm rot="5400000">
            <a:off x="3035281" y="-197358"/>
            <a:ext cx="3880773" cy="8596668"/>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35" name="Google Shape;135;p130"/>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6" name="Google Shape;136;p130"/>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7" name="Google Shape;137;p130"/>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38"/>
        <p:cNvGrpSpPr/>
        <p:nvPr/>
      </p:nvGrpSpPr>
      <p:grpSpPr>
        <a:xfrm>
          <a:off x="0" y="0"/>
          <a:ext cx="0" cy="0"/>
          <a:chOff x="0" y="0"/>
          <a:chExt cx="0" cy="0"/>
        </a:xfrm>
      </p:grpSpPr>
      <p:sp>
        <p:nvSpPr>
          <p:cNvPr id="139" name="Google Shape;139;p131"/>
          <p:cNvSpPr txBox="1">
            <a:spLocks noGrp="1"/>
          </p:cNvSpPr>
          <p:nvPr>
            <p:ph type="title"/>
          </p:nvPr>
        </p:nvSpPr>
        <p:spPr>
          <a:xfrm rot="5400000">
            <a:off x="5994319" y="2582953"/>
            <a:ext cx="5251451" cy="1304743"/>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0" name="Google Shape;140;p131"/>
          <p:cNvSpPr txBox="1">
            <a:spLocks noGrp="1"/>
          </p:cNvSpPr>
          <p:nvPr>
            <p:ph type="body" idx="1"/>
          </p:nvPr>
        </p:nvSpPr>
        <p:spPr>
          <a:xfrm rot="5400000">
            <a:off x="1581685" y="-294750"/>
            <a:ext cx="5251450" cy="7060150"/>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41" name="Google Shape;141;p131"/>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2" name="Google Shape;142;p131"/>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3" name="Google Shape;143;p131"/>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grpSp>
        <p:nvGrpSpPr>
          <p:cNvPr id="10" name="Google Shape;10;p115"/>
          <p:cNvGrpSpPr/>
          <p:nvPr/>
        </p:nvGrpSpPr>
        <p:grpSpPr>
          <a:xfrm>
            <a:off x="0" y="-8467"/>
            <a:ext cx="12192000" cy="6866467"/>
            <a:chOff x="0" y="-8467"/>
            <a:chExt cx="12192000" cy="6866467"/>
          </a:xfrm>
        </p:grpSpPr>
        <p:cxnSp>
          <p:nvCxnSpPr>
            <p:cNvPr id="11" name="Google Shape;11;p115"/>
            <p:cNvCxnSpPr/>
            <p:nvPr/>
          </p:nvCxnSpPr>
          <p:spPr>
            <a:xfrm>
              <a:off x="9371012" y="0"/>
              <a:ext cx="1219200" cy="6858000"/>
            </a:xfrm>
            <a:prstGeom prst="straightConnector1">
              <a:avLst/>
            </a:prstGeom>
            <a:noFill/>
            <a:ln w="9525" cap="flat" cmpd="sng">
              <a:solidFill>
                <a:srgbClr val="BFBFBF"/>
              </a:solidFill>
              <a:prstDash val="solid"/>
              <a:round/>
              <a:headEnd type="none" w="sm" len="sm"/>
              <a:tailEnd type="none" w="sm" len="sm"/>
            </a:ln>
          </p:spPr>
        </p:cxnSp>
        <p:cxnSp>
          <p:nvCxnSpPr>
            <p:cNvPr id="12" name="Google Shape;12;p115"/>
            <p:cNvCxnSpPr/>
            <p:nvPr/>
          </p:nvCxnSpPr>
          <p:spPr>
            <a:xfrm flipH="1">
              <a:off x="7425267" y="3681413"/>
              <a:ext cx="4763558" cy="3176587"/>
            </a:xfrm>
            <a:prstGeom prst="straightConnector1">
              <a:avLst/>
            </a:prstGeom>
            <a:noFill/>
            <a:ln w="9525" cap="flat" cmpd="sng">
              <a:solidFill>
                <a:srgbClr val="D8D8D8"/>
              </a:solidFill>
              <a:prstDash val="solid"/>
              <a:round/>
              <a:headEnd type="none" w="sm" len="sm"/>
              <a:tailEnd type="none" w="sm" len="sm"/>
            </a:ln>
          </p:spPr>
        </p:cxnSp>
        <p:sp>
          <p:nvSpPr>
            <p:cNvPr id="13" name="Google Shape;13;p115"/>
            <p:cNvSpPr/>
            <p:nvPr/>
          </p:nvSpPr>
          <p:spPr>
            <a:xfrm>
              <a:off x="9181476" y="-8467"/>
              <a:ext cx="3007349" cy="6866467"/>
            </a:xfrm>
            <a:custGeom>
              <a:avLst/>
              <a:gdLst/>
              <a:ahLst/>
              <a:cxnLst/>
              <a:rect l="l" t="t" r="r" b="b"/>
              <a:pathLst>
                <a:path w="3007349" h="6866467" extrusionOk="0">
                  <a:moveTo>
                    <a:pt x="2045532" y="0"/>
                  </a:moveTo>
                  <a:lnTo>
                    <a:pt x="3007349" y="0"/>
                  </a:lnTo>
                  <a:lnTo>
                    <a:pt x="3007349" y="6866467"/>
                  </a:lnTo>
                  <a:lnTo>
                    <a:pt x="0" y="6866467"/>
                  </a:lnTo>
                  <a:lnTo>
                    <a:pt x="2045532" y="0"/>
                  </a:lnTo>
                  <a:close/>
                </a:path>
              </a:pathLst>
            </a:custGeom>
            <a:solidFill>
              <a:schemeClr val="accent1">
                <a:alpha val="29803"/>
              </a:schemeClr>
            </a:solidFill>
            <a:ln>
              <a:noFill/>
            </a:ln>
          </p:spPr>
        </p:sp>
        <p:sp>
          <p:nvSpPr>
            <p:cNvPr id="14" name="Google Shape;14;p115"/>
            <p:cNvSpPr/>
            <p:nvPr/>
          </p:nvSpPr>
          <p:spPr>
            <a:xfrm>
              <a:off x="9603442" y="-8467"/>
              <a:ext cx="2588558" cy="6866467"/>
            </a:xfrm>
            <a:custGeom>
              <a:avLst/>
              <a:gdLst/>
              <a:ahLst/>
              <a:cxnLst/>
              <a:rect l="l" t="t" r="r" b="b"/>
              <a:pathLst>
                <a:path w="2573311" h="6866467" extrusionOk="0">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15" name="Google Shape;15;p115"/>
            <p:cNvSpPr/>
            <p:nvPr/>
          </p:nvSpPr>
          <p:spPr>
            <a:xfrm>
              <a:off x="8932333" y="3048000"/>
              <a:ext cx="3259667" cy="3810000"/>
            </a:xfrm>
            <a:prstGeom prst="triangle">
              <a:avLst>
                <a:gd name="adj" fmla="val 100000"/>
              </a:avLst>
            </a:prstGeom>
            <a:solidFill>
              <a:schemeClr val="accent2">
                <a:alpha val="71764"/>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115"/>
            <p:cNvSpPr/>
            <p:nvPr/>
          </p:nvSpPr>
          <p:spPr>
            <a:xfrm>
              <a:off x="9334500" y="-8467"/>
              <a:ext cx="2854326" cy="6866467"/>
            </a:xfrm>
            <a:custGeom>
              <a:avLst/>
              <a:gdLst/>
              <a:ahLst/>
              <a:cxnLst/>
              <a:rect l="l" t="t" r="r" b="b"/>
              <a:pathLst>
                <a:path w="2858013" h="6866467" extrusionOk="0">
                  <a:moveTo>
                    <a:pt x="0" y="0"/>
                  </a:moveTo>
                  <a:lnTo>
                    <a:pt x="2858013" y="0"/>
                  </a:lnTo>
                  <a:lnTo>
                    <a:pt x="2858013" y="6866467"/>
                  </a:lnTo>
                  <a:lnTo>
                    <a:pt x="2473942" y="6866467"/>
                  </a:lnTo>
                  <a:lnTo>
                    <a:pt x="0" y="0"/>
                  </a:lnTo>
                  <a:close/>
                </a:path>
              </a:pathLst>
            </a:custGeom>
            <a:solidFill>
              <a:srgbClr val="3F7818">
                <a:alpha val="69803"/>
              </a:srgbClr>
            </a:solidFill>
            <a:ln>
              <a:noFill/>
            </a:ln>
          </p:spPr>
        </p:sp>
        <p:sp>
          <p:nvSpPr>
            <p:cNvPr id="17" name="Google Shape;17;p115"/>
            <p:cNvSpPr/>
            <p:nvPr/>
          </p:nvSpPr>
          <p:spPr>
            <a:xfrm>
              <a:off x="10898730" y="-8467"/>
              <a:ext cx="1290094" cy="6866467"/>
            </a:xfrm>
            <a:custGeom>
              <a:avLst/>
              <a:gdLst/>
              <a:ahLst/>
              <a:cxnLst/>
              <a:rect l="l" t="t" r="r" b="b"/>
              <a:pathLst>
                <a:path w="1290094" h="6858000" extrusionOk="0">
                  <a:moveTo>
                    <a:pt x="1019735" y="0"/>
                  </a:moveTo>
                  <a:lnTo>
                    <a:pt x="1290094" y="0"/>
                  </a:lnTo>
                  <a:lnTo>
                    <a:pt x="1290094" y="6858000"/>
                  </a:lnTo>
                  <a:lnTo>
                    <a:pt x="0" y="6858000"/>
                  </a:lnTo>
                  <a:lnTo>
                    <a:pt x="1019735" y="0"/>
                  </a:lnTo>
                  <a:close/>
                </a:path>
              </a:pathLst>
            </a:custGeom>
            <a:solidFill>
              <a:srgbClr val="BFE471">
                <a:alpha val="69803"/>
              </a:srgbClr>
            </a:solidFill>
            <a:ln>
              <a:noFill/>
            </a:ln>
          </p:spPr>
        </p:sp>
        <p:sp>
          <p:nvSpPr>
            <p:cNvPr id="18" name="Google Shape;18;p115"/>
            <p:cNvSpPr/>
            <p:nvPr/>
          </p:nvSpPr>
          <p:spPr>
            <a:xfrm>
              <a:off x="10938999" y="-8467"/>
              <a:ext cx="1249825" cy="6866467"/>
            </a:xfrm>
            <a:custGeom>
              <a:avLst/>
              <a:gdLst/>
              <a:ahLst/>
              <a:cxnLst/>
              <a:rect l="l" t="t" r="r" b="b"/>
              <a:pathLst>
                <a:path w="1249825" h="6858000" extrusionOk="0">
                  <a:moveTo>
                    <a:pt x="0" y="0"/>
                  </a:moveTo>
                  <a:lnTo>
                    <a:pt x="1249825" y="0"/>
                  </a:lnTo>
                  <a:lnTo>
                    <a:pt x="1249825" y="6858000"/>
                  </a:lnTo>
                  <a:lnTo>
                    <a:pt x="1109382" y="6858000"/>
                  </a:lnTo>
                  <a:lnTo>
                    <a:pt x="0" y="0"/>
                  </a:lnTo>
                  <a:close/>
                </a:path>
              </a:pathLst>
            </a:custGeom>
            <a:solidFill>
              <a:schemeClr val="accent1">
                <a:alpha val="64705"/>
              </a:schemeClr>
            </a:solidFill>
            <a:ln>
              <a:noFill/>
            </a:ln>
          </p:spPr>
        </p:sp>
        <p:sp>
          <p:nvSpPr>
            <p:cNvPr id="19" name="Google Shape;19;p115"/>
            <p:cNvSpPr/>
            <p:nvPr/>
          </p:nvSpPr>
          <p:spPr>
            <a:xfrm>
              <a:off x="10371666" y="3589867"/>
              <a:ext cx="1817159" cy="3268133"/>
            </a:xfrm>
            <a:prstGeom prst="triangle">
              <a:avLst>
                <a:gd name="adj" fmla="val 100000"/>
              </a:avLst>
            </a:prstGeom>
            <a:solidFill>
              <a:schemeClr val="accent1">
                <a:alpha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115"/>
            <p:cNvSpPr/>
            <p:nvPr/>
          </p:nvSpPr>
          <p:spPr>
            <a:xfrm>
              <a:off x="0" y="4013200"/>
              <a:ext cx="448733" cy="2844800"/>
            </a:xfrm>
            <a:prstGeom prst="triangle">
              <a:avLst>
                <a:gd name="adj" fmla="val 0"/>
              </a:avLst>
            </a:prstGeom>
            <a:solidFill>
              <a:schemeClr val="accent1">
                <a:alpha val="84705"/>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115"/>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marR="0" lvl="0" algn="l" rtl="0">
              <a:spcBef>
                <a:spcPts val="0"/>
              </a:spcBef>
              <a:spcAft>
                <a:spcPts val="0"/>
              </a:spcAft>
              <a:buClr>
                <a:schemeClr val="accent1"/>
              </a:buClr>
              <a:buSzPts val="3600"/>
              <a:buFont typeface="Trebuchet MS"/>
              <a:buNone/>
              <a:defRPr sz="3600" b="0" i="0" u="none" strike="noStrike" cap="none">
                <a:solidFill>
                  <a:schemeClr val="accent1"/>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2"/>
                </a:solidFill>
              </a:defRPr>
            </a:lvl2pPr>
            <a:lvl3pPr marR="0" lvl="2" algn="l" rtl="0">
              <a:spcBef>
                <a:spcPts val="0"/>
              </a:spcBef>
              <a:spcAft>
                <a:spcPts val="0"/>
              </a:spcAft>
              <a:buSzPts val="1400"/>
              <a:buNone/>
              <a:defRPr sz="1800" b="0" i="0" u="none" strike="noStrike" cap="none">
                <a:solidFill>
                  <a:schemeClr val="dk2"/>
                </a:solidFill>
              </a:defRPr>
            </a:lvl3pPr>
            <a:lvl4pPr marR="0" lvl="3" algn="l" rtl="0">
              <a:spcBef>
                <a:spcPts val="0"/>
              </a:spcBef>
              <a:spcAft>
                <a:spcPts val="0"/>
              </a:spcAft>
              <a:buSzPts val="1400"/>
              <a:buNone/>
              <a:defRPr sz="1800" b="0" i="0" u="none" strike="noStrike" cap="none">
                <a:solidFill>
                  <a:schemeClr val="dk2"/>
                </a:solidFill>
              </a:defRPr>
            </a:lvl4pPr>
            <a:lvl5pPr marR="0" lvl="4" algn="l" rtl="0">
              <a:spcBef>
                <a:spcPts val="0"/>
              </a:spcBef>
              <a:spcAft>
                <a:spcPts val="0"/>
              </a:spcAft>
              <a:buSzPts val="1400"/>
              <a:buNone/>
              <a:defRPr sz="1800" b="0" i="0" u="none" strike="noStrike" cap="none">
                <a:solidFill>
                  <a:schemeClr val="dk2"/>
                </a:solidFill>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a:endParaRPr/>
          </a:p>
        </p:txBody>
      </p:sp>
      <p:sp>
        <p:nvSpPr>
          <p:cNvPr id="22" name="Google Shape;22;p115"/>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lvl1pPr marL="457200" marR="0" lvl="0" indent="-320040" algn="l" rtl="0">
              <a:spcBef>
                <a:spcPts val="1000"/>
              </a:spcBef>
              <a:spcAft>
                <a:spcPts val="0"/>
              </a:spcAft>
              <a:buClr>
                <a:schemeClr val="accent1"/>
              </a:buClr>
              <a:buSzPts val="1440"/>
              <a:buFont typeface="Noto Sans Symbols"/>
              <a:buChar char="►"/>
              <a:defRPr sz="1800" b="0" i="0" u="none" strike="noStrike" cap="none">
                <a:solidFill>
                  <a:srgbClr val="3F3F3F"/>
                </a:solidFill>
                <a:latin typeface="Trebuchet MS"/>
                <a:ea typeface="Trebuchet MS"/>
                <a:cs typeface="Trebuchet MS"/>
                <a:sym typeface="Trebuchet MS"/>
              </a:defRPr>
            </a:lvl1pPr>
            <a:lvl2pPr marL="914400" marR="0" lvl="1" indent="-309880" algn="l" rtl="0">
              <a:spcBef>
                <a:spcPts val="1000"/>
              </a:spcBef>
              <a:spcAft>
                <a:spcPts val="0"/>
              </a:spcAft>
              <a:buClr>
                <a:schemeClr val="accent1"/>
              </a:buClr>
              <a:buSzPts val="1280"/>
              <a:buFont typeface="Noto Sans Symbols"/>
              <a:buChar char="►"/>
              <a:defRPr sz="1600" b="0" i="0" u="none" strike="noStrike" cap="none">
                <a:solidFill>
                  <a:srgbClr val="3F3F3F"/>
                </a:solidFill>
                <a:latin typeface="Trebuchet MS"/>
                <a:ea typeface="Trebuchet MS"/>
                <a:cs typeface="Trebuchet MS"/>
                <a:sym typeface="Trebuchet MS"/>
              </a:defRPr>
            </a:lvl2pPr>
            <a:lvl3pPr marL="1371600" marR="0" lvl="2" indent="-299719" algn="l" rtl="0">
              <a:spcBef>
                <a:spcPts val="1000"/>
              </a:spcBef>
              <a:spcAft>
                <a:spcPts val="0"/>
              </a:spcAft>
              <a:buClr>
                <a:schemeClr val="accent1"/>
              </a:buClr>
              <a:buSzPts val="1120"/>
              <a:buFont typeface="Noto Sans Symbols"/>
              <a:buChar char="►"/>
              <a:defRPr sz="1400" b="0" i="0" u="none" strike="noStrike" cap="none">
                <a:solidFill>
                  <a:srgbClr val="3F3F3F"/>
                </a:solidFill>
                <a:latin typeface="Trebuchet MS"/>
                <a:ea typeface="Trebuchet MS"/>
                <a:cs typeface="Trebuchet MS"/>
                <a:sym typeface="Trebuchet MS"/>
              </a:defRPr>
            </a:lvl3pPr>
            <a:lvl4pPr marL="1828800" marR="0" lvl="3"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4pPr>
            <a:lvl5pPr marL="2286000" marR="0" lvl="4"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5pPr>
            <a:lvl6pPr marL="2743200" marR="0" lvl="5"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6pPr>
            <a:lvl7pPr marL="3200400" marR="0" lvl="6"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7pPr>
            <a:lvl8pPr marL="3657600" marR="0" lvl="7" indent="-289559"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8pPr>
            <a:lvl9pPr marL="4114800" marR="0" lvl="8" indent="-289559"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9pPr>
          </a:lstStyle>
          <a:p>
            <a:endParaRPr/>
          </a:p>
        </p:txBody>
      </p:sp>
      <p:sp>
        <p:nvSpPr>
          <p:cNvPr id="23" name="Google Shape;23;p115"/>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900" b="0" i="0" u="none" strike="noStrike" cap="none">
                <a:solidFill>
                  <a:srgbClr val="888888"/>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2pPr>
            <a:lvl3pPr marR="0" lvl="2"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3pPr>
            <a:lvl4pPr marR="0" lvl="3"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4pPr>
            <a:lvl5pPr marR="0" lvl="4"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5pPr>
            <a:lvl6pPr marR="0" lvl="5"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6pPr>
            <a:lvl7pPr marR="0" lvl="6"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7pPr>
            <a:lvl8pPr marR="0" lvl="7"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8pPr>
            <a:lvl9pPr marR="0" lvl="8"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24" name="Google Shape;24;p115"/>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2pPr>
            <a:lvl3pPr marR="0" lvl="2"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3pPr>
            <a:lvl4pPr marR="0" lvl="3"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4pPr>
            <a:lvl5pPr marR="0" lvl="4"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5pPr>
            <a:lvl6pPr marR="0" lvl="5"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6pPr>
            <a:lvl7pPr marR="0" lvl="6"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7pPr>
            <a:lvl8pPr marR="0" lvl="7"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8pPr>
            <a:lvl9pPr marR="0" lvl="8"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25" name="Google Shape;25;p115"/>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chemeClr val="accent1"/>
                </a:solidFill>
                <a:latin typeface="Trebuchet MS"/>
                <a:ea typeface="Trebuchet MS"/>
                <a:cs typeface="Trebuchet MS"/>
                <a:sym typeface="Trebuchet MS"/>
              </a:defRPr>
            </a:lvl1pPr>
            <a:lvl2pPr marL="0" marR="0" lvl="1" indent="0" algn="r" rtl="0">
              <a:spcBef>
                <a:spcPts val="0"/>
              </a:spcBef>
              <a:buNone/>
              <a:defRPr sz="900" b="0" i="0" u="none" strike="noStrike" cap="none">
                <a:solidFill>
                  <a:schemeClr val="accent1"/>
                </a:solidFill>
                <a:latin typeface="Trebuchet MS"/>
                <a:ea typeface="Trebuchet MS"/>
                <a:cs typeface="Trebuchet MS"/>
                <a:sym typeface="Trebuchet MS"/>
              </a:defRPr>
            </a:lvl2pPr>
            <a:lvl3pPr marL="0" marR="0" lvl="2" indent="0" algn="r" rtl="0">
              <a:spcBef>
                <a:spcPts val="0"/>
              </a:spcBef>
              <a:buNone/>
              <a:defRPr sz="900" b="0" i="0" u="none" strike="noStrike" cap="none">
                <a:solidFill>
                  <a:schemeClr val="accent1"/>
                </a:solidFill>
                <a:latin typeface="Trebuchet MS"/>
                <a:ea typeface="Trebuchet MS"/>
                <a:cs typeface="Trebuchet MS"/>
                <a:sym typeface="Trebuchet MS"/>
              </a:defRPr>
            </a:lvl3pPr>
            <a:lvl4pPr marL="0" marR="0" lvl="3" indent="0" algn="r" rtl="0">
              <a:spcBef>
                <a:spcPts val="0"/>
              </a:spcBef>
              <a:buNone/>
              <a:defRPr sz="900" b="0" i="0" u="none" strike="noStrike" cap="none">
                <a:solidFill>
                  <a:schemeClr val="accent1"/>
                </a:solidFill>
                <a:latin typeface="Trebuchet MS"/>
                <a:ea typeface="Trebuchet MS"/>
                <a:cs typeface="Trebuchet MS"/>
                <a:sym typeface="Trebuchet MS"/>
              </a:defRPr>
            </a:lvl4pPr>
            <a:lvl5pPr marL="0" marR="0" lvl="4" indent="0" algn="r" rtl="0">
              <a:spcBef>
                <a:spcPts val="0"/>
              </a:spcBef>
              <a:buNone/>
              <a:defRPr sz="900" b="0" i="0" u="none" strike="noStrike" cap="none">
                <a:solidFill>
                  <a:schemeClr val="accent1"/>
                </a:solidFill>
                <a:latin typeface="Trebuchet MS"/>
                <a:ea typeface="Trebuchet MS"/>
                <a:cs typeface="Trebuchet MS"/>
                <a:sym typeface="Trebuchet MS"/>
              </a:defRPr>
            </a:lvl5pPr>
            <a:lvl6pPr marL="0" marR="0" lvl="5" indent="0" algn="r" rtl="0">
              <a:spcBef>
                <a:spcPts val="0"/>
              </a:spcBef>
              <a:buNone/>
              <a:defRPr sz="900" b="0" i="0" u="none" strike="noStrike" cap="none">
                <a:solidFill>
                  <a:schemeClr val="accent1"/>
                </a:solidFill>
                <a:latin typeface="Trebuchet MS"/>
                <a:ea typeface="Trebuchet MS"/>
                <a:cs typeface="Trebuchet MS"/>
                <a:sym typeface="Trebuchet MS"/>
              </a:defRPr>
            </a:lvl6pPr>
            <a:lvl7pPr marL="0" marR="0" lvl="6" indent="0" algn="r" rtl="0">
              <a:spcBef>
                <a:spcPts val="0"/>
              </a:spcBef>
              <a:buNone/>
              <a:defRPr sz="900" b="0" i="0" u="none" strike="noStrike" cap="none">
                <a:solidFill>
                  <a:schemeClr val="accent1"/>
                </a:solidFill>
                <a:latin typeface="Trebuchet MS"/>
                <a:ea typeface="Trebuchet MS"/>
                <a:cs typeface="Trebuchet MS"/>
                <a:sym typeface="Trebuchet MS"/>
              </a:defRPr>
            </a:lvl7pPr>
            <a:lvl8pPr marL="0" marR="0" lvl="7" indent="0" algn="r" rtl="0">
              <a:spcBef>
                <a:spcPts val="0"/>
              </a:spcBef>
              <a:buNone/>
              <a:defRPr sz="900" b="0" i="0" u="none" strike="noStrike" cap="none">
                <a:solidFill>
                  <a:schemeClr val="accent1"/>
                </a:solidFill>
                <a:latin typeface="Trebuchet MS"/>
                <a:ea typeface="Trebuchet MS"/>
                <a:cs typeface="Trebuchet MS"/>
                <a:sym typeface="Trebuchet MS"/>
              </a:defRPr>
            </a:lvl8pPr>
            <a:lvl9pPr marL="0" marR="0" lvl="8" indent="0" algn="r" rtl="0">
              <a:spcBef>
                <a:spcPts val="0"/>
              </a:spcBef>
              <a:buNone/>
              <a:defRPr sz="900" b="0" i="0" u="none" strike="noStrike" cap="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
        <p:nvSpPr>
          <p:cNvPr id="26" name="Google Shape;26;p115" descr="{&quot;HashCode&quot;:2133105206,&quot;Placement&quot;:&quot;Footer&quot;,&quot;Top&quot;:524.1047,&quot;Left&quot;:420.843231,&quot;SlideWidth&quot;:960,&quot;SlideHeight&quot;:540}"/>
          <p:cNvSpPr txBox="1"/>
          <p:nvPr/>
        </p:nvSpPr>
        <p:spPr>
          <a:xfrm>
            <a:off x="5344709" y="6656129"/>
            <a:ext cx="1502583" cy="201870"/>
          </a:xfrm>
          <a:prstGeom prst="rect">
            <a:avLst/>
          </a:prstGeom>
          <a:noFill/>
          <a:ln>
            <a:noFill/>
          </a:ln>
        </p:spPr>
        <p:txBody>
          <a:bodyPr spcFirstLastPara="1" wrap="square" lIns="0" tIns="0" rIns="0" bIns="0" anchor="ctr" anchorCtr="1">
            <a:spAutoFit/>
          </a:bodyPr>
          <a:lstStyle/>
          <a:p>
            <a:pPr marL="0" marR="0" lvl="0" indent="0" algn="ctr" rtl="0">
              <a:spcBef>
                <a:spcPts val="0"/>
              </a:spcBef>
              <a:spcAft>
                <a:spcPts val="0"/>
              </a:spcAft>
              <a:buNone/>
            </a:pPr>
            <a:r>
              <a:rPr lang="en-US" sz="700" b="0" i="0" u="none" strike="noStrike" cap="none">
                <a:solidFill>
                  <a:srgbClr val="000000"/>
                </a:solidFill>
                <a:latin typeface="Arial"/>
                <a:ea typeface="Arial"/>
                <a:cs typeface="Arial"/>
                <a:sym typeface="Arial"/>
              </a:rPr>
              <a:t>Sensitivity: Internal &amp; Restricted</a:t>
            </a:r>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www.softwaretestinghelp.com/thinking-out-of-the-box-while-testing-software/"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0.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37.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9.xml"/><Relationship Id="rId1" Type="http://schemas.openxmlformats.org/officeDocument/2006/relationships/slideLayout" Target="../slideLayouts/slideLayout3.xml"/><Relationship Id="rId4" Type="http://schemas.openxmlformats.org/officeDocument/2006/relationships/image" Target="../media/image29.png"/></Relationships>
</file>

<file path=ppt/slides/_rels/slide40.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40.xml"/><Relationship Id="rId1" Type="http://schemas.openxmlformats.org/officeDocument/2006/relationships/slideLayout" Target="../slideLayouts/slideLayout3.xml"/><Relationship Id="rId4" Type="http://schemas.openxmlformats.org/officeDocument/2006/relationships/image" Target="../media/image31.png"/></Relationships>
</file>

<file path=ppt/slides/_rels/slide4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1.xml"/><Relationship Id="rId1" Type="http://schemas.openxmlformats.org/officeDocument/2006/relationships/slideLayout" Target="../slideLayouts/slideLayout3.xml"/><Relationship Id="rId4" Type="http://schemas.openxmlformats.org/officeDocument/2006/relationships/image" Target="../media/image33.png"/></Relationships>
</file>

<file path=ppt/slides/_rels/slide4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3.xml"/><Relationship Id="rId1" Type="http://schemas.openxmlformats.org/officeDocument/2006/relationships/slideLayout" Target="../slideLayouts/slideLayout3.xml"/><Relationship Id="rId4" Type="http://schemas.openxmlformats.org/officeDocument/2006/relationships/image" Target="../media/image36.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8.xml"/><Relationship Id="rId1" Type="http://schemas.openxmlformats.org/officeDocument/2006/relationships/slideLayout" Target="../slideLayouts/slideLayout3.xml"/><Relationship Id="rId4" Type="http://schemas.openxmlformats.org/officeDocument/2006/relationships/image" Target="../media/image40.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0.xml"/><Relationship Id="rId1" Type="http://schemas.openxmlformats.org/officeDocument/2006/relationships/slideLayout" Target="../slideLayouts/slideLayout2.xml"/><Relationship Id="rId5" Type="http://schemas.openxmlformats.org/officeDocument/2006/relationships/image" Target="../media/image43.jpg"/><Relationship Id="rId4" Type="http://schemas.openxmlformats.org/officeDocument/2006/relationships/image" Target="../media/image42.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3" Type="http://schemas.openxmlformats.org/officeDocument/2006/relationships/image" Target="../media/image46.gif"/><Relationship Id="rId2" Type="http://schemas.openxmlformats.org/officeDocument/2006/relationships/notesSlide" Target="../notesSlides/notesSlide57.xml"/><Relationship Id="rId1" Type="http://schemas.openxmlformats.org/officeDocument/2006/relationships/slideLayout" Target="../slideLayouts/slideLayout3.xml"/><Relationship Id="rId5" Type="http://schemas.openxmlformats.org/officeDocument/2006/relationships/image" Target="../media/image48.png"/><Relationship Id="rId4" Type="http://schemas.openxmlformats.org/officeDocument/2006/relationships/image" Target="../media/image47.png"/></Relationships>
</file>

<file path=ppt/slides/_rels/slide5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6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hyperlink" Target="https://www.softwaretestinghelp.com/test-summary-report-template-download-sample/" TargetMode="External"/><Relationship Id="rId2" Type="http://schemas.openxmlformats.org/officeDocument/2006/relationships/notesSlide" Target="../notesSlides/notesSlide71.xml"/><Relationship Id="rId1" Type="http://schemas.openxmlformats.org/officeDocument/2006/relationships/slideLayout" Target="../slideLayouts/slideLayout2.xml"/><Relationship Id="rId5" Type="http://schemas.openxmlformats.org/officeDocument/2006/relationships/hyperlink" Target="https://itspmo.uchicago.edu/page/make-gono-go-decision" TargetMode="External"/><Relationship Id="rId4" Type="http://schemas.openxmlformats.org/officeDocument/2006/relationships/hyperlink" Target="https://www.softwaretestinghelp.com/what-is-user-acceptance-testing-uat/" TargetMode="Externa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56.png"/><Relationship Id="rId7" Type="http://schemas.openxmlformats.org/officeDocument/2006/relationships/image" Target="../media/image60.png"/><Relationship Id="rId2" Type="http://schemas.openxmlformats.org/officeDocument/2006/relationships/notesSlide" Target="../notesSlides/notesSlide80.xml"/><Relationship Id="rId1" Type="http://schemas.openxmlformats.org/officeDocument/2006/relationships/slideLayout" Target="../slideLayouts/slideLayout2.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81.xml.rels><?xml version="1.0" encoding="UTF-8" standalone="yes"?>
<Relationships xmlns="http://schemas.openxmlformats.org/package/2006/relationships"><Relationship Id="rId3" Type="http://schemas.openxmlformats.org/officeDocument/2006/relationships/image" Target="../media/image61.jp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82.xml"/><Relationship Id="rId1" Type="http://schemas.openxmlformats.org/officeDocument/2006/relationships/slideLayout" Target="../slideLayouts/slideLayout2.xml"/><Relationship Id="rId5" Type="http://schemas.openxmlformats.org/officeDocument/2006/relationships/image" Target="../media/image64.png"/><Relationship Id="rId4" Type="http://schemas.openxmlformats.org/officeDocument/2006/relationships/image" Target="../media/image63.png"/></Relationships>
</file>

<file path=ppt/slides/_rels/slide83.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66.gif"/><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67.jpg"/><Relationship Id="rId2" Type="http://schemas.openxmlformats.org/officeDocument/2006/relationships/notesSlide" Target="../notesSlides/notesSlide85.xml"/><Relationship Id="rId1" Type="http://schemas.openxmlformats.org/officeDocument/2006/relationships/slideLayout" Target="../slideLayouts/slideLayout2.xml"/><Relationship Id="rId4" Type="http://schemas.openxmlformats.org/officeDocument/2006/relationships/image" Target="../media/image68.png"/></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87.xml"/><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88.xml"/><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3" Type="http://schemas.openxmlformats.org/officeDocument/2006/relationships/image" Target="../media/image70.jpg"/><Relationship Id="rId2" Type="http://schemas.openxmlformats.org/officeDocument/2006/relationships/notesSlide" Target="../notesSlides/notesSlide89.xml"/><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8" Type="http://schemas.openxmlformats.org/officeDocument/2006/relationships/image" Target="../media/image76.jpg"/><Relationship Id="rId3" Type="http://schemas.openxmlformats.org/officeDocument/2006/relationships/image" Target="../media/image71.jpg"/><Relationship Id="rId7" Type="http://schemas.openxmlformats.org/officeDocument/2006/relationships/image" Target="../media/image75.png"/><Relationship Id="rId2" Type="http://schemas.openxmlformats.org/officeDocument/2006/relationships/notesSlide" Target="../notesSlides/notesSlide90.xml"/><Relationship Id="rId1" Type="http://schemas.openxmlformats.org/officeDocument/2006/relationships/slideLayout" Target="../slideLayouts/slideLayout2.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72.png"/><Relationship Id="rId9" Type="http://schemas.openxmlformats.org/officeDocument/2006/relationships/image" Target="../media/image77.png"/></Relationships>
</file>

<file path=ppt/slides/_rels/slide91.xml.rels><?xml version="1.0" encoding="UTF-8" standalone="yes"?>
<Relationships xmlns="http://schemas.openxmlformats.org/package/2006/relationships"><Relationship Id="rId3" Type="http://schemas.openxmlformats.org/officeDocument/2006/relationships/image" Target="../media/image78.jp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93.xml"/><Relationship Id="rId1" Type="http://schemas.openxmlformats.org/officeDocument/2006/relationships/slideLayout" Target="../slideLayouts/slideLayout2.xml"/><Relationship Id="rId4" Type="http://schemas.openxmlformats.org/officeDocument/2006/relationships/image" Target="../media/image81.png"/></Relationships>
</file>

<file path=ppt/slides/_rels/slide94.xml.rels><?xml version="1.0" encoding="UTF-8" standalone="yes"?>
<Relationships xmlns="http://schemas.openxmlformats.org/package/2006/relationships"><Relationship Id="rId3" Type="http://schemas.openxmlformats.org/officeDocument/2006/relationships/image" Target="../media/image82.jpg"/><Relationship Id="rId2" Type="http://schemas.openxmlformats.org/officeDocument/2006/relationships/notesSlide" Target="../notesSlides/notesSlide94.xml"/><Relationship Id="rId1" Type="http://schemas.openxmlformats.org/officeDocument/2006/relationships/slideLayout" Target="../slideLayouts/slideLayout2.xml"/><Relationship Id="rId4" Type="http://schemas.openxmlformats.org/officeDocument/2006/relationships/image" Target="../media/image83.png"/></Relationships>
</file>

<file path=ppt/slides/_rels/slide95.xml.rels><?xml version="1.0" encoding="UTF-8" standalone="yes"?>
<Relationships xmlns="http://schemas.openxmlformats.org/package/2006/relationships"><Relationship Id="rId3" Type="http://schemas.openxmlformats.org/officeDocument/2006/relationships/image" Target="../media/image78.jp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78.jpg"/><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87.jpg"/><Relationship Id="rId2" Type="http://schemas.openxmlformats.org/officeDocument/2006/relationships/notesSlide" Target="../notesSlides/notesSlide104.xml"/><Relationship Id="rId1" Type="http://schemas.openxmlformats.org/officeDocument/2006/relationships/slideLayout" Target="../slideLayouts/slideLayout2.xml"/><Relationship Id="rId4" Type="http://schemas.openxmlformats.org/officeDocument/2006/relationships/image" Target="../media/image88.png"/></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8" Type="http://schemas.openxmlformats.org/officeDocument/2006/relationships/image" Target="../media/image94.png"/><Relationship Id="rId3" Type="http://schemas.openxmlformats.org/officeDocument/2006/relationships/image" Target="../media/image89.png"/><Relationship Id="rId7" Type="http://schemas.openxmlformats.org/officeDocument/2006/relationships/image" Target="../media/image93.png"/><Relationship Id="rId2" Type="http://schemas.openxmlformats.org/officeDocument/2006/relationships/notesSlide" Target="../notesSlides/notesSlide106.xml"/><Relationship Id="rId1" Type="http://schemas.openxmlformats.org/officeDocument/2006/relationships/slideLayout" Target="../slideLayouts/slideLayout2.xml"/><Relationship Id="rId6" Type="http://schemas.openxmlformats.org/officeDocument/2006/relationships/image" Target="../media/image92.jpg"/><Relationship Id="rId5" Type="http://schemas.openxmlformats.org/officeDocument/2006/relationships/image" Target="../media/image91.png"/><Relationship Id="rId4" Type="http://schemas.openxmlformats.org/officeDocument/2006/relationships/image" Target="../media/image90.png"/></Relationships>
</file>

<file path=ppt/slides/_rels/slide107.xml.rels><?xml version="1.0" encoding="UTF-8" standalone="yes"?>
<Relationships xmlns="http://schemas.openxmlformats.org/package/2006/relationships"><Relationship Id="rId3" Type="http://schemas.openxmlformats.org/officeDocument/2006/relationships/image" Target="../media/image95.jpg"/><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96.jpg"/><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97.jpg"/><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111.xml"/><Relationship Id="rId1" Type="http://schemas.openxmlformats.org/officeDocument/2006/relationships/slideLayout" Target="../slideLayouts/slideLayout2.xml"/><Relationship Id="rId4" Type="http://schemas.openxmlformats.org/officeDocument/2006/relationships/image" Target="../media/image100.png"/></Relationships>
</file>

<file path=ppt/slides/_rels/slide112.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114.xml"/><Relationship Id="rId1" Type="http://schemas.openxmlformats.org/officeDocument/2006/relationships/slideLayout" Target="../slideLayouts/slideLayout1.xml"/><Relationship Id="rId5" Type="http://schemas.openxmlformats.org/officeDocument/2006/relationships/image" Target="../media/image104.png"/><Relationship Id="rId4" Type="http://schemas.openxmlformats.org/officeDocument/2006/relationships/image" Target="../media/image103.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a:blip r:embed="rId3">
            <a:alphaModFix amt="0"/>
          </a:blip>
          <a:stretch>
            <a:fillRect/>
          </a:stretch>
        </a:blipFill>
        <a:effectLst/>
      </p:bgPr>
    </p:bg>
    <p:spTree>
      <p:nvGrpSpPr>
        <p:cNvPr id="1" name="Shape 147"/>
        <p:cNvGrpSpPr/>
        <p:nvPr/>
      </p:nvGrpSpPr>
      <p:grpSpPr>
        <a:xfrm>
          <a:off x="0" y="0"/>
          <a:ext cx="0" cy="0"/>
          <a:chOff x="0" y="0"/>
          <a:chExt cx="0" cy="0"/>
        </a:xfrm>
      </p:grpSpPr>
      <p:sp>
        <p:nvSpPr>
          <p:cNvPr id="148" name="Google Shape;148;p1"/>
          <p:cNvSpPr txBox="1">
            <a:spLocks noGrp="1"/>
          </p:cNvSpPr>
          <p:nvPr>
            <p:ph type="ctrTitle"/>
          </p:nvPr>
        </p:nvSpPr>
        <p:spPr>
          <a:xfrm>
            <a:off x="2244894" y="631131"/>
            <a:ext cx="8075074" cy="4323601"/>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Clr>
                <a:schemeClr val="dk1"/>
              </a:buClr>
              <a:buSzPts val="8800"/>
              <a:buFont typeface="Arial"/>
              <a:buNone/>
            </a:pPr>
            <a:br>
              <a:rPr lang="en-US" sz="8800" b="1" i="1">
                <a:solidFill>
                  <a:schemeClr val="dk1"/>
                </a:solidFill>
                <a:latin typeface="Arial"/>
                <a:ea typeface="Arial"/>
                <a:cs typeface="Arial"/>
                <a:sym typeface="Arial"/>
              </a:rPr>
            </a:br>
            <a:r>
              <a:rPr lang="en-US" sz="8800" b="1" i="1">
                <a:solidFill>
                  <a:schemeClr val="dk1"/>
                </a:solidFill>
                <a:latin typeface="Arial"/>
                <a:ea typeface="Arial"/>
                <a:cs typeface="Arial"/>
                <a:sym typeface="Arial"/>
              </a:rPr>
              <a:t>Manual Testing</a:t>
            </a:r>
            <a:br>
              <a:rPr lang="en-US" sz="8800" b="1" i="1">
                <a:solidFill>
                  <a:schemeClr val="dk1"/>
                </a:solidFill>
                <a:latin typeface="Arial"/>
                <a:ea typeface="Arial"/>
                <a:cs typeface="Arial"/>
                <a:sym typeface="Arial"/>
              </a:rPr>
            </a:br>
            <a:r>
              <a:rPr lang="en-US" sz="8800" b="1">
                <a:solidFill>
                  <a:srgbClr val="171717"/>
                </a:solidFill>
                <a:latin typeface="Arial"/>
                <a:ea typeface="Arial"/>
                <a:cs typeface="Arial"/>
                <a:sym typeface="Arial"/>
              </a:rPr>
              <a:t> </a:t>
            </a:r>
            <a:r>
              <a:rPr lang="en-US" sz="8800" b="1" i="1">
                <a:solidFill>
                  <a:srgbClr val="1D1F43"/>
                </a:solidFill>
                <a:latin typeface="Arial"/>
                <a:ea typeface="Arial"/>
                <a:cs typeface="Arial"/>
                <a:sym typeface="Arial"/>
              </a:rPr>
              <a:t>Preparation</a:t>
            </a:r>
            <a:endParaRPr sz="8800" b="1" i="1">
              <a:solidFill>
                <a:srgbClr val="7E6FEB"/>
              </a:solidFill>
              <a:latin typeface="Arial"/>
              <a:ea typeface="Arial"/>
              <a:cs typeface="Arial"/>
              <a:sym typeface="Arial"/>
            </a:endParaRPr>
          </a:p>
        </p:txBody>
      </p:sp>
      <p:sp>
        <p:nvSpPr>
          <p:cNvPr id="149" name="Google Shape;149;p1"/>
          <p:cNvSpPr txBox="1">
            <a:spLocks noGrp="1"/>
          </p:cNvSpPr>
          <p:nvPr>
            <p:ph type="subTitle" idx="1"/>
          </p:nvPr>
        </p:nvSpPr>
        <p:spPr>
          <a:xfrm>
            <a:off x="9392576" y="6232125"/>
            <a:ext cx="2719525" cy="541536"/>
          </a:xfrm>
          <a:prstGeom prst="rect">
            <a:avLst/>
          </a:prstGeom>
          <a:noFill/>
          <a:ln w="9525" cap="flat" cmpd="sng">
            <a:solidFill>
              <a:srgbClr val="FAFDF1"/>
            </a:solidFill>
            <a:prstDash val="solid"/>
            <a:round/>
            <a:headEnd type="none" w="sm" len="sm"/>
            <a:tailEnd type="none" w="sm" len="sm"/>
          </a:ln>
        </p:spPr>
        <p:txBody>
          <a:bodyPr spcFirstLastPara="1" wrap="square" lIns="91425" tIns="45700" rIns="91425" bIns="45700" anchor="t" anchorCtr="0">
            <a:normAutofit fontScale="92500"/>
          </a:bodyPr>
          <a:lstStyle/>
          <a:p>
            <a:pPr marL="0" lvl="0" indent="0" algn="r" rtl="0">
              <a:spcBef>
                <a:spcPts val="0"/>
              </a:spcBef>
              <a:spcAft>
                <a:spcPts val="0"/>
              </a:spcAft>
              <a:buSzPct val="79999"/>
              <a:buNone/>
            </a:pPr>
            <a:r>
              <a:rPr lang="en-US">
                <a:solidFill>
                  <a:srgbClr val="B6E995"/>
                </a:solidFill>
                <a:latin typeface="Arial"/>
                <a:ea typeface="Arial"/>
                <a:cs typeface="Arial"/>
                <a:sym typeface="Arial"/>
              </a:rPr>
              <a:t>By</a:t>
            </a:r>
            <a:r>
              <a:rPr lang="en-US">
                <a:latin typeface="Arial"/>
                <a:ea typeface="Arial"/>
                <a:cs typeface="Arial"/>
                <a:sym typeface="Arial"/>
              </a:rPr>
              <a:t> </a:t>
            </a:r>
            <a:r>
              <a:rPr lang="en-US" sz="2800">
                <a:solidFill>
                  <a:schemeClr val="lt1"/>
                </a:solidFill>
                <a:latin typeface="Arial"/>
                <a:ea typeface="Arial"/>
                <a:cs typeface="Arial"/>
                <a:sym typeface="Arial"/>
              </a:rPr>
              <a:t>Suresh Thirumalai</a:t>
            </a:r>
            <a:endParaRPr>
              <a:solidFill>
                <a:schemeClr val="lt1"/>
              </a:solidFill>
              <a:latin typeface="Arial"/>
              <a:ea typeface="Arial"/>
              <a:cs typeface="Arial"/>
              <a:sym typeface="Arial"/>
            </a:endParaRPr>
          </a:p>
        </p:txBody>
      </p:sp>
      <p:pic>
        <p:nvPicPr>
          <p:cNvPr id="150" name="Google Shape;150;p1" descr="Red 2020 PNG Clipart by pngchristian on DeviantArt"/>
          <p:cNvPicPr preferRelativeResize="0"/>
          <p:nvPr/>
        </p:nvPicPr>
        <p:blipFill rotWithShape="1">
          <a:blip r:embed="rId4">
            <a:alphaModFix/>
          </a:blip>
          <a:srcRect/>
          <a:stretch/>
        </p:blipFill>
        <p:spPr>
          <a:xfrm>
            <a:off x="5226687" y="5049663"/>
            <a:ext cx="1738625" cy="66417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
          <p:cNvSpPr txBox="1">
            <a:spLocks noGrp="1"/>
          </p:cNvSpPr>
          <p:nvPr>
            <p:ph type="title"/>
          </p:nvPr>
        </p:nvSpPr>
        <p:spPr>
          <a:xfrm>
            <a:off x="597435" y="85817"/>
            <a:ext cx="8596668" cy="837460"/>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rgbClr val="262626"/>
              </a:buClr>
              <a:buSzPct val="100000"/>
              <a:buFont typeface="Trebuchet MS"/>
              <a:buNone/>
            </a:pPr>
            <a:r>
              <a:rPr lang="en-US" sz="7300" b="1">
                <a:solidFill>
                  <a:srgbClr val="262626"/>
                </a:solidFill>
              </a:rPr>
              <a:t>Index</a:t>
            </a:r>
            <a:endParaRPr>
              <a:solidFill>
                <a:srgbClr val="262626"/>
              </a:solidFill>
            </a:endParaRPr>
          </a:p>
        </p:txBody>
      </p:sp>
      <p:graphicFrame>
        <p:nvGraphicFramePr>
          <p:cNvPr id="156" name="Google Shape;156;p2"/>
          <p:cNvGraphicFramePr/>
          <p:nvPr/>
        </p:nvGraphicFramePr>
        <p:xfrm>
          <a:off x="2464230" y="1565641"/>
          <a:ext cx="3000000" cy="3000000"/>
        </p:xfrm>
        <a:graphic>
          <a:graphicData uri="http://schemas.openxmlformats.org/drawingml/2006/table">
            <a:tbl>
              <a:tblPr firstRow="1" firstCol="1" bandRow="1">
                <a:noFill/>
                <a:tableStyleId>{7F9B2565-B882-47E4-BE0B-E972FD7CAB76}</a:tableStyleId>
              </a:tblPr>
              <a:tblGrid>
                <a:gridCol w="491400">
                  <a:extLst>
                    <a:ext uri="{9D8B030D-6E8A-4147-A177-3AD203B41FA5}">
                      <a16:colId xmlns:a16="http://schemas.microsoft.com/office/drawing/2014/main" val="20000"/>
                    </a:ext>
                  </a:extLst>
                </a:gridCol>
                <a:gridCol w="2367275">
                  <a:extLst>
                    <a:ext uri="{9D8B030D-6E8A-4147-A177-3AD203B41FA5}">
                      <a16:colId xmlns:a16="http://schemas.microsoft.com/office/drawing/2014/main" val="20001"/>
                    </a:ext>
                  </a:extLst>
                </a:gridCol>
                <a:gridCol w="1300475">
                  <a:extLst>
                    <a:ext uri="{9D8B030D-6E8A-4147-A177-3AD203B41FA5}">
                      <a16:colId xmlns:a16="http://schemas.microsoft.com/office/drawing/2014/main" val="20002"/>
                    </a:ext>
                  </a:extLst>
                </a:gridCol>
              </a:tblGrid>
              <a:tr h="425850">
                <a:tc>
                  <a:txBody>
                    <a:bodyPr/>
                    <a:lstStyle/>
                    <a:p>
                      <a:pPr marL="0" marR="0" lvl="0" indent="0" algn="ctr" rtl="0">
                        <a:lnSpc>
                          <a:spcPct val="107000"/>
                        </a:lnSpc>
                        <a:spcBef>
                          <a:spcPts val="0"/>
                        </a:spcBef>
                        <a:spcAft>
                          <a:spcPts val="0"/>
                        </a:spcAft>
                        <a:buNone/>
                      </a:pPr>
                      <a:r>
                        <a:rPr lang="en-US" sz="1400" u="none" strike="noStrike" cap="none"/>
                        <a:t>SNO</a:t>
                      </a:r>
                      <a:endParaRPr sz="1400" u="none" strike="noStrike" cap="none">
                        <a:latin typeface="Calibri"/>
                        <a:ea typeface="Calibri"/>
                        <a:cs typeface="Calibri"/>
                        <a:sym typeface="Calibri"/>
                      </a:endParaRPr>
                    </a:p>
                  </a:txBody>
                  <a:tcPr marL="52300" marR="52300" marT="0" marB="0" anchor="b"/>
                </a:tc>
                <a:tc>
                  <a:txBody>
                    <a:bodyPr/>
                    <a:lstStyle/>
                    <a:p>
                      <a:pPr marL="0" marR="0" lvl="0" indent="0" algn="ctr" rtl="0">
                        <a:lnSpc>
                          <a:spcPct val="107000"/>
                        </a:lnSpc>
                        <a:spcBef>
                          <a:spcPts val="0"/>
                        </a:spcBef>
                        <a:spcAft>
                          <a:spcPts val="0"/>
                        </a:spcAft>
                        <a:buNone/>
                      </a:pPr>
                      <a:r>
                        <a:rPr lang="en-US" sz="1400" u="none" strike="noStrike" cap="none"/>
                        <a:t>Topic</a:t>
                      </a:r>
                      <a:endParaRPr sz="1400" u="none" strike="noStrike" cap="none">
                        <a:latin typeface="Calibri"/>
                        <a:ea typeface="Calibri"/>
                        <a:cs typeface="Calibri"/>
                        <a:sym typeface="Calibri"/>
                      </a:endParaRPr>
                    </a:p>
                  </a:txBody>
                  <a:tcPr marL="52300" marR="52300" marT="0" marB="0" anchor="b"/>
                </a:tc>
                <a:tc>
                  <a:txBody>
                    <a:bodyPr/>
                    <a:lstStyle/>
                    <a:p>
                      <a:pPr marL="0" marR="0" lvl="0" indent="0" algn="ctr" rtl="0">
                        <a:lnSpc>
                          <a:spcPct val="107000"/>
                        </a:lnSpc>
                        <a:spcBef>
                          <a:spcPts val="0"/>
                        </a:spcBef>
                        <a:spcAft>
                          <a:spcPts val="0"/>
                        </a:spcAft>
                        <a:buNone/>
                      </a:pPr>
                      <a:r>
                        <a:rPr lang="en-US" sz="1400" u="none" strike="noStrike" cap="none"/>
                        <a:t>Slide Number</a:t>
                      </a:r>
                      <a:endParaRPr sz="1400" u="none" strike="noStrike" cap="none">
                        <a:latin typeface="Calibri"/>
                        <a:ea typeface="Calibri"/>
                        <a:cs typeface="Calibri"/>
                        <a:sym typeface="Calibri"/>
                      </a:endParaRPr>
                    </a:p>
                  </a:txBody>
                  <a:tcPr marL="52300" marR="52300" marT="0" marB="0" anchor="b"/>
                </a:tc>
                <a:extLst>
                  <a:ext uri="{0D108BD9-81ED-4DB2-BD59-A6C34878D82A}">
                    <a16:rowId xmlns:a16="http://schemas.microsoft.com/office/drawing/2014/main" val="10000"/>
                  </a:ext>
                </a:extLst>
              </a:tr>
              <a:tr h="290625">
                <a:tc>
                  <a:txBody>
                    <a:bodyPr/>
                    <a:lstStyle/>
                    <a:p>
                      <a:pPr marL="0" marR="0" lvl="0" indent="0" algn="ctr" rtl="0">
                        <a:lnSpc>
                          <a:spcPct val="107000"/>
                        </a:lnSpc>
                        <a:spcBef>
                          <a:spcPts val="0"/>
                        </a:spcBef>
                        <a:spcAft>
                          <a:spcPts val="0"/>
                        </a:spcAft>
                        <a:buNone/>
                      </a:pPr>
                      <a:r>
                        <a:rPr lang="en-US" sz="1400" u="none" strike="noStrike" cap="none"/>
                        <a:t>1</a:t>
                      </a:r>
                      <a:endParaRPr sz="1400" u="none" strike="noStrike" cap="none">
                        <a:latin typeface="Calibri"/>
                        <a:ea typeface="Calibri"/>
                        <a:cs typeface="Calibri"/>
                        <a:sym typeface="Calibri"/>
                      </a:endParaRPr>
                    </a:p>
                  </a:txBody>
                  <a:tcPr marL="52300" marR="52300" marT="0" marB="0" anchor="b"/>
                </a:tc>
                <a:tc>
                  <a:txBody>
                    <a:bodyPr/>
                    <a:lstStyle/>
                    <a:p>
                      <a:pPr marL="0" marR="0" lvl="0" indent="0" algn="l" rtl="0">
                        <a:lnSpc>
                          <a:spcPct val="107000"/>
                        </a:lnSpc>
                        <a:spcBef>
                          <a:spcPts val="0"/>
                        </a:spcBef>
                        <a:spcAft>
                          <a:spcPts val="0"/>
                        </a:spcAft>
                        <a:buNone/>
                      </a:pPr>
                      <a:r>
                        <a:rPr lang="en-US" sz="1400" u="none" strike="noStrike" cap="none"/>
                        <a:t>SDLC</a:t>
                      </a:r>
                      <a:endParaRPr sz="1400" u="none" strike="noStrike" cap="none">
                        <a:latin typeface="Calibri"/>
                        <a:ea typeface="Calibri"/>
                        <a:cs typeface="Calibri"/>
                        <a:sym typeface="Calibri"/>
                      </a:endParaRPr>
                    </a:p>
                  </a:txBody>
                  <a:tcPr marL="52300" marR="52300" marT="0" marB="0" anchor="b"/>
                </a:tc>
                <a:tc>
                  <a:txBody>
                    <a:bodyPr/>
                    <a:lstStyle/>
                    <a:p>
                      <a:pPr marL="0" marR="0" lvl="0" indent="0" algn="ctr" rtl="0">
                        <a:lnSpc>
                          <a:spcPct val="107000"/>
                        </a:lnSpc>
                        <a:spcBef>
                          <a:spcPts val="0"/>
                        </a:spcBef>
                        <a:spcAft>
                          <a:spcPts val="0"/>
                        </a:spcAft>
                        <a:buNone/>
                      </a:pPr>
                      <a:r>
                        <a:rPr lang="en-US" sz="1400" u="none" strike="noStrike" cap="none">
                          <a:latin typeface="Calibri"/>
                          <a:ea typeface="Calibri"/>
                          <a:cs typeface="Calibri"/>
                          <a:sym typeface="Calibri"/>
                        </a:rPr>
                        <a:t>99</a:t>
                      </a:r>
                      <a:endParaRPr/>
                    </a:p>
                  </a:txBody>
                  <a:tcPr marL="52300" marR="52300" marT="0" marB="0" anchor="b"/>
                </a:tc>
                <a:extLst>
                  <a:ext uri="{0D108BD9-81ED-4DB2-BD59-A6C34878D82A}">
                    <a16:rowId xmlns:a16="http://schemas.microsoft.com/office/drawing/2014/main" val="10001"/>
                  </a:ext>
                </a:extLst>
              </a:tr>
              <a:tr h="290625">
                <a:tc>
                  <a:txBody>
                    <a:bodyPr/>
                    <a:lstStyle/>
                    <a:p>
                      <a:pPr marL="0" marR="0" lvl="0" indent="0" algn="ctr" rtl="0">
                        <a:lnSpc>
                          <a:spcPct val="107000"/>
                        </a:lnSpc>
                        <a:spcBef>
                          <a:spcPts val="0"/>
                        </a:spcBef>
                        <a:spcAft>
                          <a:spcPts val="0"/>
                        </a:spcAft>
                        <a:buNone/>
                      </a:pPr>
                      <a:r>
                        <a:rPr lang="en-US" sz="1400" u="none" strike="noStrike" cap="none">
                          <a:latin typeface="Trebuchet MS"/>
                          <a:ea typeface="Trebuchet MS"/>
                          <a:cs typeface="Trebuchet MS"/>
                          <a:sym typeface="Trebuchet MS"/>
                        </a:rPr>
                        <a:t>2</a:t>
                      </a:r>
                      <a:endParaRPr sz="1400" u="none" strike="noStrike" cap="none">
                        <a:latin typeface="Calibri"/>
                        <a:ea typeface="Calibri"/>
                        <a:cs typeface="Calibri"/>
                        <a:sym typeface="Calibri"/>
                      </a:endParaRPr>
                    </a:p>
                  </a:txBody>
                  <a:tcPr marL="52300" marR="52300" marT="0" marB="0" anchor="b"/>
                </a:tc>
                <a:tc>
                  <a:txBody>
                    <a:bodyPr/>
                    <a:lstStyle/>
                    <a:p>
                      <a:pPr marL="0" marR="0" lvl="0" indent="0" algn="l" rtl="0">
                        <a:lnSpc>
                          <a:spcPct val="107000"/>
                        </a:lnSpc>
                        <a:spcBef>
                          <a:spcPts val="0"/>
                        </a:spcBef>
                        <a:spcAft>
                          <a:spcPts val="0"/>
                        </a:spcAft>
                        <a:buNone/>
                      </a:pPr>
                      <a:r>
                        <a:rPr lang="en-US" sz="1400" u="none" strike="noStrike" cap="none"/>
                        <a:t>STLC</a:t>
                      </a:r>
                      <a:endParaRPr sz="1400" u="none" strike="noStrike" cap="none">
                        <a:latin typeface="Calibri"/>
                        <a:ea typeface="Calibri"/>
                        <a:cs typeface="Calibri"/>
                        <a:sym typeface="Calibri"/>
                      </a:endParaRPr>
                    </a:p>
                  </a:txBody>
                  <a:tcPr marL="52300" marR="52300" marT="0" marB="0" anchor="b"/>
                </a:tc>
                <a:tc>
                  <a:txBody>
                    <a:bodyPr/>
                    <a:lstStyle/>
                    <a:p>
                      <a:pPr marL="0" marR="0" lvl="0" indent="0" algn="ctr" rtl="0">
                        <a:lnSpc>
                          <a:spcPct val="107000"/>
                        </a:lnSpc>
                        <a:spcBef>
                          <a:spcPts val="0"/>
                        </a:spcBef>
                        <a:spcAft>
                          <a:spcPts val="0"/>
                        </a:spcAft>
                        <a:buNone/>
                      </a:pPr>
                      <a:r>
                        <a:rPr lang="en-US" sz="1400" u="none" strike="noStrike" cap="none">
                          <a:latin typeface="Calibri"/>
                          <a:ea typeface="Calibri"/>
                          <a:cs typeface="Calibri"/>
                          <a:sym typeface="Calibri"/>
                        </a:rPr>
                        <a:t>100</a:t>
                      </a:r>
                      <a:endParaRPr/>
                    </a:p>
                  </a:txBody>
                  <a:tcPr marL="52300" marR="52300" marT="0" marB="0" anchor="b"/>
                </a:tc>
                <a:extLst>
                  <a:ext uri="{0D108BD9-81ED-4DB2-BD59-A6C34878D82A}">
                    <a16:rowId xmlns:a16="http://schemas.microsoft.com/office/drawing/2014/main" val="10002"/>
                  </a:ext>
                </a:extLst>
              </a:tr>
              <a:tr h="290625">
                <a:tc>
                  <a:txBody>
                    <a:bodyPr/>
                    <a:lstStyle/>
                    <a:p>
                      <a:pPr marL="0" marR="0" lvl="0" indent="0" algn="ctr" rtl="0">
                        <a:lnSpc>
                          <a:spcPct val="107000"/>
                        </a:lnSpc>
                        <a:spcBef>
                          <a:spcPts val="0"/>
                        </a:spcBef>
                        <a:spcAft>
                          <a:spcPts val="0"/>
                        </a:spcAft>
                        <a:buNone/>
                      </a:pPr>
                      <a:r>
                        <a:rPr lang="en-US" sz="1400" u="none" strike="noStrike" cap="none">
                          <a:latin typeface="Trebuchet MS"/>
                          <a:ea typeface="Trebuchet MS"/>
                          <a:cs typeface="Trebuchet MS"/>
                          <a:sym typeface="Trebuchet MS"/>
                        </a:rPr>
                        <a:t>3</a:t>
                      </a:r>
                      <a:endParaRPr sz="1400" u="none" strike="noStrike" cap="none">
                        <a:latin typeface="Calibri"/>
                        <a:ea typeface="Calibri"/>
                        <a:cs typeface="Calibri"/>
                        <a:sym typeface="Calibri"/>
                      </a:endParaRPr>
                    </a:p>
                  </a:txBody>
                  <a:tcPr marL="52300" marR="52300" marT="0" marB="0" anchor="b"/>
                </a:tc>
                <a:tc>
                  <a:txBody>
                    <a:bodyPr/>
                    <a:lstStyle/>
                    <a:p>
                      <a:pPr marL="0" marR="0" lvl="0" indent="0" algn="l" rtl="0">
                        <a:lnSpc>
                          <a:spcPct val="107000"/>
                        </a:lnSpc>
                        <a:spcBef>
                          <a:spcPts val="0"/>
                        </a:spcBef>
                        <a:spcAft>
                          <a:spcPts val="0"/>
                        </a:spcAft>
                        <a:buClr>
                          <a:schemeClr val="dk1"/>
                        </a:buClr>
                        <a:buSzPts val="1400"/>
                        <a:buFont typeface="Trebuchet MS"/>
                        <a:buNone/>
                      </a:pPr>
                      <a:r>
                        <a:rPr lang="en-US" sz="1400" u="none" strike="noStrike" cap="none"/>
                        <a:t>Manual Testing</a:t>
                      </a:r>
                      <a:endParaRPr sz="1400" u="none" strike="noStrike" cap="none">
                        <a:latin typeface="Calibri"/>
                        <a:ea typeface="Calibri"/>
                        <a:cs typeface="Calibri"/>
                        <a:sym typeface="Calibri"/>
                      </a:endParaRPr>
                    </a:p>
                  </a:txBody>
                  <a:tcPr marL="52300" marR="52300" marT="0" marB="0" anchor="b"/>
                </a:tc>
                <a:tc>
                  <a:txBody>
                    <a:bodyPr/>
                    <a:lstStyle/>
                    <a:p>
                      <a:pPr marL="0" marR="0" lvl="0" indent="0" algn="ctr" rtl="0">
                        <a:lnSpc>
                          <a:spcPct val="107000"/>
                        </a:lnSpc>
                        <a:spcBef>
                          <a:spcPts val="0"/>
                        </a:spcBef>
                        <a:spcAft>
                          <a:spcPts val="0"/>
                        </a:spcAft>
                        <a:buNone/>
                      </a:pPr>
                      <a:r>
                        <a:rPr lang="en-US" sz="1400" u="none" strike="noStrike" cap="none">
                          <a:latin typeface="Calibri"/>
                          <a:ea typeface="Calibri"/>
                          <a:cs typeface="Calibri"/>
                          <a:sym typeface="Calibri"/>
                        </a:rPr>
                        <a:t>110</a:t>
                      </a:r>
                      <a:endParaRPr/>
                    </a:p>
                  </a:txBody>
                  <a:tcPr marL="52300" marR="52300" marT="0" marB="0" anchor="b"/>
                </a:tc>
                <a:extLst>
                  <a:ext uri="{0D108BD9-81ED-4DB2-BD59-A6C34878D82A}">
                    <a16:rowId xmlns:a16="http://schemas.microsoft.com/office/drawing/2014/main" val="10003"/>
                  </a:ext>
                </a:extLst>
              </a:tr>
              <a:tr h="290625">
                <a:tc>
                  <a:txBody>
                    <a:bodyPr/>
                    <a:lstStyle/>
                    <a:p>
                      <a:pPr marL="0" marR="0" lvl="0" indent="0" algn="ctr" rtl="0">
                        <a:lnSpc>
                          <a:spcPct val="107000"/>
                        </a:lnSpc>
                        <a:spcBef>
                          <a:spcPts val="0"/>
                        </a:spcBef>
                        <a:spcAft>
                          <a:spcPts val="0"/>
                        </a:spcAft>
                        <a:buNone/>
                      </a:pPr>
                      <a:r>
                        <a:rPr lang="en-US" sz="1400" u="none" strike="noStrike" cap="none">
                          <a:latin typeface="Trebuchet MS"/>
                          <a:ea typeface="Trebuchet MS"/>
                          <a:cs typeface="Trebuchet MS"/>
                          <a:sym typeface="Trebuchet MS"/>
                        </a:rPr>
                        <a:t>4</a:t>
                      </a:r>
                      <a:endParaRPr sz="1400" u="none" strike="noStrike" cap="none">
                        <a:latin typeface="Calibri"/>
                        <a:ea typeface="Calibri"/>
                        <a:cs typeface="Calibri"/>
                        <a:sym typeface="Calibri"/>
                      </a:endParaRPr>
                    </a:p>
                  </a:txBody>
                  <a:tcPr marL="52300" marR="52300" marT="0" marB="0" anchor="b"/>
                </a:tc>
                <a:tc>
                  <a:txBody>
                    <a:bodyPr/>
                    <a:lstStyle/>
                    <a:p>
                      <a:pPr marL="0" marR="0" lvl="0" indent="0" algn="l" rtl="0">
                        <a:lnSpc>
                          <a:spcPct val="107000"/>
                        </a:lnSpc>
                        <a:spcBef>
                          <a:spcPts val="0"/>
                        </a:spcBef>
                        <a:spcAft>
                          <a:spcPts val="0"/>
                        </a:spcAft>
                        <a:buNone/>
                      </a:pPr>
                      <a:r>
                        <a:rPr lang="en-US" sz="1400" u="none" strike="noStrike" cap="none"/>
                        <a:t>Agile</a:t>
                      </a:r>
                      <a:endParaRPr sz="1400" u="none" strike="noStrike" cap="none">
                        <a:latin typeface="Calibri"/>
                        <a:ea typeface="Calibri"/>
                        <a:cs typeface="Calibri"/>
                        <a:sym typeface="Calibri"/>
                      </a:endParaRPr>
                    </a:p>
                  </a:txBody>
                  <a:tcPr marL="52300" marR="52300" marT="0" marB="0" anchor="b"/>
                </a:tc>
                <a:tc>
                  <a:txBody>
                    <a:bodyPr/>
                    <a:lstStyle/>
                    <a:p>
                      <a:pPr marL="0" marR="0" lvl="0" indent="0" algn="ctr" rtl="0">
                        <a:lnSpc>
                          <a:spcPct val="107000"/>
                        </a:lnSpc>
                        <a:spcBef>
                          <a:spcPts val="0"/>
                        </a:spcBef>
                        <a:spcAft>
                          <a:spcPts val="0"/>
                        </a:spcAft>
                        <a:buNone/>
                      </a:pPr>
                      <a:r>
                        <a:rPr lang="en-US" sz="1400" u="none" strike="noStrike" cap="none">
                          <a:latin typeface="Calibri"/>
                          <a:ea typeface="Calibri"/>
                          <a:cs typeface="Calibri"/>
                          <a:sym typeface="Calibri"/>
                        </a:rPr>
                        <a:t>137</a:t>
                      </a:r>
                      <a:endParaRPr/>
                    </a:p>
                  </a:txBody>
                  <a:tcPr marL="52300" marR="52300" marT="0" marB="0" anchor="b"/>
                </a:tc>
                <a:extLst>
                  <a:ext uri="{0D108BD9-81ED-4DB2-BD59-A6C34878D82A}">
                    <a16:rowId xmlns:a16="http://schemas.microsoft.com/office/drawing/2014/main" val="10004"/>
                  </a:ext>
                </a:extLst>
              </a:tr>
              <a:tr h="290625">
                <a:tc>
                  <a:txBody>
                    <a:bodyPr/>
                    <a:lstStyle/>
                    <a:p>
                      <a:pPr marL="0" marR="0" lvl="0" indent="0" algn="ctr" rtl="0">
                        <a:lnSpc>
                          <a:spcPct val="107000"/>
                        </a:lnSpc>
                        <a:spcBef>
                          <a:spcPts val="0"/>
                        </a:spcBef>
                        <a:spcAft>
                          <a:spcPts val="0"/>
                        </a:spcAft>
                        <a:buNone/>
                      </a:pPr>
                      <a:r>
                        <a:rPr lang="en-US" sz="1400" u="none" strike="noStrike" cap="none">
                          <a:latin typeface="Trebuchet MS"/>
                          <a:ea typeface="Trebuchet MS"/>
                          <a:cs typeface="Trebuchet MS"/>
                          <a:sym typeface="Trebuchet MS"/>
                        </a:rPr>
                        <a:t>5</a:t>
                      </a:r>
                      <a:endParaRPr sz="1400" u="none" strike="noStrike" cap="none">
                        <a:latin typeface="Calibri"/>
                        <a:ea typeface="Calibri"/>
                        <a:cs typeface="Calibri"/>
                        <a:sym typeface="Calibri"/>
                      </a:endParaRPr>
                    </a:p>
                  </a:txBody>
                  <a:tcPr marL="52300" marR="52300" marT="0" marB="0" anchor="b"/>
                </a:tc>
                <a:tc>
                  <a:txBody>
                    <a:bodyPr/>
                    <a:lstStyle/>
                    <a:p>
                      <a:pPr marL="0" marR="0" lvl="0" indent="0" algn="l" rtl="0">
                        <a:lnSpc>
                          <a:spcPct val="107000"/>
                        </a:lnSpc>
                        <a:spcBef>
                          <a:spcPts val="0"/>
                        </a:spcBef>
                        <a:spcAft>
                          <a:spcPts val="0"/>
                        </a:spcAft>
                        <a:buNone/>
                      </a:pPr>
                      <a:r>
                        <a:rPr lang="en-US" sz="1400" u="none" strike="noStrike" cap="none"/>
                        <a:t>JIRA</a:t>
                      </a:r>
                      <a:endParaRPr sz="1400" u="none" strike="noStrike" cap="none">
                        <a:latin typeface="Calibri"/>
                        <a:ea typeface="Calibri"/>
                        <a:cs typeface="Calibri"/>
                        <a:sym typeface="Calibri"/>
                      </a:endParaRPr>
                    </a:p>
                  </a:txBody>
                  <a:tcPr marL="52300" marR="52300" marT="0" marB="0" anchor="b"/>
                </a:tc>
                <a:tc>
                  <a:txBody>
                    <a:bodyPr/>
                    <a:lstStyle/>
                    <a:p>
                      <a:pPr marL="0" marR="0" lvl="0" indent="0" algn="ctr" rtl="0">
                        <a:lnSpc>
                          <a:spcPct val="107000"/>
                        </a:lnSpc>
                        <a:spcBef>
                          <a:spcPts val="0"/>
                        </a:spcBef>
                        <a:spcAft>
                          <a:spcPts val="0"/>
                        </a:spcAft>
                        <a:buNone/>
                      </a:pPr>
                      <a:r>
                        <a:rPr lang="en-US" sz="1400" u="none" strike="noStrike" cap="none">
                          <a:latin typeface="Calibri"/>
                          <a:ea typeface="Calibri"/>
                          <a:cs typeface="Calibri"/>
                          <a:sym typeface="Calibri"/>
                        </a:rPr>
                        <a:t>160</a:t>
                      </a:r>
                      <a:endParaRPr/>
                    </a:p>
                  </a:txBody>
                  <a:tcPr marL="52300" marR="52300" marT="0" marB="0" anchor="b"/>
                </a:tc>
                <a:extLst>
                  <a:ext uri="{0D108BD9-81ED-4DB2-BD59-A6C34878D82A}">
                    <a16:rowId xmlns:a16="http://schemas.microsoft.com/office/drawing/2014/main" val="10005"/>
                  </a:ext>
                </a:extLst>
              </a:tr>
              <a:tr h="290625">
                <a:tc>
                  <a:txBody>
                    <a:bodyPr/>
                    <a:lstStyle/>
                    <a:p>
                      <a:pPr marL="0" marR="0" lvl="0" indent="0" algn="ctr" rtl="0">
                        <a:lnSpc>
                          <a:spcPct val="107000"/>
                        </a:lnSpc>
                        <a:spcBef>
                          <a:spcPts val="0"/>
                        </a:spcBef>
                        <a:spcAft>
                          <a:spcPts val="0"/>
                        </a:spcAft>
                        <a:buNone/>
                      </a:pPr>
                      <a:r>
                        <a:rPr lang="en-US" sz="1400" u="none" strike="noStrike" cap="none">
                          <a:latin typeface="Trebuchet MS"/>
                          <a:ea typeface="Trebuchet MS"/>
                          <a:cs typeface="Trebuchet MS"/>
                          <a:sym typeface="Trebuchet MS"/>
                        </a:rPr>
                        <a:t>6</a:t>
                      </a:r>
                      <a:endParaRPr sz="1400" u="none" strike="noStrike" cap="none">
                        <a:latin typeface="Calibri"/>
                        <a:ea typeface="Calibri"/>
                        <a:cs typeface="Calibri"/>
                        <a:sym typeface="Calibri"/>
                      </a:endParaRPr>
                    </a:p>
                  </a:txBody>
                  <a:tcPr marL="52300" marR="52300" marT="0" marB="0" anchor="b"/>
                </a:tc>
                <a:tc>
                  <a:txBody>
                    <a:bodyPr/>
                    <a:lstStyle/>
                    <a:p>
                      <a:pPr marL="0" marR="0" lvl="0" indent="0" algn="l" rtl="0">
                        <a:lnSpc>
                          <a:spcPct val="107000"/>
                        </a:lnSpc>
                        <a:spcBef>
                          <a:spcPts val="0"/>
                        </a:spcBef>
                        <a:spcAft>
                          <a:spcPts val="0"/>
                        </a:spcAft>
                        <a:buNone/>
                      </a:pPr>
                      <a:r>
                        <a:rPr lang="en-US" sz="1400" u="none" strike="noStrike" cap="none"/>
                        <a:t>Interview Questions</a:t>
                      </a:r>
                      <a:endParaRPr sz="1400" u="none" strike="noStrike" cap="none">
                        <a:latin typeface="Calibri"/>
                        <a:ea typeface="Calibri"/>
                        <a:cs typeface="Calibri"/>
                        <a:sym typeface="Calibri"/>
                      </a:endParaRPr>
                    </a:p>
                  </a:txBody>
                  <a:tcPr marL="52300" marR="52300" marT="0" marB="0" anchor="b"/>
                </a:tc>
                <a:tc>
                  <a:txBody>
                    <a:bodyPr/>
                    <a:lstStyle/>
                    <a:p>
                      <a:pPr marL="0" marR="0" lvl="0" indent="0" algn="ctr" rtl="0">
                        <a:lnSpc>
                          <a:spcPct val="107000"/>
                        </a:lnSpc>
                        <a:spcBef>
                          <a:spcPts val="0"/>
                        </a:spcBef>
                        <a:spcAft>
                          <a:spcPts val="0"/>
                        </a:spcAft>
                        <a:buNone/>
                      </a:pPr>
                      <a:r>
                        <a:rPr lang="en-US" sz="1400" u="none" strike="noStrike" cap="none">
                          <a:latin typeface="Calibri"/>
                          <a:ea typeface="Calibri"/>
                          <a:cs typeface="Calibri"/>
                          <a:sym typeface="Calibri"/>
                        </a:rPr>
                        <a:t>163</a:t>
                      </a:r>
                      <a:endParaRPr/>
                    </a:p>
                  </a:txBody>
                  <a:tcPr marL="52300" marR="52300" marT="0" marB="0" anchor="b"/>
                </a:tc>
                <a:extLst>
                  <a:ext uri="{0D108BD9-81ED-4DB2-BD59-A6C34878D82A}">
                    <a16:rowId xmlns:a16="http://schemas.microsoft.com/office/drawing/2014/main" val="10006"/>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3"/>
          <p:cNvSpPr txBox="1">
            <a:spLocks noGrp="1"/>
          </p:cNvSpPr>
          <p:nvPr>
            <p:ph type="title"/>
          </p:nvPr>
        </p:nvSpPr>
        <p:spPr>
          <a:xfrm>
            <a:off x="832960" y="-1"/>
            <a:ext cx="8596668" cy="1748901"/>
          </a:xfrm>
          <a:prstGeom prst="rect">
            <a:avLst/>
          </a:prstGeom>
          <a:noFill/>
          <a:ln>
            <a:noFill/>
          </a:ln>
        </p:spPr>
        <p:txBody>
          <a:bodyPr spcFirstLastPara="1" wrap="square" lIns="91425" tIns="45700" rIns="91425" bIns="45700" anchor="t" anchorCtr="0">
            <a:normAutofit/>
          </a:bodyPr>
          <a:lstStyle/>
          <a:p>
            <a:pPr marL="0" lvl="0" indent="0" algn="ctr" rtl="0">
              <a:lnSpc>
                <a:spcPct val="150000"/>
              </a:lnSpc>
              <a:spcBef>
                <a:spcPts val="0"/>
              </a:spcBef>
              <a:spcAft>
                <a:spcPts val="0"/>
              </a:spcAft>
              <a:buClr>
                <a:srgbClr val="0070C0"/>
              </a:buClr>
              <a:buSzPts val="3600"/>
              <a:buFont typeface="Trebuchet MS"/>
              <a:buNone/>
            </a:pPr>
            <a:r>
              <a:rPr lang="en-US" b="1">
                <a:solidFill>
                  <a:srgbClr val="0070C0"/>
                </a:solidFill>
              </a:rPr>
              <a:t>16. SDLC</a:t>
            </a:r>
            <a:br>
              <a:rPr lang="en-US">
                <a:solidFill>
                  <a:srgbClr val="0070C0"/>
                </a:solidFill>
              </a:rPr>
            </a:br>
            <a:r>
              <a:rPr lang="en-US" u="sng">
                <a:solidFill>
                  <a:srgbClr val="FF0000"/>
                </a:solidFill>
              </a:rPr>
              <a:t>Software Development Life Cycle</a:t>
            </a:r>
            <a:endParaRPr/>
          </a:p>
        </p:txBody>
      </p:sp>
      <p:pic>
        <p:nvPicPr>
          <p:cNvPr id="162" name="Google Shape;162;p3"/>
          <p:cNvPicPr preferRelativeResize="0">
            <a:picLocks noGrp="1"/>
          </p:cNvPicPr>
          <p:nvPr>
            <p:ph type="body" idx="1"/>
          </p:nvPr>
        </p:nvPicPr>
        <p:blipFill rotWithShape="1">
          <a:blip r:embed="rId3">
            <a:alphaModFix/>
          </a:blip>
          <a:srcRect/>
          <a:stretch/>
        </p:blipFill>
        <p:spPr>
          <a:xfrm>
            <a:off x="832960" y="1748900"/>
            <a:ext cx="8034292" cy="51091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4"/>
          <p:cNvSpPr txBox="1">
            <a:spLocks noGrp="1"/>
          </p:cNvSpPr>
          <p:nvPr>
            <p:ph type="title"/>
          </p:nvPr>
        </p:nvSpPr>
        <p:spPr>
          <a:xfrm>
            <a:off x="0" y="21021"/>
            <a:ext cx="12192000" cy="1292772"/>
          </a:xfrm>
          <a:prstGeom prst="rect">
            <a:avLst/>
          </a:prstGeom>
          <a:noFill/>
          <a:ln>
            <a:noFill/>
          </a:ln>
        </p:spPr>
        <p:txBody>
          <a:bodyPr spcFirstLastPara="1" wrap="square" lIns="91425" tIns="45700" rIns="91425" bIns="45700" anchor="t" anchorCtr="0">
            <a:normAutofit fontScale="90000"/>
          </a:bodyPr>
          <a:lstStyle/>
          <a:p>
            <a:pPr marL="0" lvl="0" indent="0" algn="l" rtl="0">
              <a:lnSpc>
                <a:spcPct val="150000"/>
              </a:lnSpc>
              <a:spcBef>
                <a:spcPts val="0"/>
              </a:spcBef>
              <a:spcAft>
                <a:spcPts val="0"/>
              </a:spcAft>
              <a:buClr>
                <a:srgbClr val="0070C0"/>
              </a:buClr>
              <a:buSzPct val="100000"/>
              <a:buFont typeface="Trebuchet MS"/>
              <a:buNone/>
            </a:pPr>
            <a:r>
              <a:rPr lang="en-US" sz="4900" b="1">
                <a:solidFill>
                  <a:srgbClr val="0070C0"/>
                </a:solidFill>
              </a:rPr>
              <a:t>									17. STLC</a:t>
            </a:r>
            <a:br>
              <a:rPr lang="en-US" sz="4900" b="1">
                <a:solidFill>
                  <a:srgbClr val="0070C0"/>
                </a:solidFill>
              </a:rPr>
            </a:br>
            <a:r>
              <a:rPr lang="en-US" sz="4900" b="1">
                <a:solidFill>
                  <a:srgbClr val="0070C0"/>
                </a:solidFill>
              </a:rPr>
              <a:t>						</a:t>
            </a:r>
            <a:r>
              <a:rPr lang="en-US" u="sng">
                <a:solidFill>
                  <a:srgbClr val="FF0000"/>
                </a:solidFill>
              </a:rPr>
              <a:t>Software Testing Life Cycle</a:t>
            </a:r>
            <a:endParaRPr sz="4400" u="sng">
              <a:solidFill>
                <a:srgbClr val="FF0000"/>
              </a:solidFill>
            </a:endParaRPr>
          </a:p>
        </p:txBody>
      </p:sp>
      <p:pic>
        <p:nvPicPr>
          <p:cNvPr id="168" name="Google Shape;168;p4"/>
          <p:cNvPicPr preferRelativeResize="0">
            <a:picLocks noGrp="1"/>
          </p:cNvPicPr>
          <p:nvPr>
            <p:ph type="body" idx="1"/>
          </p:nvPr>
        </p:nvPicPr>
        <p:blipFill rotWithShape="1">
          <a:blip r:embed="rId3">
            <a:alphaModFix/>
          </a:blip>
          <a:srcRect/>
          <a:stretch/>
        </p:blipFill>
        <p:spPr>
          <a:xfrm>
            <a:off x="0" y="2364828"/>
            <a:ext cx="12192000" cy="4493172"/>
          </a:xfrm>
          <a:prstGeom prst="rect">
            <a:avLst/>
          </a:prstGeom>
          <a:noFill/>
          <a:ln>
            <a:noFill/>
          </a:ln>
        </p:spPr>
      </p:pic>
      <p:pic>
        <p:nvPicPr>
          <p:cNvPr id="169" name="Google Shape;169;p4"/>
          <p:cNvPicPr preferRelativeResize="0"/>
          <p:nvPr/>
        </p:nvPicPr>
        <p:blipFill rotWithShape="1">
          <a:blip r:embed="rId4">
            <a:alphaModFix/>
          </a:blip>
          <a:srcRect/>
          <a:stretch/>
        </p:blipFill>
        <p:spPr>
          <a:xfrm>
            <a:off x="8303173" y="0"/>
            <a:ext cx="3888827" cy="236482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5"/>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EB7564"/>
              </a:buClr>
              <a:buSzPts val="3600"/>
              <a:buFont typeface="Trebuchet MS"/>
              <a:buNone/>
            </a:pPr>
            <a:r>
              <a:rPr lang="en-US">
                <a:solidFill>
                  <a:srgbClr val="EB7564"/>
                </a:solidFill>
              </a:rPr>
              <a:t>Phase 1:</a:t>
            </a:r>
            <a:br>
              <a:rPr lang="en-US">
                <a:solidFill>
                  <a:srgbClr val="FFC000"/>
                </a:solidFill>
              </a:rPr>
            </a:br>
            <a:r>
              <a:rPr lang="en-US">
                <a:solidFill>
                  <a:srgbClr val="FFC000"/>
                </a:solidFill>
              </a:rPr>
              <a:t>				</a:t>
            </a:r>
            <a:r>
              <a:rPr lang="en-US">
                <a:solidFill>
                  <a:srgbClr val="AD4C11"/>
                </a:solidFill>
              </a:rPr>
              <a:t>Requirement</a:t>
            </a:r>
            <a:r>
              <a:rPr lang="en-US">
                <a:solidFill>
                  <a:srgbClr val="FFC000"/>
                </a:solidFill>
              </a:rPr>
              <a:t> </a:t>
            </a:r>
            <a:r>
              <a:rPr lang="en-US">
                <a:solidFill>
                  <a:srgbClr val="AD4C11"/>
                </a:solidFill>
              </a:rPr>
              <a:t>Analysis</a:t>
            </a:r>
            <a:endParaRPr/>
          </a:p>
        </p:txBody>
      </p:sp>
      <p:sp>
        <p:nvSpPr>
          <p:cNvPr id="175" name="Google Shape;175;p5"/>
          <p:cNvSpPr txBox="1">
            <a:spLocks noGrp="1"/>
          </p:cNvSpPr>
          <p:nvPr>
            <p:ph type="body" idx="1"/>
          </p:nvPr>
        </p:nvSpPr>
        <p:spPr>
          <a:xfrm>
            <a:off x="1622066" y="2160589"/>
            <a:ext cx="7651936" cy="388077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n-US"/>
              <a:t>Test Team studies the requirements to identify the testable requirements</a:t>
            </a:r>
            <a:endParaRPr/>
          </a:p>
          <a:p>
            <a:pPr marL="342900" lvl="0" indent="-342900" algn="l" rtl="0">
              <a:spcBef>
                <a:spcPts val="1000"/>
              </a:spcBef>
              <a:spcAft>
                <a:spcPts val="0"/>
              </a:spcAft>
              <a:buSzPts val="1440"/>
              <a:buChar char="►"/>
            </a:pPr>
            <a:r>
              <a:rPr lang="en-US"/>
              <a:t>QA team interact with Client, BA, Tech Leads, System architects</a:t>
            </a:r>
            <a:endParaRPr/>
          </a:p>
          <a:p>
            <a:pPr marL="342900" lvl="0" indent="-342900" algn="l" rtl="0">
              <a:spcBef>
                <a:spcPts val="1000"/>
              </a:spcBef>
              <a:spcAft>
                <a:spcPts val="0"/>
              </a:spcAft>
              <a:buSzPts val="1440"/>
              <a:buChar char="►"/>
            </a:pPr>
            <a:r>
              <a:rPr lang="en-US"/>
              <a:t>To understand the requirements in detail</a:t>
            </a:r>
            <a:endParaRPr/>
          </a:p>
          <a:p>
            <a:pPr marL="342900" lvl="0" indent="-251459" algn="l" rtl="0">
              <a:spcBef>
                <a:spcPts val="1000"/>
              </a:spcBef>
              <a:spcAft>
                <a:spcPts val="0"/>
              </a:spcAft>
              <a:buSzPts val="1440"/>
              <a:buNone/>
            </a:pPr>
            <a:endParaRPr/>
          </a:p>
          <a:p>
            <a:pPr marL="342900" lvl="0" indent="-342900" algn="l" rtl="0">
              <a:spcBef>
                <a:spcPts val="1000"/>
              </a:spcBef>
              <a:spcAft>
                <a:spcPts val="0"/>
              </a:spcAft>
              <a:buSzPts val="1440"/>
              <a:buChar char="►"/>
            </a:pPr>
            <a:r>
              <a:rPr lang="en-US" u="sng"/>
              <a:t>Deliverables</a:t>
            </a:r>
            <a:endParaRPr/>
          </a:p>
          <a:p>
            <a:pPr marL="0" lvl="0" indent="0" algn="l" rtl="0">
              <a:spcBef>
                <a:spcPts val="1000"/>
              </a:spcBef>
              <a:spcAft>
                <a:spcPts val="0"/>
              </a:spcAft>
              <a:buSzPts val="1440"/>
              <a:buNone/>
            </a:pPr>
            <a:r>
              <a:rPr lang="en-US"/>
              <a:t>	RTM</a:t>
            </a:r>
            <a:endParaRPr/>
          </a:p>
          <a:p>
            <a:pPr marL="0" lvl="0" indent="0" algn="l" rtl="0">
              <a:spcBef>
                <a:spcPts val="1000"/>
              </a:spcBef>
              <a:spcAft>
                <a:spcPts val="0"/>
              </a:spcAft>
              <a:buSzPts val="1440"/>
              <a:buNone/>
            </a:pPr>
            <a:r>
              <a:rPr lang="en-US"/>
              <a:t>	Automation Feasibility Report</a:t>
            </a:r>
            <a:endParaRPr/>
          </a:p>
          <a:p>
            <a:pPr marL="342900" lvl="0" indent="-251459" algn="l" rtl="0">
              <a:spcBef>
                <a:spcPts val="1000"/>
              </a:spcBef>
              <a:spcAft>
                <a:spcPts val="0"/>
              </a:spcAft>
              <a:buSzPts val="1440"/>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6"/>
          <p:cNvSpPr txBox="1">
            <a:spLocks noGrp="1"/>
          </p:cNvSpPr>
          <p:nvPr>
            <p:ph type="title"/>
          </p:nvPr>
        </p:nvSpPr>
        <p:spPr>
          <a:xfrm>
            <a:off x="677334" y="609600"/>
            <a:ext cx="8596668" cy="837461"/>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C00000"/>
              </a:buClr>
              <a:buSzPts val="3600"/>
              <a:buFont typeface="Trebuchet MS"/>
              <a:buNone/>
            </a:pPr>
            <a:r>
              <a:rPr lang="en-US">
                <a:solidFill>
                  <a:srgbClr val="C00000"/>
                </a:solidFill>
              </a:rPr>
              <a:t>Requirements Traceability Matrix </a:t>
            </a:r>
            <a:r>
              <a:rPr lang="en-US" b="1">
                <a:solidFill>
                  <a:srgbClr val="7E6FEB"/>
                </a:solidFill>
              </a:rPr>
              <a:t>(RTM)</a:t>
            </a:r>
            <a:endParaRPr/>
          </a:p>
        </p:txBody>
      </p:sp>
      <p:sp>
        <p:nvSpPr>
          <p:cNvPr id="181" name="Google Shape;181;p6"/>
          <p:cNvSpPr txBox="1">
            <a:spLocks noGrp="1"/>
          </p:cNvSpPr>
          <p:nvPr>
            <p:ph type="body" idx="1"/>
          </p:nvPr>
        </p:nvSpPr>
        <p:spPr>
          <a:xfrm>
            <a:off x="677334" y="2078181"/>
            <a:ext cx="8596668" cy="3963181"/>
          </a:xfrm>
          <a:prstGeom prst="rect">
            <a:avLst/>
          </a:prstGeom>
          <a:noFill/>
          <a:ln>
            <a:noFill/>
          </a:ln>
        </p:spPr>
        <p:txBody>
          <a:bodyPr spcFirstLastPara="1" wrap="square" lIns="91425" tIns="45700" rIns="91425" bIns="45700" anchor="t" anchorCtr="0">
            <a:normAutofit/>
          </a:bodyPr>
          <a:lstStyle/>
          <a:p>
            <a:pPr marL="342900" lvl="0" indent="-342900" algn="l" rtl="0">
              <a:lnSpc>
                <a:spcPct val="150000"/>
              </a:lnSpc>
              <a:spcBef>
                <a:spcPts val="0"/>
              </a:spcBef>
              <a:spcAft>
                <a:spcPts val="0"/>
              </a:spcAft>
              <a:buSzPts val="1440"/>
              <a:buChar char="►"/>
            </a:pPr>
            <a:r>
              <a:rPr lang="en-US"/>
              <a:t>It is a document that maps and traces the user requirement with test cases. </a:t>
            </a:r>
            <a:endParaRPr/>
          </a:p>
          <a:p>
            <a:pPr marL="342900" lvl="0" indent="-251459" algn="l" rtl="0">
              <a:lnSpc>
                <a:spcPct val="150000"/>
              </a:lnSpc>
              <a:spcBef>
                <a:spcPts val="1000"/>
              </a:spcBef>
              <a:spcAft>
                <a:spcPts val="0"/>
              </a:spcAft>
              <a:buSzPts val="1440"/>
              <a:buNone/>
            </a:pPr>
            <a:endParaRPr/>
          </a:p>
          <a:p>
            <a:pPr marL="342900" lvl="0" indent="-342900" algn="l" rtl="0">
              <a:lnSpc>
                <a:spcPct val="150000"/>
              </a:lnSpc>
              <a:spcBef>
                <a:spcPts val="1000"/>
              </a:spcBef>
              <a:spcAft>
                <a:spcPts val="0"/>
              </a:spcAft>
              <a:buSzPts val="1440"/>
              <a:buChar char="►"/>
            </a:pPr>
            <a:r>
              <a:rPr lang="en-US"/>
              <a:t>It is used to track the requirements and to check the current project requirements are met</a:t>
            </a:r>
            <a:endParaRPr/>
          </a:p>
          <a:p>
            <a:pPr marL="342900" lvl="0" indent="-251459" algn="l" rtl="0">
              <a:lnSpc>
                <a:spcPct val="150000"/>
              </a:lnSpc>
              <a:spcBef>
                <a:spcPts val="1000"/>
              </a:spcBef>
              <a:spcAft>
                <a:spcPts val="0"/>
              </a:spcAft>
              <a:buSzPts val="1440"/>
              <a:buNone/>
            </a:pPr>
            <a:endParaRPr/>
          </a:p>
          <a:p>
            <a:pPr marL="342900" lvl="0" indent="-251459" algn="l" rtl="0">
              <a:spcBef>
                <a:spcPts val="1000"/>
              </a:spcBef>
              <a:spcAft>
                <a:spcPts val="0"/>
              </a:spcAft>
              <a:buSzPts val="1440"/>
              <a:buNone/>
            </a:pPr>
            <a:endParaRPr/>
          </a:p>
          <a:p>
            <a:pPr marL="342900" lvl="0" indent="-251459" algn="l" rtl="0">
              <a:spcBef>
                <a:spcPts val="1000"/>
              </a:spcBef>
              <a:spcAft>
                <a:spcPts val="0"/>
              </a:spcAft>
              <a:buSzPts val="1440"/>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7"/>
          <p:cNvSpPr txBox="1">
            <a:spLocks noGrp="1"/>
          </p:cNvSpPr>
          <p:nvPr>
            <p:ph type="title"/>
          </p:nvPr>
        </p:nvSpPr>
        <p:spPr>
          <a:xfrm>
            <a:off x="677334" y="609600"/>
            <a:ext cx="8596668" cy="85898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b="1"/>
              <a:t>Advantage of RTM</a:t>
            </a:r>
            <a:endParaRPr/>
          </a:p>
        </p:txBody>
      </p:sp>
      <p:sp>
        <p:nvSpPr>
          <p:cNvPr id="187" name="Google Shape;187;p7"/>
          <p:cNvSpPr txBox="1">
            <a:spLocks noGrp="1"/>
          </p:cNvSpPr>
          <p:nvPr>
            <p:ph type="body" idx="1"/>
          </p:nvPr>
        </p:nvSpPr>
        <p:spPr>
          <a:xfrm>
            <a:off x="677334" y="1634837"/>
            <a:ext cx="8596668" cy="4406526"/>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n-US"/>
              <a:t>It confirms 100% test coverage</a:t>
            </a:r>
            <a:endParaRPr/>
          </a:p>
          <a:p>
            <a:pPr marL="0" lvl="0" indent="0" algn="l" rtl="0">
              <a:spcBef>
                <a:spcPts val="1000"/>
              </a:spcBef>
              <a:spcAft>
                <a:spcPts val="0"/>
              </a:spcAft>
              <a:buSzPts val="1440"/>
              <a:buNone/>
            </a:pPr>
            <a:endParaRPr/>
          </a:p>
          <a:p>
            <a:pPr marL="342900" lvl="0" indent="-342900" algn="l" rtl="0">
              <a:spcBef>
                <a:spcPts val="1000"/>
              </a:spcBef>
              <a:spcAft>
                <a:spcPts val="0"/>
              </a:spcAft>
              <a:buSzPts val="1440"/>
              <a:buChar char="►"/>
            </a:pPr>
            <a:r>
              <a:rPr lang="en-US"/>
              <a:t>It highlights any requirements missing or document inconsistencies</a:t>
            </a:r>
            <a:endParaRPr/>
          </a:p>
          <a:p>
            <a:pPr marL="342900" lvl="0" indent="-251459" algn="l" rtl="0">
              <a:spcBef>
                <a:spcPts val="1000"/>
              </a:spcBef>
              <a:spcAft>
                <a:spcPts val="0"/>
              </a:spcAft>
              <a:buSzPts val="1440"/>
              <a:buNone/>
            </a:pPr>
            <a:endParaRPr/>
          </a:p>
          <a:p>
            <a:pPr marL="342900" lvl="0" indent="-342900" algn="l" rtl="0">
              <a:spcBef>
                <a:spcPts val="1000"/>
              </a:spcBef>
              <a:spcAft>
                <a:spcPts val="0"/>
              </a:spcAft>
              <a:buSzPts val="1440"/>
              <a:buChar char="►"/>
            </a:pPr>
            <a:r>
              <a:rPr lang="en-US"/>
              <a:t>It shows the overall defects or execution status with a focus on business requirements</a:t>
            </a:r>
            <a:endParaRPr/>
          </a:p>
          <a:p>
            <a:pPr marL="342900" lvl="0" indent="-251459" algn="l" rtl="0">
              <a:spcBef>
                <a:spcPts val="1000"/>
              </a:spcBef>
              <a:spcAft>
                <a:spcPts val="0"/>
              </a:spcAft>
              <a:buSzPts val="1440"/>
              <a:buNone/>
            </a:pPr>
            <a:endParaRPr/>
          </a:p>
          <a:p>
            <a:pPr marL="342900" lvl="0" indent="-342900" algn="l" rtl="0">
              <a:spcBef>
                <a:spcPts val="1000"/>
              </a:spcBef>
              <a:spcAft>
                <a:spcPts val="0"/>
              </a:spcAft>
              <a:buSzPts val="1440"/>
              <a:buChar char="►"/>
            </a:pPr>
            <a:r>
              <a:rPr lang="en-US"/>
              <a:t>It helps in analyzing or estimating the impact on the QA team's work with respect to revisiting or re-working on the test cases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8"/>
          <p:cNvSpPr txBox="1">
            <a:spLocks noGrp="1"/>
          </p:cNvSpPr>
          <p:nvPr>
            <p:ph type="title"/>
          </p:nvPr>
        </p:nvSpPr>
        <p:spPr>
          <a:xfrm>
            <a:off x="677334" y="609600"/>
            <a:ext cx="8596668" cy="775317"/>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C00000"/>
              </a:buClr>
              <a:buSzPts val="3600"/>
              <a:buFont typeface="Trebuchet MS"/>
              <a:buNone/>
            </a:pPr>
            <a:r>
              <a:rPr lang="en-US">
                <a:solidFill>
                  <a:srgbClr val="C00000"/>
                </a:solidFill>
              </a:rPr>
              <a:t>Business Requirement Document </a:t>
            </a:r>
            <a:r>
              <a:rPr lang="en-US" b="1">
                <a:solidFill>
                  <a:srgbClr val="7E6FEB"/>
                </a:solidFill>
              </a:rPr>
              <a:t>(BRD)</a:t>
            </a:r>
            <a:endParaRPr/>
          </a:p>
        </p:txBody>
      </p:sp>
      <p:pic>
        <p:nvPicPr>
          <p:cNvPr id="193" name="Google Shape;193;p8"/>
          <p:cNvPicPr preferRelativeResize="0">
            <a:picLocks noGrp="1"/>
          </p:cNvPicPr>
          <p:nvPr>
            <p:ph type="body" idx="1"/>
          </p:nvPr>
        </p:nvPicPr>
        <p:blipFill rotWithShape="1">
          <a:blip r:embed="rId3">
            <a:alphaModFix/>
          </a:blip>
          <a:srcRect/>
          <a:stretch/>
        </p:blipFill>
        <p:spPr>
          <a:xfrm>
            <a:off x="912609" y="1692194"/>
            <a:ext cx="8233351" cy="388143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9"/>
          <p:cNvSpPr txBox="1">
            <a:spLocks noGrp="1"/>
          </p:cNvSpPr>
          <p:nvPr>
            <p:ph type="title"/>
          </p:nvPr>
        </p:nvSpPr>
        <p:spPr>
          <a:xfrm>
            <a:off x="677333" y="609600"/>
            <a:ext cx="8910549"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C00000"/>
              </a:buClr>
              <a:buSzPts val="3600"/>
              <a:buFont typeface="Trebuchet MS"/>
              <a:buNone/>
            </a:pPr>
            <a:r>
              <a:rPr lang="en-US">
                <a:solidFill>
                  <a:srgbClr val="C00000"/>
                </a:solidFill>
              </a:rPr>
              <a:t>Technical Requirement Document </a:t>
            </a:r>
            <a:r>
              <a:rPr lang="en-US" b="1">
                <a:solidFill>
                  <a:srgbClr val="7E6FEB"/>
                </a:solidFill>
              </a:rPr>
              <a:t>(TRD)</a:t>
            </a:r>
            <a:endParaRPr/>
          </a:p>
        </p:txBody>
      </p:sp>
      <p:pic>
        <p:nvPicPr>
          <p:cNvPr id="199" name="Google Shape;199;p9"/>
          <p:cNvPicPr preferRelativeResize="0">
            <a:picLocks noGrp="1"/>
          </p:cNvPicPr>
          <p:nvPr>
            <p:ph type="body" idx="1"/>
          </p:nvPr>
        </p:nvPicPr>
        <p:blipFill rotWithShape="1">
          <a:blip r:embed="rId3">
            <a:alphaModFix/>
          </a:blip>
          <a:srcRect/>
          <a:stretch/>
        </p:blipFill>
        <p:spPr>
          <a:xfrm>
            <a:off x="677690" y="2152129"/>
            <a:ext cx="8596312" cy="127687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10"/>
          <p:cNvSpPr txBox="1">
            <a:spLocks noGrp="1"/>
          </p:cNvSpPr>
          <p:nvPr>
            <p:ph type="title"/>
          </p:nvPr>
        </p:nvSpPr>
        <p:spPr>
          <a:xfrm>
            <a:off x="0" y="0"/>
            <a:ext cx="8596668" cy="68654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C00000"/>
              </a:buClr>
              <a:buSzPts val="3600"/>
              <a:buFont typeface="Trebuchet MS"/>
              <a:buNone/>
            </a:pPr>
            <a:r>
              <a:rPr lang="en-US">
                <a:solidFill>
                  <a:srgbClr val="C00000"/>
                </a:solidFill>
              </a:rPr>
              <a:t>RTM</a:t>
            </a:r>
            <a:endParaRPr/>
          </a:p>
        </p:txBody>
      </p:sp>
      <p:pic>
        <p:nvPicPr>
          <p:cNvPr id="205" name="Google Shape;205;p10"/>
          <p:cNvPicPr preferRelativeResize="0">
            <a:picLocks noGrp="1"/>
          </p:cNvPicPr>
          <p:nvPr>
            <p:ph type="body" idx="1"/>
          </p:nvPr>
        </p:nvPicPr>
        <p:blipFill rotWithShape="1">
          <a:blip r:embed="rId3">
            <a:alphaModFix/>
          </a:blip>
          <a:srcRect/>
          <a:stretch/>
        </p:blipFill>
        <p:spPr>
          <a:xfrm>
            <a:off x="1014685" y="554855"/>
            <a:ext cx="5943600" cy="2381250"/>
          </a:xfrm>
          <a:prstGeom prst="rect">
            <a:avLst/>
          </a:prstGeom>
          <a:noFill/>
          <a:ln>
            <a:noFill/>
          </a:ln>
        </p:spPr>
      </p:pic>
      <p:sp>
        <p:nvSpPr>
          <p:cNvPr id="206" name="Google Shape;206;p10"/>
          <p:cNvSpPr txBox="1"/>
          <p:nvPr/>
        </p:nvSpPr>
        <p:spPr>
          <a:xfrm>
            <a:off x="829734" y="3147690"/>
            <a:ext cx="8596668" cy="686540"/>
          </a:xfrm>
          <a:prstGeom prst="rect">
            <a:avLst/>
          </a:prstGeom>
          <a:noFill/>
          <a:ln>
            <a:noFill/>
          </a:ln>
        </p:spPr>
        <p:txBody>
          <a:bodyPr spcFirstLastPara="1" wrap="square" lIns="91425" tIns="45700" rIns="91425" bIns="45700" anchor="t" anchorCtr="0">
            <a:normAutofit/>
          </a:bodyPr>
          <a:lstStyle/>
          <a:p>
            <a:pPr marL="0" marR="0" lvl="0" indent="0" algn="l" rtl="0">
              <a:spcBef>
                <a:spcPts val="0"/>
              </a:spcBef>
              <a:spcAft>
                <a:spcPts val="0"/>
              </a:spcAft>
              <a:buClr>
                <a:srgbClr val="C00000"/>
              </a:buClr>
              <a:buSzPts val="3600"/>
              <a:buFont typeface="Trebuchet MS"/>
              <a:buNone/>
            </a:pPr>
            <a:r>
              <a:rPr lang="en-US" sz="3600" b="0" i="0" u="none" strike="noStrike" cap="none">
                <a:solidFill>
                  <a:srgbClr val="C00000"/>
                </a:solidFill>
                <a:latin typeface="Trebuchet MS"/>
                <a:ea typeface="Trebuchet MS"/>
                <a:cs typeface="Trebuchet MS"/>
                <a:sym typeface="Trebuchet MS"/>
              </a:rPr>
              <a:t>RTM Table</a:t>
            </a:r>
            <a:endParaRPr/>
          </a:p>
        </p:txBody>
      </p:sp>
      <p:pic>
        <p:nvPicPr>
          <p:cNvPr id="207" name="Google Shape;207;p10"/>
          <p:cNvPicPr preferRelativeResize="0"/>
          <p:nvPr/>
        </p:nvPicPr>
        <p:blipFill rotWithShape="1">
          <a:blip r:embed="rId4">
            <a:alphaModFix/>
          </a:blip>
          <a:srcRect/>
          <a:stretch/>
        </p:blipFill>
        <p:spPr>
          <a:xfrm>
            <a:off x="3238500" y="2936106"/>
            <a:ext cx="5715000" cy="392189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11"/>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Types:</a:t>
            </a:r>
            <a:endParaRPr/>
          </a:p>
        </p:txBody>
      </p:sp>
      <p:sp>
        <p:nvSpPr>
          <p:cNvPr id="213" name="Google Shape;213;p11"/>
          <p:cNvSpPr txBox="1">
            <a:spLocks noGrp="1"/>
          </p:cNvSpPr>
          <p:nvPr>
            <p:ph type="body" idx="1"/>
          </p:nvPr>
        </p:nvSpPr>
        <p:spPr>
          <a:xfrm>
            <a:off x="1490134" y="1999643"/>
            <a:ext cx="8596668" cy="388077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n-US"/>
              <a:t>Forward Traceability</a:t>
            </a:r>
            <a:endParaRPr/>
          </a:p>
          <a:p>
            <a:pPr marL="342900" lvl="0" indent="-342900" algn="l" rtl="0">
              <a:spcBef>
                <a:spcPts val="1000"/>
              </a:spcBef>
              <a:spcAft>
                <a:spcPts val="0"/>
              </a:spcAft>
              <a:buSzPts val="1440"/>
              <a:buChar char="►"/>
            </a:pPr>
            <a:r>
              <a:rPr lang="en-US"/>
              <a:t>Backward Traceability</a:t>
            </a:r>
            <a:endParaRPr/>
          </a:p>
          <a:p>
            <a:pPr marL="342900" lvl="0" indent="-251459" algn="l" rtl="0">
              <a:spcBef>
                <a:spcPts val="1000"/>
              </a:spcBef>
              <a:spcAft>
                <a:spcPts val="0"/>
              </a:spcAft>
              <a:buSzPts val="1440"/>
              <a:buNone/>
            </a:pPr>
            <a:endParaRPr/>
          </a:p>
        </p:txBody>
      </p:sp>
      <p:pic>
        <p:nvPicPr>
          <p:cNvPr id="214" name="Google Shape;214;p11" descr="How to Create Requirements Traceability Matrix (RTM) Example Sample Template"/>
          <p:cNvPicPr preferRelativeResize="0"/>
          <p:nvPr/>
        </p:nvPicPr>
        <p:blipFill rotWithShape="1">
          <a:blip r:embed="rId3">
            <a:alphaModFix/>
          </a:blip>
          <a:srcRect/>
          <a:stretch/>
        </p:blipFill>
        <p:spPr>
          <a:xfrm>
            <a:off x="2538558" y="3228078"/>
            <a:ext cx="5885006" cy="288365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12"/>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EB7564"/>
              </a:buClr>
              <a:buSzPts val="3600"/>
              <a:buFont typeface="Trebuchet MS"/>
              <a:buNone/>
            </a:pPr>
            <a:r>
              <a:rPr lang="en-US">
                <a:solidFill>
                  <a:srgbClr val="EB7564"/>
                </a:solidFill>
              </a:rPr>
              <a:t>Phase 2:</a:t>
            </a:r>
            <a:br>
              <a:rPr lang="en-US">
                <a:solidFill>
                  <a:srgbClr val="FFC000"/>
                </a:solidFill>
              </a:rPr>
            </a:br>
            <a:r>
              <a:rPr lang="en-US">
                <a:solidFill>
                  <a:srgbClr val="FFC000"/>
                </a:solidFill>
              </a:rPr>
              <a:t>						</a:t>
            </a:r>
            <a:r>
              <a:rPr lang="en-US">
                <a:solidFill>
                  <a:srgbClr val="AD4C11"/>
                </a:solidFill>
              </a:rPr>
              <a:t>Test</a:t>
            </a:r>
            <a:r>
              <a:rPr lang="en-US">
                <a:solidFill>
                  <a:srgbClr val="FFC000"/>
                </a:solidFill>
              </a:rPr>
              <a:t> </a:t>
            </a:r>
            <a:r>
              <a:rPr lang="en-US">
                <a:solidFill>
                  <a:srgbClr val="AD4C11"/>
                </a:solidFill>
              </a:rPr>
              <a:t>Planning</a:t>
            </a:r>
            <a:endParaRPr/>
          </a:p>
        </p:txBody>
      </p:sp>
      <p:sp>
        <p:nvSpPr>
          <p:cNvPr id="220" name="Google Shape;220;p12"/>
          <p:cNvSpPr txBox="1">
            <a:spLocks noGrp="1"/>
          </p:cNvSpPr>
          <p:nvPr>
            <p:ph type="body" idx="1"/>
          </p:nvPr>
        </p:nvSpPr>
        <p:spPr>
          <a:xfrm>
            <a:off x="1987826" y="2160589"/>
            <a:ext cx="7286176" cy="388077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n-US"/>
              <a:t>Senior QA Manager determines Effort &amp; Cost estimates </a:t>
            </a:r>
            <a:endParaRPr/>
          </a:p>
          <a:p>
            <a:pPr marL="342900" lvl="0" indent="-342900" algn="l" rtl="0">
              <a:spcBef>
                <a:spcPts val="1000"/>
              </a:spcBef>
              <a:spcAft>
                <a:spcPts val="0"/>
              </a:spcAft>
              <a:buSzPts val="1440"/>
              <a:buChar char="►"/>
            </a:pPr>
            <a:r>
              <a:rPr lang="en-US"/>
              <a:t>Preparation of Test Plan Document for various types of testing</a:t>
            </a:r>
            <a:endParaRPr/>
          </a:p>
          <a:p>
            <a:pPr marL="342900" lvl="0" indent="-342900" algn="l" rtl="0">
              <a:spcBef>
                <a:spcPts val="1000"/>
              </a:spcBef>
              <a:spcAft>
                <a:spcPts val="0"/>
              </a:spcAft>
              <a:buSzPts val="1440"/>
              <a:buChar char="►"/>
            </a:pPr>
            <a:r>
              <a:rPr lang="en-US"/>
              <a:t>Tool selection </a:t>
            </a:r>
            <a:endParaRPr/>
          </a:p>
          <a:p>
            <a:pPr marL="342900" lvl="0" indent="-342900" algn="l" rtl="0">
              <a:spcBef>
                <a:spcPts val="1000"/>
              </a:spcBef>
              <a:spcAft>
                <a:spcPts val="0"/>
              </a:spcAft>
              <a:buSzPts val="1440"/>
              <a:buChar char="►"/>
            </a:pPr>
            <a:r>
              <a:rPr lang="en-US"/>
              <a:t>Resource planning and determining R</a:t>
            </a:r>
            <a:r>
              <a:rPr lang="en-US">
                <a:latin typeface="Arial"/>
                <a:ea typeface="Arial"/>
                <a:cs typeface="Arial"/>
                <a:sym typeface="Arial"/>
              </a:rPr>
              <a:t>&amp;</a:t>
            </a:r>
            <a:r>
              <a:rPr lang="en-US"/>
              <a:t>R</a:t>
            </a:r>
            <a:endParaRPr/>
          </a:p>
          <a:p>
            <a:pPr marL="342900" lvl="0" indent="-342900" algn="l" rtl="0">
              <a:spcBef>
                <a:spcPts val="1000"/>
              </a:spcBef>
              <a:spcAft>
                <a:spcPts val="0"/>
              </a:spcAft>
              <a:buSzPts val="1440"/>
              <a:buChar char="►"/>
            </a:pPr>
            <a:r>
              <a:rPr lang="en-US"/>
              <a:t>Training Requirements</a:t>
            </a:r>
            <a:endParaRPr/>
          </a:p>
          <a:p>
            <a:pPr marL="0" lvl="0" indent="0" algn="l" rtl="0">
              <a:spcBef>
                <a:spcPts val="1000"/>
              </a:spcBef>
              <a:spcAft>
                <a:spcPts val="0"/>
              </a:spcAft>
              <a:buSzPts val="1440"/>
              <a:buNone/>
            </a:pPr>
            <a:endParaRPr/>
          </a:p>
          <a:p>
            <a:pPr marL="342900" lvl="0" indent="-342900" algn="l" rtl="0">
              <a:spcBef>
                <a:spcPts val="1000"/>
              </a:spcBef>
              <a:spcAft>
                <a:spcPts val="0"/>
              </a:spcAft>
              <a:buSzPts val="1440"/>
              <a:buChar char="►"/>
            </a:pPr>
            <a:r>
              <a:rPr lang="en-US" u="sng"/>
              <a:t>Deliverables</a:t>
            </a:r>
            <a:r>
              <a:rPr lang="en-US"/>
              <a:t>:</a:t>
            </a:r>
            <a:endParaRPr/>
          </a:p>
          <a:p>
            <a:pPr marL="0" lvl="0" indent="0" algn="l" rtl="0">
              <a:spcBef>
                <a:spcPts val="1000"/>
              </a:spcBef>
              <a:spcAft>
                <a:spcPts val="0"/>
              </a:spcAft>
              <a:buSzPts val="1440"/>
              <a:buNone/>
            </a:pPr>
            <a:r>
              <a:rPr lang="en-US"/>
              <a:t>		Test Plan Document</a:t>
            </a:r>
            <a:endParaRPr/>
          </a:p>
          <a:p>
            <a:pPr marL="0" lvl="0" indent="0" algn="l" rtl="0">
              <a:spcBef>
                <a:spcPts val="1000"/>
              </a:spcBef>
              <a:spcAft>
                <a:spcPts val="0"/>
              </a:spcAft>
              <a:buSzPts val="1440"/>
              <a:buNone/>
            </a:pPr>
            <a:r>
              <a:rPr lang="en-US"/>
              <a:t>		Effort Estimation Document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13"/>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Test Plan Document</a:t>
            </a:r>
            <a:endParaRPr/>
          </a:p>
        </p:txBody>
      </p:sp>
      <p:sp>
        <p:nvSpPr>
          <p:cNvPr id="226" name="Google Shape;226;p13"/>
          <p:cNvSpPr txBox="1">
            <a:spLocks noGrp="1"/>
          </p:cNvSpPr>
          <p:nvPr>
            <p:ph type="body" idx="1"/>
          </p:nvPr>
        </p:nvSpPr>
        <p:spPr>
          <a:xfrm>
            <a:off x="1431637" y="1781898"/>
            <a:ext cx="8221056" cy="3880773"/>
          </a:xfrm>
          <a:prstGeom prst="rect">
            <a:avLst/>
          </a:prstGeom>
          <a:noFill/>
          <a:ln>
            <a:noFill/>
          </a:ln>
        </p:spPr>
        <p:txBody>
          <a:bodyPr spcFirstLastPara="1" wrap="square" lIns="91425" tIns="45700" rIns="91425" bIns="45700" anchor="t" anchorCtr="0">
            <a:normAutofit/>
          </a:bodyPr>
          <a:lstStyle/>
          <a:p>
            <a:pPr marL="342900" lvl="0" indent="-342900" algn="l" rtl="0">
              <a:lnSpc>
                <a:spcPct val="150000"/>
              </a:lnSpc>
              <a:spcBef>
                <a:spcPts val="0"/>
              </a:spcBef>
              <a:spcAft>
                <a:spcPts val="0"/>
              </a:spcAft>
              <a:buSzPts val="1440"/>
              <a:buChar char="►"/>
            </a:pPr>
            <a:r>
              <a:rPr lang="en-US"/>
              <a:t>Test Plan is a document describing the </a:t>
            </a:r>
            <a:endParaRPr/>
          </a:p>
          <a:p>
            <a:pPr marL="1257300" lvl="3" indent="0" algn="l" rtl="0">
              <a:lnSpc>
                <a:spcPct val="150000"/>
              </a:lnSpc>
              <a:spcBef>
                <a:spcPts val="1000"/>
              </a:spcBef>
              <a:spcAft>
                <a:spcPts val="0"/>
              </a:spcAft>
              <a:buSzPts val="1440"/>
              <a:buNone/>
            </a:pPr>
            <a:r>
              <a:rPr lang="en-US" sz="1800"/>
              <a:t>scope, </a:t>
            </a:r>
            <a:endParaRPr sz="1800"/>
          </a:p>
          <a:p>
            <a:pPr marL="1257300" lvl="3" indent="0" algn="l" rtl="0">
              <a:lnSpc>
                <a:spcPct val="150000"/>
              </a:lnSpc>
              <a:spcBef>
                <a:spcPts val="1000"/>
              </a:spcBef>
              <a:spcAft>
                <a:spcPts val="0"/>
              </a:spcAft>
              <a:buSzPts val="1440"/>
              <a:buNone/>
            </a:pPr>
            <a:r>
              <a:rPr lang="en-US" sz="1800"/>
              <a:t>approach, </a:t>
            </a:r>
            <a:endParaRPr sz="1800"/>
          </a:p>
          <a:p>
            <a:pPr marL="1257300" lvl="3" indent="0" algn="l" rtl="0">
              <a:lnSpc>
                <a:spcPct val="150000"/>
              </a:lnSpc>
              <a:spcBef>
                <a:spcPts val="1000"/>
              </a:spcBef>
              <a:spcAft>
                <a:spcPts val="0"/>
              </a:spcAft>
              <a:buSzPts val="1440"/>
              <a:buNone/>
            </a:pPr>
            <a:r>
              <a:rPr lang="en-US" sz="1800"/>
              <a:t>resources, and </a:t>
            </a:r>
            <a:endParaRPr sz="1800"/>
          </a:p>
          <a:p>
            <a:pPr marL="1257300" lvl="3" indent="0" algn="l" rtl="0">
              <a:lnSpc>
                <a:spcPct val="150000"/>
              </a:lnSpc>
              <a:spcBef>
                <a:spcPts val="1000"/>
              </a:spcBef>
              <a:spcAft>
                <a:spcPts val="0"/>
              </a:spcAft>
              <a:buSzPts val="1440"/>
              <a:buNone/>
            </a:pPr>
            <a:r>
              <a:rPr lang="en-US" sz="1800"/>
              <a:t>schedule of planned test activities.</a:t>
            </a:r>
            <a:endParaRPr/>
          </a:p>
          <a:p>
            <a:pPr marL="342900" lvl="0" indent="-251459" algn="l" rtl="0">
              <a:spcBef>
                <a:spcPts val="1000"/>
              </a:spcBef>
              <a:spcAft>
                <a:spcPts val="0"/>
              </a:spcAft>
              <a:buSzPts val="1440"/>
              <a:buNone/>
            </a:pPr>
            <a:endParaRPr/>
          </a:p>
          <a:p>
            <a:pPr marL="342900" lvl="0" indent="-342900" algn="l" rtl="0">
              <a:spcBef>
                <a:spcPts val="1000"/>
              </a:spcBef>
              <a:spcAft>
                <a:spcPts val="0"/>
              </a:spcAft>
              <a:buSzPts val="1440"/>
              <a:buChar char="►"/>
            </a:pPr>
            <a:r>
              <a:rPr lang="en-US"/>
              <a:t>it deals with test coverage, features to be tested, features not to be tested, estimation, scheduling and resource management.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14"/>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Create Test Plan Document</a:t>
            </a:r>
            <a:endParaRPr/>
          </a:p>
        </p:txBody>
      </p:sp>
      <p:sp>
        <p:nvSpPr>
          <p:cNvPr id="232" name="Google Shape;232;p14"/>
          <p:cNvSpPr txBox="1">
            <a:spLocks noGrp="1"/>
          </p:cNvSpPr>
          <p:nvPr>
            <p:ph type="body" idx="1"/>
          </p:nvPr>
        </p:nvSpPr>
        <p:spPr>
          <a:xfrm>
            <a:off x="2484582" y="1717244"/>
            <a:ext cx="6789420" cy="4683556"/>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1440"/>
              <a:buNone/>
            </a:pPr>
            <a:r>
              <a:rPr lang="en-US"/>
              <a:t>Follow the below steps below to create a test plan.</a:t>
            </a:r>
            <a:endParaRPr/>
          </a:p>
          <a:p>
            <a:pPr marL="0" lvl="0" indent="0" algn="l" rtl="0">
              <a:spcBef>
                <a:spcPts val="1000"/>
              </a:spcBef>
              <a:spcAft>
                <a:spcPts val="0"/>
              </a:spcAft>
              <a:buSzPts val="1440"/>
              <a:buNone/>
            </a:pPr>
            <a:endParaRPr/>
          </a:p>
          <a:p>
            <a:pPr marL="0" lvl="0" indent="0" algn="l" rtl="0">
              <a:spcBef>
                <a:spcPts val="1000"/>
              </a:spcBef>
              <a:spcAft>
                <a:spcPts val="0"/>
              </a:spcAft>
              <a:buSzPts val="1440"/>
              <a:buNone/>
            </a:pPr>
            <a:r>
              <a:rPr lang="en-US"/>
              <a:t>1. Analyze the product</a:t>
            </a:r>
            <a:endParaRPr/>
          </a:p>
          <a:p>
            <a:pPr marL="0" lvl="0" indent="0" algn="l" rtl="0">
              <a:spcBef>
                <a:spcPts val="1000"/>
              </a:spcBef>
              <a:spcAft>
                <a:spcPts val="0"/>
              </a:spcAft>
              <a:buSzPts val="1440"/>
              <a:buNone/>
            </a:pPr>
            <a:r>
              <a:rPr lang="en-US"/>
              <a:t>2. Design the Test Strategy</a:t>
            </a:r>
            <a:endParaRPr/>
          </a:p>
          <a:p>
            <a:pPr marL="0" lvl="0" indent="0" algn="l" rtl="0">
              <a:spcBef>
                <a:spcPts val="1000"/>
              </a:spcBef>
              <a:spcAft>
                <a:spcPts val="0"/>
              </a:spcAft>
              <a:buSzPts val="1440"/>
              <a:buNone/>
            </a:pPr>
            <a:r>
              <a:rPr lang="en-US"/>
              <a:t>3. Define the Test Objectives</a:t>
            </a:r>
            <a:endParaRPr/>
          </a:p>
          <a:p>
            <a:pPr marL="0" lvl="0" indent="0" algn="l" rtl="0">
              <a:spcBef>
                <a:spcPts val="1000"/>
              </a:spcBef>
              <a:spcAft>
                <a:spcPts val="0"/>
              </a:spcAft>
              <a:buSzPts val="1440"/>
              <a:buNone/>
            </a:pPr>
            <a:r>
              <a:rPr lang="en-US"/>
              <a:t>4. Define Test Criteria</a:t>
            </a:r>
            <a:endParaRPr/>
          </a:p>
          <a:p>
            <a:pPr marL="0" lvl="0" indent="0" algn="l" rtl="0">
              <a:spcBef>
                <a:spcPts val="1000"/>
              </a:spcBef>
              <a:spcAft>
                <a:spcPts val="0"/>
              </a:spcAft>
              <a:buSzPts val="1440"/>
              <a:buNone/>
            </a:pPr>
            <a:r>
              <a:rPr lang="en-US"/>
              <a:t>5. Resource Planning</a:t>
            </a:r>
            <a:endParaRPr/>
          </a:p>
          <a:p>
            <a:pPr marL="0" lvl="0" indent="0" algn="l" rtl="0">
              <a:spcBef>
                <a:spcPts val="1000"/>
              </a:spcBef>
              <a:spcAft>
                <a:spcPts val="0"/>
              </a:spcAft>
              <a:buSzPts val="1440"/>
              <a:buNone/>
            </a:pPr>
            <a:r>
              <a:rPr lang="en-US"/>
              <a:t>6. Plan Test Environment</a:t>
            </a:r>
            <a:endParaRPr/>
          </a:p>
          <a:p>
            <a:pPr marL="0" lvl="0" indent="0" algn="l" rtl="0">
              <a:spcBef>
                <a:spcPts val="1000"/>
              </a:spcBef>
              <a:spcAft>
                <a:spcPts val="0"/>
              </a:spcAft>
              <a:buSzPts val="1440"/>
              <a:buNone/>
            </a:pPr>
            <a:r>
              <a:rPr lang="en-US"/>
              <a:t>7. Schedule &amp; Estimation</a:t>
            </a:r>
            <a:endParaRPr/>
          </a:p>
          <a:p>
            <a:pPr marL="0" lvl="0" indent="0" algn="l" rtl="0">
              <a:spcBef>
                <a:spcPts val="1000"/>
              </a:spcBef>
              <a:spcAft>
                <a:spcPts val="0"/>
              </a:spcAft>
              <a:buSzPts val="1440"/>
              <a:buNone/>
            </a:pPr>
            <a:r>
              <a:rPr lang="en-US"/>
              <a:t>8. Determine Test Deliverables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pic>
        <p:nvPicPr>
          <p:cNvPr id="237" name="Google Shape;237;p15"/>
          <p:cNvPicPr preferRelativeResize="0"/>
          <p:nvPr/>
        </p:nvPicPr>
        <p:blipFill rotWithShape="1">
          <a:blip r:embed="rId3">
            <a:alphaModFix/>
          </a:blip>
          <a:srcRect/>
          <a:stretch/>
        </p:blipFill>
        <p:spPr>
          <a:xfrm>
            <a:off x="1379970" y="415636"/>
            <a:ext cx="7265265" cy="61150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16"/>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EB7564"/>
              </a:buClr>
              <a:buSzPts val="3600"/>
              <a:buFont typeface="Trebuchet MS"/>
              <a:buNone/>
            </a:pPr>
            <a:r>
              <a:rPr lang="en-US">
                <a:solidFill>
                  <a:srgbClr val="EB7564"/>
                </a:solidFill>
              </a:rPr>
              <a:t>Phase 3:</a:t>
            </a:r>
            <a:br>
              <a:rPr lang="en-US">
                <a:solidFill>
                  <a:srgbClr val="FFC000"/>
                </a:solidFill>
              </a:rPr>
            </a:br>
            <a:r>
              <a:rPr lang="en-US">
                <a:solidFill>
                  <a:srgbClr val="FFC000"/>
                </a:solidFill>
              </a:rPr>
              <a:t>				</a:t>
            </a:r>
            <a:r>
              <a:rPr lang="en-US">
                <a:solidFill>
                  <a:srgbClr val="AD4C11"/>
                </a:solidFill>
              </a:rPr>
              <a:t>Test Case Development</a:t>
            </a:r>
            <a:endParaRPr/>
          </a:p>
        </p:txBody>
      </p:sp>
      <p:sp>
        <p:nvSpPr>
          <p:cNvPr id="243" name="Google Shape;243;p16"/>
          <p:cNvSpPr txBox="1">
            <a:spLocks noGrp="1"/>
          </p:cNvSpPr>
          <p:nvPr>
            <p:ph type="body" idx="1"/>
          </p:nvPr>
        </p:nvSpPr>
        <p:spPr>
          <a:xfrm>
            <a:off x="2282024" y="2160589"/>
            <a:ext cx="6991978" cy="388077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n-US"/>
              <a:t>Create test Cases, Automation Scripts</a:t>
            </a:r>
            <a:endParaRPr/>
          </a:p>
          <a:p>
            <a:pPr marL="342900" lvl="0" indent="-342900" algn="l" rtl="0">
              <a:spcBef>
                <a:spcPts val="1000"/>
              </a:spcBef>
              <a:spcAft>
                <a:spcPts val="0"/>
              </a:spcAft>
              <a:buSzPts val="1440"/>
              <a:buChar char="►"/>
            </a:pPr>
            <a:r>
              <a:rPr lang="en-US"/>
              <a:t>Review and Verify test cases &amp; test scripts</a:t>
            </a:r>
            <a:endParaRPr/>
          </a:p>
          <a:p>
            <a:pPr marL="342900" lvl="0" indent="-342900" algn="l" rtl="0">
              <a:spcBef>
                <a:spcPts val="1000"/>
              </a:spcBef>
              <a:spcAft>
                <a:spcPts val="0"/>
              </a:spcAft>
              <a:buSzPts val="1440"/>
              <a:buChar char="►"/>
            </a:pPr>
            <a:r>
              <a:rPr lang="en-US"/>
              <a:t>Create Test Data</a:t>
            </a:r>
            <a:endParaRPr/>
          </a:p>
          <a:p>
            <a:pPr marL="342900" lvl="0" indent="-251459" algn="l" rtl="0">
              <a:spcBef>
                <a:spcPts val="1000"/>
              </a:spcBef>
              <a:spcAft>
                <a:spcPts val="0"/>
              </a:spcAft>
              <a:buSzPts val="1440"/>
              <a:buNone/>
            </a:pPr>
            <a:endParaRPr/>
          </a:p>
          <a:p>
            <a:pPr marL="342900" lvl="0" indent="-251459" algn="l" rtl="0">
              <a:spcBef>
                <a:spcPts val="1000"/>
              </a:spcBef>
              <a:spcAft>
                <a:spcPts val="0"/>
              </a:spcAft>
              <a:buSzPts val="1440"/>
              <a:buNone/>
            </a:pPr>
            <a:endParaRPr/>
          </a:p>
          <a:p>
            <a:pPr marL="342900" lvl="0" indent="-342900" algn="l" rtl="0">
              <a:spcBef>
                <a:spcPts val="1000"/>
              </a:spcBef>
              <a:spcAft>
                <a:spcPts val="0"/>
              </a:spcAft>
              <a:buSzPts val="1440"/>
              <a:buChar char="►"/>
            </a:pPr>
            <a:r>
              <a:rPr lang="en-US" u="sng"/>
              <a:t>Deliverables</a:t>
            </a:r>
            <a:endParaRPr/>
          </a:p>
          <a:p>
            <a:pPr marL="0" lvl="0" indent="0" algn="l" rtl="0">
              <a:spcBef>
                <a:spcPts val="1000"/>
              </a:spcBef>
              <a:spcAft>
                <a:spcPts val="0"/>
              </a:spcAft>
              <a:buSzPts val="1440"/>
              <a:buNone/>
            </a:pPr>
            <a:r>
              <a:rPr lang="en-US"/>
              <a:t>		Test Cases/Scripts</a:t>
            </a:r>
            <a:endParaRPr/>
          </a:p>
          <a:p>
            <a:pPr marL="0" lvl="0" indent="0" algn="l" rtl="0">
              <a:spcBef>
                <a:spcPts val="1000"/>
              </a:spcBef>
              <a:spcAft>
                <a:spcPts val="0"/>
              </a:spcAft>
              <a:buSzPts val="1440"/>
              <a:buNone/>
            </a:pPr>
            <a:r>
              <a:rPr lang="en-US"/>
              <a:t>		Test Data</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17"/>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EB7564"/>
              </a:buClr>
              <a:buSzPts val="3600"/>
              <a:buFont typeface="Trebuchet MS"/>
              <a:buNone/>
            </a:pPr>
            <a:r>
              <a:rPr lang="en-US">
                <a:solidFill>
                  <a:srgbClr val="EB7564"/>
                </a:solidFill>
              </a:rPr>
              <a:t>Phase 4:</a:t>
            </a:r>
            <a:br>
              <a:rPr lang="en-US">
                <a:solidFill>
                  <a:srgbClr val="FFC000"/>
                </a:solidFill>
              </a:rPr>
            </a:br>
            <a:r>
              <a:rPr lang="en-US">
                <a:solidFill>
                  <a:srgbClr val="FFC000"/>
                </a:solidFill>
              </a:rPr>
              <a:t>				</a:t>
            </a:r>
            <a:r>
              <a:rPr lang="en-US">
                <a:solidFill>
                  <a:srgbClr val="AD4C11"/>
                </a:solidFill>
              </a:rPr>
              <a:t>Environment Setup</a:t>
            </a:r>
            <a:endParaRPr/>
          </a:p>
        </p:txBody>
      </p:sp>
      <p:sp>
        <p:nvSpPr>
          <p:cNvPr id="249" name="Google Shape;249;p17"/>
          <p:cNvSpPr txBox="1">
            <a:spLocks noGrp="1"/>
          </p:cNvSpPr>
          <p:nvPr>
            <p:ph type="body" idx="1"/>
          </p:nvPr>
        </p:nvSpPr>
        <p:spPr>
          <a:xfrm>
            <a:off x="1987826" y="2160589"/>
            <a:ext cx="7286176" cy="388077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n-US"/>
              <a:t>Understand required architecture, environment set-up</a:t>
            </a:r>
            <a:endParaRPr/>
          </a:p>
          <a:p>
            <a:pPr marL="342900" lvl="0" indent="-342900" algn="l" rtl="0">
              <a:spcBef>
                <a:spcPts val="1000"/>
              </a:spcBef>
              <a:spcAft>
                <a:spcPts val="0"/>
              </a:spcAft>
              <a:buSzPts val="1440"/>
              <a:buChar char="►"/>
            </a:pPr>
            <a:r>
              <a:rPr lang="en-US"/>
              <a:t>Prepare H/W , S/W requirement list </a:t>
            </a:r>
            <a:endParaRPr/>
          </a:p>
          <a:p>
            <a:pPr marL="342900" lvl="0" indent="-342900" algn="l" rtl="0">
              <a:spcBef>
                <a:spcPts val="1000"/>
              </a:spcBef>
              <a:spcAft>
                <a:spcPts val="0"/>
              </a:spcAft>
              <a:buSzPts val="1440"/>
              <a:buChar char="►"/>
            </a:pPr>
            <a:r>
              <a:rPr lang="en-US"/>
              <a:t>Setup Test Environment and test data</a:t>
            </a:r>
            <a:endParaRPr/>
          </a:p>
          <a:p>
            <a:pPr marL="342900" lvl="0" indent="-342900" algn="l" rtl="0">
              <a:spcBef>
                <a:spcPts val="1000"/>
              </a:spcBef>
              <a:spcAft>
                <a:spcPts val="0"/>
              </a:spcAft>
              <a:buSzPts val="1440"/>
              <a:buChar char="►"/>
            </a:pPr>
            <a:r>
              <a:rPr lang="en-US"/>
              <a:t>Perform Smoke Test on the build to do a readiness check of the given environment</a:t>
            </a:r>
            <a:endParaRPr/>
          </a:p>
          <a:p>
            <a:pPr marL="342900" lvl="0" indent="-251459" algn="l" rtl="0">
              <a:spcBef>
                <a:spcPts val="1000"/>
              </a:spcBef>
              <a:spcAft>
                <a:spcPts val="0"/>
              </a:spcAft>
              <a:buSzPts val="1440"/>
              <a:buNone/>
            </a:pPr>
            <a:endParaRPr/>
          </a:p>
          <a:p>
            <a:pPr marL="342900" lvl="0" indent="-342900" algn="l" rtl="0">
              <a:spcBef>
                <a:spcPts val="1000"/>
              </a:spcBef>
              <a:spcAft>
                <a:spcPts val="0"/>
              </a:spcAft>
              <a:buSzPts val="1440"/>
              <a:buChar char="►"/>
            </a:pPr>
            <a:r>
              <a:rPr lang="en-US" u="sng"/>
              <a:t>Deliverables</a:t>
            </a:r>
            <a:endParaRPr/>
          </a:p>
          <a:p>
            <a:pPr marL="0" lvl="0" indent="0" algn="l" rtl="0">
              <a:spcBef>
                <a:spcPts val="1000"/>
              </a:spcBef>
              <a:spcAft>
                <a:spcPts val="0"/>
              </a:spcAft>
              <a:buSzPts val="1440"/>
              <a:buNone/>
            </a:pPr>
            <a:r>
              <a:rPr lang="en-US"/>
              <a:t>		Environment Ready with Test Data Setup</a:t>
            </a:r>
            <a:endParaRPr/>
          </a:p>
          <a:p>
            <a:pPr marL="0" lvl="0" indent="0" algn="l" rtl="0">
              <a:spcBef>
                <a:spcPts val="1000"/>
              </a:spcBef>
              <a:spcAft>
                <a:spcPts val="0"/>
              </a:spcAft>
              <a:buSzPts val="1440"/>
              <a:buNone/>
            </a:pPr>
            <a:r>
              <a:rPr lang="en-US"/>
              <a:t>		Smoke Test Results</a:t>
            </a:r>
            <a:endParaRPr/>
          </a:p>
          <a:p>
            <a:pPr marL="342900" lvl="0" indent="-251459" algn="l" rtl="0">
              <a:spcBef>
                <a:spcPts val="1000"/>
              </a:spcBef>
              <a:spcAft>
                <a:spcPts val="0"/>
              </a:spcAft>
              <a:buSzPts val="1440"/>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18"/>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EB7564"/>
              </a:buClr>
              <a:buSzPts val="3600"/>
              <a:buFont typeface="Trebuchet MS"/>
              <a:buNone/>
            </a:pPr>
            <a:r>
              <a:rPr lang="en-US">
                <a:solidFill>
                  <a:srgbClr val="EB7564"/>
                </a:solidFill>
              </a:rPr>
              <a:t>Phase 5:</a:t>
            </a:r>
            <a:br>
              <a:rPr lang="en-US">
                <a:solidFill>
                  <a:srgbClr val="FFC000"/>
                </a:solidFill>
              </a:rPr>
            </a:br>
            <a:r>
              <a:rPr lang="en-US">
                <a:solidFill>
                  <a:srgbClr val="FFC000"/>
                </a:solidFill>
              </a:rPr>
              <a:t>				</a:t>
            </a:r>
            <a:r>
              <a:rPr lang="en-US">
                <a:solidFill>
                  <a:srgbClr val="AD4C11"/>
                </a:solidFill>
              </a:rPr>
              <a:t>Test Execution</a:t>
            </a:r>
            <a:endParaRPr/>
          </a:p>
        </p:txBody>
      </p:sp>
      <p:sp>
        <p:nvSpPr>
          <p:cNvPr id="255" name="Google Shape;255;p18"/>
          <p:cNvSpPr txBox="1">
            <a:spLocks noGrp="1"/>
          </p:cNvSpPr>
          <p:nvPr>
            <p:ph type="body" idx="1"/>
          </p:nvPr>
        </p:nvSpPr>
        <p:spPr>
          <a:xfrm>
            <a:off x="2536466" y="2160589"/>
            <a:ext cx="6737536" cy="388077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n-US"/>
              <a:t>Execute tests as per Plan</a:t>
            </a:r>
            <a:endParaRPr/>
          </a:p>
          <a:p>
            <a:pPr marL="342900" lvl="0" indent="-342900" algn="l" rtl="0">
              <a:spcBef>
                <a:spcPts val="1000"/>
              </a:spcBef>
              <a:spcAft>
                <a:spcPts val="0"/>
              </a:spcAft>
              <a:buSzPts val="1440"/>
              <a:buChar char="►"/>
            </a:pPr>
            <a:r>
              <a:rPr lang="en-US"/>
              <a:t>Document test results and log defects for failed cases</a:t>
            </a:r>
            <a:endParaRPr/>
          </a:p>
          <a:p>
            <a:pPr marL="342900" lvl="0" indent="-342900" algn="l" rtl="0">
              <a:spcBef>
                <a:spcPts val="1000"/>
              </a:spcBef>
              <a:spcAft>
                <a:spcPts val="0"/>
              </a:spcAft>
              <a:buSzPts val="1440"/>
              <a:buChar char="►"/>
            </a:pPr>
            <a:r>
              <a:rPr lang="en-US"/>
              <a:t>Bugs will be reported to dev team for correction</a:t>
            </a:r>
            <a:endParaRPr/>
          </a:p>
          <a:p>
            <a:pPr marL="342900" lvl="0" indent="-342900" algn="l" rtl="0">
              <a:spcBef>
                <a:spcPts val="1000"/>
              </a:spcBef>
              <a:spcAft>
                <a:spcPts val="0"/>
              </a:spcAft>
              <a:buSzPts val="1440"/>
              <a:buChar char="►"/>
            </a:pPr>
            <a:r>
              <a:rPr lang="en-US"/>
              <a:t>Retest the Defect fixes</a:t>
            </a:r>
            <a:endParaRPr/>
          </a:p>
          <a:p>
            <a:pPr marL="342900" lvl="0" indent="-342900" algn="l" rtl="0">
              <a:spcBef>
                <a:spcPts val="1000"/>
              </a:spcBef>
              <a:spcAft>
                <a:spcPts val="0"/>
              </a:spcAft>
              <a:buSzPts val="1440"/>
              <a:buChar char="►"/>
            </a:pPr>
            <a:r>
              <a:rPr lang="en-US"/>
              <a:t>Track the defects to closure</a:t>
            </a:r>
            <a:endParaRPr/>
          </a:p>
          <a:p>
            <a:pPr marL="342900" lvl="0" indent="-251459" algn="l" rtl="0">
              <a:spcBef>
                <a:spcPts val="1000"/>
              </a:spcBef>
              <a:spcAft>
                <a:spcPts val="0"/>
              </a:spcAft>
              <a:buSzPts val="1440"/>
              <a:buNone/>
            </a:pPr>
            <a:endParaRPr/>
          </a:p>
          <a:p>
            <a:pPr marL="342900" lvl="0" indent="-342900" algn="l" rtl="0">
              <a:spcBef>
                <a:spcPts val="1000"/>
              </a:spcBef>
              <a:spcAft>
                <a:spcPts val="0"/>
              </a:spcAft>
              <a:buSzPts val="1440"/>
              <a:buChar char="►"/>
            </a:pPr>
            <a:r>
              <a:rPr lang="en-US" u="sng"/>
              <a:t>Deliverables</a:t>
            </a:r>
            <a:endParaRPr/>
          </a:p>
          <a:p>
            <a:pPr marL="0" lvl="0" indent="0" algn="l" rtl="0">
              <a:spcBef>
                <a:spcPts val="1000"/>
              </a:spcBef>
              <a:spcAft>
                <a:spcPts val="0"/>
              </a:spcAft>
              <a:buSzPts val="1440"/>
              <a:buNone/>
            </a:pPr>
            <a:r>
              <a:rPr lang="en-US"/>
              <a:t>				Test Cases – Updated Result</a:t>
            </a:r>
            <a:endParaRPr/>
          </a:p>
          <a:p>
            <a:pPr marL="0" lvl="0" indent="0" algn="l" rtl="0">
              <a:spcBef>
                <a:spcPts val="1000"/>
              </a:spcBef>
              <a:spcAft>
                <a:spcPts val="0"/>
              </a:spcAft>
              <a:buSzPts val="1440"/>
              <a:buNone/>
            </a:pPr>
            <a:r>
              <a:rPr lang="en-US"/>
              <a:t>				Defect Reports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19"/>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EB7564"/>
              </a:buClr>
              <a:buSzPts val="3600"/>
              <a:buFont typeface="Trebuchet MS"/>
              <a:buNone/>
            </a:pPr>
            <a:r>
              <a:rPr lang="en-US">
                <a:solidFill>
                  <a:srgbClr val="EB7564"/>
                </a:solidFill>
              </a:rPr>
              <a:t>Phase 6:</a:t>
            </a:r>
            <a:br>
              <a:rPr lang="en-US"/>
            </a:br>
            <a:r>
              <a:rPr lang="en-US"/>
              <a:t>				</a:t>
            </a:r>
            <a:r>
              <a:rPr lang="en-US">
                <a:solidFill>
                  <a:srgbClr val="AD4C11"/>
                </a:solidFill>
              </a:rPr>
              <a:t>Test Cycle Closure</a:t>
            </a:r>
            <a:endParaRPr/>
          </a:p>
        </p:txBody>
      </p:sp>
      <p:sp>
        <p:nvSpPr>
          <p:cNvPr id="261" name="Google Shape;261;p19"/>
          <p:cNvSpPr txBox="1">
            <a:spLocks noGrp="1"/>
          </p:cNvSpPr>
          <p:nvPr>
            <p:ph type="body" idx="1"/>
          </p:nvPr>
        </p:nvSpPr>
        <p:spPr>
          <a:xfrm>
            <a:off x="2631882" y="2160589"/>
            <a:ext cx="6642120" cy="388077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n-US"/>
              <a:t>Prepare Test closure report</a:t>
            </a:r>
            <a:endParaRPr/>
          </a:p>
          <a:p>
            <a:pPr marL="342900" lvl="0" indent="-342900" algn="l" rtl="0">
              <a:spcBef>
                <a:spcPts val="1000"/>
              </a:spcBef>
              <a:spcAft>
                <a:spcPts val="0"/>
              </a:spcAft>
              <a:buSzPts val="1440"/>
              <a:buChar char="►"/>
            </a:pPr>
            <a:r>
              <a:rPr lang="en-US"/>
              <a:t>Evaluate cycle completion criteria</a:t>
            </a:r>
            <a:endParaRPr/>
          </a:p>
          <a:p>
            <a:pPr marL="342900" lvl="0" indent="-342900" algn="l" rtl="0">
              <a:spcBef>
                <a:spcPts val="1000"/>
              </a:spcBef>
              <a:spcAft>
                <a:spcPts val="0"/>
              </a:spcAft>
              <a:buSzPts val="1440"/>
              <a:buChar char="►"/>
            </a:pPr>
            <a:r>
              <a:rPr lang="en-US"/>
              <a:t>Prepare test metrices.</a:t>
            </a:r>
            <a:endParaRPr/>
          </a:p>
          <a:p>
            <a:pPr marL="342900" lvl="0" indent="-342900" algn="l" rtl="0">
              <a:spcBef>
                <a:spcPts val="1000"/>
              </a:spcBef>
              <a:spcAft>
                <a:spcPts val="0"/>
              </a:spcAft>
              <a:buSzPts val="1440"/>
              <a:buChar char="►"/>
            </a:pPr>
            <a:r>
              <a:rPr lang="en-US"/>
              <a:t>Test Result analysis </a:t>
            </a:r>
            <a:endParaRPr/>
          </a:p>
          <a:p>
            <a:pPr marL="0" lvl="0" indent="0" algn="l" rtl="0">
              <a:spcBef>
                <a:spcPts val="1000"/>
              </a:spcBef>
              <a:spcAft>
                <a:spcPts val="0"/>
              </a:spcAft>
              <a:buSzPts val="1440"/>
              <a:buNone/>
            </a:pPr>
            <a:endParaRPr/>
          </a:p>
          <a:p>
            <a:pPr marL="342900" lvl="0" indent="-251459" algn="l" rtl="0">
              <a:spcBef>
                <a:spcPts val="1000"/>
              </a:spcBef>
              <a:spcAft>
                <a:spcPts val="0"/>
              </a:spcAft>
              <a:buSzPts val="1440"/>
              <a:buNone/>
            </a:pPr>
            <a:endParaRPr/>
          </a:p>
          <a:p>
            <a:pPr marL="342900" lvl="0" indent="-342900" algn="l" rtl="0">
              <a:spcBef>
                <a:spcPts val="1000"/>
              </a:spcBef>
              <a:spcAft>
                <a:spcPts val="0"/>
              </a:spcAft>
              <a:buSzPts val="1440"/>
              <a:buChar char="►"/>
            </a:pPr>
            <a:r>
              <a:rPr lang="en-US" u="sng"/>
              <a:t>Deliverables</a:t>
            </a:r>
            <a:endParaRPr/>
          </a:p>
          <a:p>
            <a:pPr marL="0" lvl="0" indent="0" algn="l" rtl="0">
              <a:spcBef>
                <a:spcPts val="1000"/>
              </a:spcBef>
              <a:spcAft>
                <a:spcPts val="0"/>
              </a:spcAft>
              <a:buSzPts val="1440"/>
              <a:buNone/>
            </a:pPr>
            <a:r>
              <a:rPr lang="en-US"/>
              <a:t>			Test Closure Report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20"/>
          <p:cNvSpPr txBox="1">
            <a:spLocks noGrp="1"/>
          </p:cNvSpPr>
          <p:nvPr>
            <p:ph type="title"/>
          </p:nvPr>
        </p:nvSpPr>
        <p:spPr>
          <a:xfrm>
            <a:off x="2613892" y="0"/>
            <a:ext cx="2558473" cy="75738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C00000"/>
              </a:buClr>
              <a:buSzPts val="3600"/>
              <a:buFont typeface="Trebuchet MS"/>
              <a:buNone/>
            </a:pPr>
            <a:r>
              <a:rPr lang="en-US">
                <a:solidFill>
                  <a:srgbClr val="C00000"/>
                </a:solidFill>
              </a:rPr>
              <a:t>Bug Report</a:t>
            </a:r>
            <a:endParaRPr>
              <a:solidFill>
                <a:srgbClr val="C00000"/>
              </a:solidFill>
            </a:endParaRPr>
          </a:p>
        </p:txBody>
      </p:sp>
      <p:pic>
        <p:nvPicPr>
          <p:cNvPr id="267" name="Google Shape;267;p20" descr="9 Bug Report Template Examples: Software Testing Workflows"/>
          <p:cNvPicPr preferRelativeResize="0"/>
          <p:nvPr/>
        </p:nvPicPr>
        <p:blipFill rotWithShape="1">
          <a:blip r:embed="rId3">
            <a:alphaModFix/>
          </a:blip>
          <a:srcRect/>
          <a:stretch/>
        </p:blipFill>
        <p:spPr>
          <a:xfrm>
            <a:off x="677334" y="674255"/>
            <a:ext cx="7700048" cy="598906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21"/>
          <p:cNvSpPr txBox="1">
            <a:spLocks noGrp="1"/>
          </p:cNvSpPr>
          <p:nvPr>
            <p:ph type="title"/>
          </p:nvPr>
        </p:nvSpPr>
        <p:spPr>
          <a:xfrm>
            <a:off x="538789" y="138545"/>
            <a:ext cx="10166156" cy="699393"/>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212D32"/>
              </a:buClr>
              <a:buSzPts val="3600"/>
              <a:buFont typeface="Trebuchet MS"/>
              <a:buNone/>
            </a:pPr>
            <a:r>
              <a:rPr lang="en-US" b="1">
                <a:solidFill>
                  <a:srgbClr val="212D32"/>
                </a:solidFill>
              </a:rPr>
              <a:t>Test Summary Report</a:t>
            </a:r>
            <a:r>
              <a:rPr lang="en-US">
                <a:solidFill>
                  <a:srgbClr val="C00000"/>
                </a:solidFill>
              </a:rPr>
              <a:t>: Testing Metrics</a:t>
            </a:r>
            <a:endParaRPr>
              <a:solidFill>
                <a:srgbClr val="C00000"/>
              </a:solidFill>
            </a:endParaRPr>
          </a:p>
        </p:txBody>
      </p:sp>
      <p:pic>
        <p:nvPicPr>
          <p:cNvPr id="273" name="Google Shape;273;p21" descr="Important Software Test Metrics and Measurements – Explained with Examples  and Graphs"/>
          <p:cNvPicPr preferRelativeResize="0"/>
          <p:nvPr/>
        </p:nvPicPr>
        <p:blipFill rotWithShape="1">
          <a:blip r:embed="rId3">
            <a:alphaModFix/>
          </a:blip>
          <a:srcRect/>
          <a:stretch/>
        </p:blipFill>
        <p:spPr>
          <a:xfrm>
            <a:off x="935952" y="837938"/>
            <a:ext cx="6351540" cy="604777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22"/>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b="1"/>
              <a:t>Test Strategy </a:t>
            </a:r>
            <a:endParaRPr/>
          </a:p>
        </p:txBody>
      </p:sp>
      <p:sp>
        <p:nvSpPr>
          <p:cNvPr id="279" name="Google Shape;279;p22"/>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n-US"/>
              <a:t>A strategy plan for defining the testing approach, what you want to accomplish and how you are going to achieve it.</a:t>
            </a:r>
            <a:endParaRPr/>
          </a:p>
          <a:p>
            <a:pPr marL="342900" lvl="0" indent="-251459" algn="l" rtl="0">
              <a:spcBef>
                <a:spcPts val="1000"/>
              </a:spcBef>
              <a:spcAft>
                <a:spcPts val="0"/>
              </a:spcAft>
              <a:buSzPts val="1440"/>
              <a:buNone/>
            </a:pPr>
            <a:endParaRPr/>
          </a:p>
          <a:p>
            <a:pPr marL="342900" lvl="0" indent="-342900" algn="l" rtl="0">
              <a:spcBef>
                <a:spcPts val="1000"/>
              </a:spcBef>
              <a:spcAft>
                <a:spcPts val="0"/>
              </a:spcAft>
              <a:buSzPts val="1440"/>
              <a:buChar char="►"/>
            </a:pPr>
            <a:r>
              <a:rPr lang="en-US"/>
              <a:t>Writing a Test Strategy effectively is a skill every tester should achieve in their career. It initiates your </a:t>
            </a:r>
            <a:r>
              <a:rPr lang="en-US" u="sng">
                <a:solidFill>
                  <a:schemeClr val="hlink"/>
                </a:solidFill>
                <a:hlinkClick r:id="rId3"/>
              </a:rPr>
              <a:t>thought process</a:t>
            </a:r>
            <a:r>
              <a:rPr lang="en-US"/>
              <a:t> which helps to discover many missing requirements. Thinking and test planning activities help a team to define the Testing scope and Test coverage.</a:t>
            </a:r>
            <a:endParaRPr/>
          </a:p>
          <a:p>
            <a:pPr marL="342900" lvl="0" indent="-342900" algn="l" rtl="0">
              <a:spcBef>
                <a:spcPts val="1000"/>
              </a:spcBef>
              <a:spcAft>
                <a:spcPts val="0"/>
              </a:spcAft>
              <a:buSzPts val="1440"/>
              <a:buChar char="►"/>
            </a:pPr>
            <a:r>
              <a:rPr lang="en-US"/>
              <a:t>It helps Test managers to get the clear state of the project at any point. The chances of missing any test activity are very low when there is a proper test strategy in place.</a:t>
            </a:r>
            <a:endParaRPr/>
          </a:p>
          <a:p>
            <a:pPr marL="342900" lvl="0" indent="-251459" algn="l" rtl="0">
              <a:spcBef>
                <a:spcPts val="1000"/>
              </a:spcBef>
              <a:spcAft>
                <a:spcPts val="0"/>
              </a:spcAft>
              <a:buSzPts val="1440"/>
              <a:buNone/>
            </a:pP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23"/>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Feasibility Study</a:t>
            </a:r>
            <a:endParaRPr/>
          </a:p>
        </p:txBody>
      </p:sp>
      <p:sp>
        <p:nvSpPr>
          <p:cNvPr id="285" name="Google Shape;285;p23"/>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n-US" b="1"/>
              <a:t>Feasibility Study:</a:t>
            </a:r>
            <a:br>
              <a:rPr lang="en-US"/>
            </a:br>
            <a:r>
              <a:rPr lang="en-US"/>
              <a:t>Feasibility study explores system requirements to determine project feasibility. There are several fields of feasibility study including economic feasibility, operational feasibility, technical feasibility. The goal is to determine whether the system can be implemented or not. The process of feasibility study takes as input the requirement details as specified by the user and other domain-specific details. The output of this process simply tells whether the project should be undertaken or not and if yes, what would the constraints be. Additionally, all the risks and their potential effects on the projects are also evaluated before a decision to start the project is taken.</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24"/>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Types of feasibility Study</a:t>
            </a:r>
            <a:endParaRPr/>
          </a:p>
        </p:txBody>
      </p:sp>
      <p:pic>
        <p:nvPicPr>
          <p:cNvPr id="291" name="Google Shape;291;p24" descr="Software Development Life Cycle (SDLC) - Importance, Various Phases &amp;  Explanation"/>
          <p:cNvPicPr preferRelativeResize="0"/>
          <p:nvPr/>
        </p:nvPicPr>
        <p:blipFill rotWithShape="1">
          <a:blip r:embed="rId3">
            <a:alphaModFix/>
          </a:blip>
          <a:srcRect/>
          <a:stretch/>
        </p:blipFill>
        <p:spPr>
          <a:xfrm>
            <a:off x="1993611" y="2223365"/>
            <a:ext cx="6105525" cy="31432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25"/>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Story Point Estimations</a:t>
            </a:r>
            <a:endParaRPr/>
          </a:p>
        </p:txBody>
      </p:sp>
      <p:sp>
        <p:nvSpPr>
          <p:cNvPr id="297" name="Google Shape;297;p25"/>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n-US"/>
              <a:t>Story point Estimations are done in Agile projects using different techniques like </a:t>
            </a:r>
            <a:endParaRPr/>
          </a:p>
          <a:p>
            <a:pPr marL="342900" lvl="0" indent="-342900" algn="l" rtl="0">
              <a:spcBef>
                <a:spcPts val="1000"/>
              </a:spcBef>
              <a:spcAft>
                <a:spcPts val="0"/>
              </a:spcAft>
              <a:buSzPts val="1440"/>
              <a:buChar char="►"/>
            </a:pPr>
            <a:r>
              <a:rPr lang="en-US"/>
              <a:t>Planning Poker, </a:t>
            </a:r>
            <a:endParaRPr/>
          </a:p>
          <a:p>
            <a:pPr marL="342900" lvl="0" indent="-342900" algn="l" rtl="0">
              <a:spcBef>
                <a:spcPts val="1000"/>
              </a:spcBef>
              <a:spcAft>
                <a:spcPts val="0"/>
              </a:spcAft>
              <a:buSzPts val="1440"/>
              <a:buChar char="►"/>
            </a:pPr>
            <a:r>
              <a:rPr lang="en-US"/>
              <a:t>Bucket System,</a:t>
            </a:r>
            <a:endParaRPr/>
          </a:p>
          <a:p>
            <a:pPr marL="342900" lvl="0" indent="-342900" algn="l" rtl="0">
              <a:spcBef>
                <a:spcPts val="1000"/>
              </a:spcBef>
              <a:spcAft>
                <a:spcPts val="0"/>
              </a:spcAft>
              <a:buSzPts val="1440"/>
              <a:buChar char="►"/>
            </a:pPr>
            <a:r>
              <a:rPr lang="en-US"/>
              <a:t>Affinity Mapping, </a:t>
            </a:r>
            <a:endParaRPr/>
          </a:p>
          <a:p>
            <a:pPr marL="342900" lvl="0" indent="-342900" algn="l" rtl="0">
              <a:spcBef>
                <a:spcPts val="1000"/>
              </a:spcBef>
              <a:spcAft>
                <a:spcPts val="0"/>
              </a:spcAft>
              <a:buSzPts val="1440"/>
              <a:buChar char="►"/>
            </a:pPr>
            <a:r>
              <a:rPr lang="en-US"/>
              <a:t>T-Shirt Sizes (sizes: XS (Extra Small), S (Small), M (Medium), L (Large), XL (Extra Large))</a:t>
            </a:r>
            <a:endParaRPr/>
          </a:p>
          <a:p>
            <a:pPr marL="342900" lvl="0" indent="-342900" algn="l" rtl="0">
              <a:spcBef>
                <a:spcPts val="1000"/>
              </a:spcBef>
              <a:spcAft>
                <a:spcPts val="0"/>
              </a:spcAft>
              <a:buSzPts val="1440"/>
              <a:buChar char="►"/>
            </a:pPr>
            <a:r>
              <a:rPr lang="en-US"/>
              <a:t>Dot Voting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26"/>
          <p:cNvSpPr txBox="1">
            <a:spLocks noGrp="1"/>
          </p:cNvSpPr>
          <p:nvPr>
            <p:ph type="title"/>
          </p:nvPr>
        </p:nvSpPr>
        <p:spPr>
          <a:xfrm>
            <a:off x="677334" y="609600"/>
            <a:ext cx="8596668" cy="828583"/>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C00000"/>
              </a:buClr>
              <a:buSzPts val="3600"/>
              <a:buFont typeface="Trebuchet MS"/>
              <a:buNone/>
            </a:pPr>
            <a:r>
              <a:rPr lang="en-US">
                <a:solidFill>
                  <a:srgbClr val="C00000"/>
                </a:solidFill>
              </a:rPr>
              <a:t>Important Questions in STLC</a:t>
            </a:r>
            <a:endParaRPr/>
          </a:p>
        </p:txBody>
      </p:sp>
      <p:sp>
        <p:nvSpPr>
          <p:cNvPr id="303" name="Google Shape;303;p26"/>
          <p:cNvSpPr txBox="1">
            <a:spLocks noGrp="1"/>
          </p:cNvSpPr>
          <p:nvPr>
            <p:ph type="body" idx="1"/>
          </p:nvPr>
        </p:nvSpPr>
        <p:spPr>
          <a:xfrm>
            <a:off x="2636668" y="1642369"/>
            <a:ext cx="6637334" cy="4398993"/>
          </a:xfrm>
          <a:prstGeom prst="rect">
            <a:avLst/>
          </a:prstGeom>
          <a:noFill/>
          <a:ln>
            <a:noFill/>
          </a:ln>
        </p:spPr>
        <p:txBody>
          <a:bodyPr spcFirstLastPara="1" wrap="square" lIns="91425" tIns="45700" rIns="91425" bIns="45700" anchor="t" anchorCtr="0">
            <a:normAutofit/>
          </a:bodyPr>
          <a:lstStyle/>
          <a:p>
            <a:pPr marL="0" lvl="0" indent="0" algn="l" rtl="0">
              <a:lnSpc>
                <a:spcPct val="250000"/>
              </a:lnSpc>
              <a:spcBef>
                <a:spcPts val="0"/>
              </a:spcBef>
              <a:spcAft>
                <a:spcPts val="0"/>
              </a:spcAft>
              <a:buSzPts val="1440"/>
              <a:buNone/>
            </a:pPr>
            <a:r>
              <a:rPr lang="en-US"/>
              <a:t>1. How to create RTM?</a:t>
            </a:r>
            <a:endParaRPr/>
          </a:p>
          <a:p>
            <a:pPr marL="0" lvl="0" indent="0" algn="l" rtl="0">
              <a:lnSpc>
                <a:spcPct val="250000"/>
              </a:lnSpc>
              <a:spcBef>
                <a:spcPts val="1000"/>
              </a:spcBef>
              <a:spcAft>
                <a:spcPts val="0"/>
              </a:spcAft>
              <a:buSzPts val="1440"/>
              <a:buNone/>
            </a:pPr>
            <a:r>
              <a:rPr lang="en-US"/>
              <a:t>2. How to create Test Plan?</a:t>
            </a:r>
            <a:endParaRPr/>
          </a:p>
          <a:p>
            <a:pPr marL="0" lvl="0" indent="0" algn="l" rtl="0">
              <a:lnSpc>
                <a:spcPct val="250000"/>
              </a:lnSpc>
              <a:spcBef>
                <a:spcPts val="1000"/>
              </a:spcBef>
              <a:spcAft>
                <a:spcPts val="0"/>
              </a:spcAft>
              <a:buSzPts val="1440"/>
              <a:buNone/>
            </a:pPr>
            <a:r>
              <a:rPr lang="en-US"/>
              <a:t>3. How to prepare Feasibility Report?</a:t>
            </a:r>
            <a:endParaRPr/>
          </a:p>
          <a:p>
            <a:pPr marL="0" lvl="0" indent="0" algn="l" rtl="0">
              <a:lnSpc>
                <a:spcPct val="250000"/>
              </a:lnSpc>
              <a:spcBef>
                <a:spcPts val="1000"/>
              </a:spcBef>
              <a:spcAft>
                <a:spcPts val="0"/>
              </a:spcAft>
              <a:buSzPts val="1440"/>
              <a:buNone/>
            </a:pPr>
            <a:r>
              <a:rPr lang="en-US"/>
              <a:t>4. How to estimate Effort?</a:t>
            </a:r>
            <a:endParaRPr/>
          </a:p>
          <a:p>
            <a:pPr marL="0" lvl="0" indent="0" algn="l" rtl="0">
              <a:lnSpc>
                <a:spcPct val="250000"/>
              </a:lnSpc>
              <a:spcBef>
                <a:spcPts val="1000"/>
              </a:spcBef>
              <a:spcAft>
                <a:spcPts val="0"/>
              </a:spcAft>
              <a:buSzPts val="1440"/>
              <a:buNone/>
            </a:pPr>
            <a:r>
              <a:rPr lang="en-US"/>
              <a:t>5. What is Test Strategy?</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27"/>
          <p:cNvSpPr txBox="1">
            <a:spLocks noGrp="1"/>
          </p:cNvSpPr>
          <p:nvPr>
            <p:ph type="title"/>
          </p:nvPr>
        </p:nvSpPr>
        <p:spPr>
          <a:xfrm>
            <a:off x="774988" y="355600"/>
            <a:ext cx="8596668" cy="1169190"/>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rgbClr val="C00000"/>
              </a:buClr>
              <a:buSzPts val="6000"/>
              <a:buFont typeface="Trebuchet MS"/>
              <a:buNone/>
            </a:pPr>
            <a:r>
              <a:rPr lang="en-US" sz="6000" b="1">
                <a:solidFill>
                  <a:srgbClr val="C00000"/>
                </a:solidFill>
              </a:rPr>
              <a:t>Software Testing</a:t>
            </a:r>
            <a:endParaRPr/>
          </a:p>
        </p:txBody>
      </p:sp>
      <p:sp>
        <p:nvSpPr>
          <p:cNvPr id="309" name="Google Shape;309;p27"/>
          <p:cNvSpPr txBox="1">
            <a:spLocks noGrp="1"/>
          </p:cNvSpPr>
          <p:nvPr>
            <p:ph type="body" idx="1"/>
          </p:nvPr>
        </p:nvSpPr>
        <p:spPr>
          <a:xfrm>
            <a:off x="774988" y="1625602"/>
            <a:ext cx="8596668" cy="388077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n-US"/>
              <a:t>The process, to evaluate the functionality of a software application.</a:t>
            </a:r>
            <a:endParaRPr/>
          </a:p>
          <a:p>
            <a:pPr marL="342900" lvl="0" indent="-251459" algn="l" rtl="0">
              <a:spcBef>
                <a:spcPts val="1000"/>
              </a:spcBef>
              <a:spcAft>
                <a:spcPts val="0"/>
              </a:spcAft>
              <a:buSzPts val="1440"/>
              <a:buNone/>
            </a:pPr>
            <a:endParaRPr/>
          </a:p>
          <a:p>
            <a:pPr marL="342900" lvl="0" indent="-342900" algn="l" rtl="0">
              <a:spcBef>
                <a:spcPts val="1000"/>
              </a:spcBef>
              <a:spcAft>
                <a:spcPts val="0"/>
              </a:spcAft>
              <a:buSzPts val="1440"/>
              <a:buChar char="►"/>
            </a:pPr>
            <a:r>
              <a:rPr lang="en-US"/>
              <a:t>Activity to check whether the actual results match the expected results and to ensure that the software system is defect/bug free</a:t>
            </a:r>
            <a:endParaRPr/>
          </a:p>
          <a:p>
            <a:pPr marL="342900" lvl="0" indent="-251459" algn="l" rtl="0">
              <a:spcBef>
                <a:spcPts val="1000"/>
              </a:spcBef>
              <a:spcAft>
                <a:spcPts val="0"/>
              </a:spcAft>
              <a:buSzPts val="1440"/>
              <a:buNone/>
            </a:pPr>
            <a:endParaRPr/>
          </a:p>
          <a:p>
            <a:pPr marL="342900" lvl="0" indent="-342900" algn="l" rtl="0">
              <a:spcBef>
                <a:spcPts val="1000"/>
              </a:spcBef>
              <a:spcAft>
                <a:spcPts val="0"/>
              </a:spcAft>
              <a:buSzPts val="1440"/>
              <a:buChar char="►"/>
            </a:pPr>
            <a:r>
              <a:rPr lang="en-US"/>
              <a:t>It can be done manually or using automated tools</a:t>
            </a:r>
            <a:endParaRPr/>
          </a:p>
        </p:txBody>
      </p:sp>
      <p:pic>
        <p:nvPicPr>
          <p:cNvPr id="310" name="Google Shape;310;p27" descr="Difference Between Manual and Automated Testing (with Comparison ..."/>
          <p:cNvPicPr preferRelativeResize="0"/>
          <p:nvPr/>
        </p:nvPicPr>
        <p:blipFill rotWithShape="1">
          <a:blip r:embed="rId3">
            <a:alphaModFix/>
          </a:blip>
          <a:srcRect/>
          <a:stretch/>
        </p:blipFill>
        <p:spPr>
          <a:xfrm>
            <a:off x="3144592" y="3950627"/>
            <a:ext cx="4429125" cy="25717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28"/>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Types of Testing (</a:t>
            </a:r>
            <a:r>
              <a:rPr lang="en-US">
                <a:solidFill>
                  <a:srgbClr val="C00000"/>
                </a:solidFill>
              </a:rPr>
              <a:t>Manual</a:t>
            </a:r>
            <a:r>
              <a:rPr lang="en-US"/>
              <a:t>/Automation)</a:t>
            </a:r>
            <a:endParaRPr/>
          </a:p>
        </p:txBody>
      </p:sp>
      <p:pic>
        <p:nvPicPr>
          <p:cNvPr id="316" name="Google Shape;316;p28"/>
          <p:cNvPicPr preferRelativeResize="0"/>
          <p:nvPr/>
        </p:nvPicPr>
        <p:blipFill rotWithShape="1">
          <a:blip r:embed="rId3">
            <a:alphaModFix/>
          </a:blip>
          <a:srcRect/>
          <a:stretch/>
        </p:blipFill>
        <p:spPr>
          <a:xfrm>
            <a:off x="1596082" y="1966483"/>
            <a:ext cx="7677920" cy="4281917"/>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29"/>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C00000"/>
              </a:buClr>
              <a:buSzPts val="3600"/>
              <a:buFont typeface="Trebuchet MS"/>
              <a:buNone/>
            </a:pPr>
            <a:r>
              <a:rPr lang="en-US">
                <a:solidFill>
                  <a:srgbClr val="C00000"/>
                </a:solidFill>
              </a:rPr>
              <a:t>1. Functional Testing</a:t>
            </a:r>
            <a:endParaRPr/>
          </a:p>
        </p:txBody>
      </p:sp>
      <p:pic>
        <p:nvPicPr>
          <p:cNvPr id="322" name="Google Shape;322;p29" descr="Functional Testing - QATricks"/>
          <p:cNvPicPr preferRelativeResize="0">
            <a:picLocks noGrp="1"/>
          </p:cNvPicPr>
          <p:nvPr>
            <p:ph type="body" idx="1"/>
          </p:nvPr>
        </p:nvPicPr>
        <p:blipFill rotWithShape="1">
          <a:blip r:embed="rId3">
            <a:alphaModFix/>
          </a:blip>
          <a:srcRect/>
          <a:stretch/>
        </p:blipFill>
        <p:spPr>
          <a:xfrm>
            <a:off x="4975668" y="3122155"/>
            <a:ext cx="4487928" cy="2591390"/>
          </a:xfrm>
          <a:prstGeom prst="rect">
            <a:avLst/>
          </a:prstGeom>
          <a:noFill/>
          <a:ln>
            <a:noFill/>
          </a:ln>
        </p:spPr>
      </p:pic>
      <p:sp>
        <p:nvSpPr>
          <p:cNvPr id="323" name="Google Shape;323;p29"/>
          <p:cNvSpPr txBox="1"/>
          <p:nvPr/>
        </p:nvSpPr>
        <p:spPr>
          <a:xfrm>
            <a:off x="677334" y="1610174"/>
            <a:ext cx="8596668" cy="3880773"/>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150000"/>
              </a:lnSpc>
              <a:spcBef>
                <a:spcPts val="0"/>
              </a:spcBef>
              <a:spcAft>
                <a:spcPts val="0"/>
              </a:spcAft>
              <a:buClr>
                <a:schemeClr val="accent1"/>
              </a:buClr>
              <a:buSzPts val="1440"/>
              <a:buFont typeface="Noto Sans Symbols"/>
              <a:buChar char="►"/>
            </a:pPr>
            <a:r>
              <a:rPr lang="en-US" sz="1800" b="0" i="0" u="none" strike="noStrike" cap="none">
                <a:solidFill>
                  <a:srgbClr val="3F3F3F"/>
                </a:solidFill>
                <a:latin typeface="Trebuchet MS"/>
                <a:ea typeface="Trebuchet MS"/>
                <a:cs typeface="Trebuchet MS"/>
                <a:sym typeface="Trebuchet MS"/>
              </a:rPr>
              <a:t>Checks whether the application is providing all the functionalities that were mentioned in the functional requirement of the application.</a:t>
            </a:r>
            <a:endParaRPr/>
          </a:p>
          <a:p>
            <a:pPr marL="342900" marR="0" lvl="0" indent="-251459" algn="l" rtl="0">
              <a:spcBef>
                <a:spcPts val="1000"/>
              </a:spcBef>
              <a:spcAft>
                <a:spcPts val="0"/>
              </a:spcAft>
              <a:buClr>
                <a:schemeClr val="accent1"/>
              </a:buClr>
              <a:buSzPts val="1440"/>
              <a:buFont typeface="Noto Sans Symbols"/>
              <a:buNone/>
            </a:pPr>
            <a:endParaRPr sz="1800" b="0" i="0" u="none" strike="noStrike" cap="none">
              <a:solidFill>
                <a:srgbClr val="3F3F3F"/>
              </a:solidFill>
              <a:latin typeface="Trebuchet MS"/>
              <a:ea typeface="Trebuchet MS"/>
              <a:cs typeface="Trebuchet MS"/>
              <a:sym typeface="Trebuchet MS"/>
            </a:endParaRPr>
          </a:p>
        </p:txBody>
      </p:sp>
      <p:pic>
        <p:nvPicPr>
          <p:cNvPr id="324" name="Google Shape;324;p29"/>
          <p:cNvPicPr preferRelativeResize="0"/>
          <p:nvPr/>
        </p:nvPicPr>
        <p:blipFill rotWithShape="1">
          <a:blip r:embed="rId4">
            <a:alphaModFix/>
          </a:blip>
          <a:srcRect/>
          <a:stretch/>
        </p:blipFill>
        <p:spPr>
          <a:xfrm>
            <a:off x="935253" y="2960820"/>
            <a:ext cx="3609975" cy="275272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Shape 328"/>
        <p:cNvGrpSpPr/>
        <p:nvPr/>
      </p:nvGrpSpPr>
      <p:grpSpPr>
        <a:xfrm>
          <a:off x="0" y="0"/>
          <a:ext cx="0" cy="0"/>
          <a:chOff x="0" y="0"/>
          <a:chExt cx="0" cy="0"/>
        </a:xfrm>
      </p:grpSpPr>
      <p:sp>
        <p:nvSpPr>
          <p:cNvPr id="329" name="Google Shape;329;p30"/>
          <p:cNvSpPr txBox="1">
            <a:spLocks noGrp="1"/>
          </p:cNvSpPr>
          <p:nvPr>
            <p:ph type="title"/>
          </p:nvPr>
        </p:nvSpPr>
        <p:spPr>
          <a:xfrm>
            <a:off x="657014" y="37592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C00000"/>
              </a:buClr>
              <a:buSzPts val="3600"/>
              <a:buFont typeface="Trebuchet MS"/>
              <a:buNone/>
            </a:pPr>
            <a:r>
              <a:rPr lang="en-US">
                <a:solidFill>
                  <a:srgbClr val="C00000"/>
                </a:solidFill>
              </a:rPr>
              <a:t>2. Non-Functional Testing</a:t>
            </a:r>
            <a:endParaRPr/>
          </a:p>
        </p:txBody>
      </p:sp>
      <p:sp>
        <p:nvSpPr>
          <p:cNvPr id="330" name="Google Shape;330;p30"/>
          <p:cNvSpPr txBox="1">
            <a:spLocks noGrp="1"/>
          </p:cNvSpPr>
          <p:nvPr>
            <p:ph type="body" idx="1"/>
          </p:nvPr>
        </p:nvSpPr>
        <p:spPr>
          <a:xfrm>
            <a:off x="1245503" y="1393627"/>
            <a:ext cx="9805955" cy="3880773"/>
          </a:xfrm>
          <a:prstGeom prst="rect">
            <a:avLst/>
          </a:prstGeom>
          <a:noFill/>
          <a:ln>
            <a:noFill/>
          </a:ln>
        </p:spPr>
        <p:txBody>
          <a:bodyPr spcFirstLastPara="1" wrap="square" lIns="91425" tIns="45700" rIns="91425" bIns="45700" anchor="t" anchorCtr="0">
            <a:normAutofit/>
          </a:bodyPr>
          <a:lstStyle/>
          <a:p>
            <a:pPr marL="342900" lvl="0" indent="-342900" algn="l" rtl="0">
              <a:lnSpc>
                <a:spcPct val="150000"/>
              </a:lnSpc>
              <a:spcBef>
                <a:spcPts val="0"/>
              </a:spcBef>
              <a:spcAft>
                <a:spcPts val="0"/>
              </a:spcAft>
              <a:buSzPts val="1440"/>
              <a:buChar char="►"/>
            </a:pPr>
            <a:r>
              <a:rPr lang="en-US"/>
              <a:t>To check </a:t>
            </a:r>
            <a:r>
              <a:rPr lang="en-US" b="1"/>
              <a:t>non-functional</a:t>
            </a:r>
            <a:r>
              <a:rPr lang="en-US"/>
              <a:t> aspects (performance, usability, reliability, etc) of a software application. </a:t>
            </a:r>
            <a:endParaRPr/>
          </a:p>
          <a:p>
            <a:pPr marL="342900" lvl="0" indent="-342900" algn="l" rtl="0">
              <a:lnSpc>
                <a:spcPct val="150000"/>
              </a:lnSpc>
              <a:spcBef>
                <a:spcPts val="1000"/>
              </a:spcBef>
              <a:spcAft>
                <a:spcPts val="0"/>
              </a:spcAft>
              <a:buSzPts val="1440"/>
              <a:buChar char="►"/>
            </a:pPr>
            <a:r>
              <a:rPr lang="en-US"/>
              <a:t>It is designed to </a:t>
            </a:r>
            <a:r>
              <a:rPr lang="en-US" b="1"/>
              <a:t>test</a:t>
            </a:r>
            <a:r>
              <a:rPr lang="en-US"/>
              <a:t> the readiness of a system as per </a:t>
            </a:r>
            <a:r>
              <a:rPr lang="en-US" b="1"/>
              <a:t>nonfunctional</a:t>
            </a:r>
            <a:r>
              <a:rPr lang="en-US"/>
              <a:t> parameters which are never addressed by functional </a:t>
            </a:r>
            <a:r>
              <a:rPr lang="en-US" b="1"/>
              <a:t>testing</a:t>
            </a:r>
            <a:endParaRPr/>
          </a:p>
        </p:txBody>
      </p:sp>
      <p:pic>
        <p:nvPicPr>
          <p:cNvPr id="331" name="Google Shape;331;p30" descr="Software Testing: Functional vs Non-Functional - Colin But - Medium"/>
          <p:cNvPicPr preferRelativeResize="0"/>
          <p:nvPr/>
        </p:nvPicPr>
        <p:blipFill rotWithShape="1">
          <a:blip r:embed="rId3">
            <a:alphaModFix/>
          </a:blip>
          <a:srcRect/>
          <a:stretch/>
        </p:blipFill>
        <p:spPr>
          <a:xfrm>
            <a:off x="2983510" y="3552131"/>
            <a:ext cx="5539480" cy="3231363"/>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31"/>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C00000"/>
              </a:buClr>
              <a:buSzPts val="3600"/>
              <a:buFont typeface="Trebuchet MS"/>
              <a:buNone/>
            </a:pPr>
            <a:r>
              <a:rPr lang="en-US">
                <a:solidFill>
                  <a:srgbClr val="C00000"/>
                </a:solidFill>
              </a:rPr>
              <a:t>3. Maintenance  </a:t>
            </a:r>
            <a:endParaRPr>
              <a:solidFill>
                <a:srgbClr val="C00000"/>
              </a:solidFill>
            </a:endParaRPr>
          </a:p>
        </p:txBody>
      </p:sp>
      <p:sp>
        <p:nvSpPr>
          <p:cNvPr id="337" name="Google Shape;337;p31"/>
          <p:cNvSpPr txBox="1">
            <a:spLocks noGrp="1"/>
          </p:cNvSpPr>
          <p:nvPr>
            <p:ph type="body" idx="1"/>
          </p:nvPr>
        </p:nvSpPr>
        <p:spPr>
          <a:xfrm>
            <a:off x="3151573" y="1823238"/>
            <a:ext cx="3346881" cy="3880773"/>
          </a:xfrm>
          <a:prstGeom prst="rect">
            <a:avLst/>
          </a:prstGeom>
          <a:noFill/>
          <a:ln>
            <a:noFill/>
          </a:ln>
        </p:spPr>
        <p:txBody>
          <a:bodyPr spcFirstLastPara="1" wrap="square" lIns="91425" tIns="45700" rIns="91425" bIns="45700" anchor="t" anchorCtr="0">
            <a:normAutofit/>
          </a:bodyPr>
          <a:lstStyle/>
          <a:p>
            <a:pPr marL="342900" lvl="0" indent="-251459" algn="l" rtl="0">
              <a:spcBef>
                <a:spcPts val="0"/>
              </a:spcBef>
              <a:spcAft>
                <a:spcPts val="0"/>
              </a:spcAft>
              <a:buSzPts val="1440"/>
              <a:buNone/>
            </a:pPr>
            <a:endParaRPr/>
          </a:p>
          <a:p>
            <a:pPr marL="342900" lvl="0" indent="-342900" algn="l" rtl="0">
              <a:spcBef>
                <a:spcPts val="1000"/>
              </a:spcBef>
              <a:spcAft>
                <a:spcPts val="0"/>
              </a:spcAft>
              <a:buSzPts val="2240"/>
              <a:buChar char="►"/>
            </a:pPr>
            <a:r>
              <a:rPr lang="en-US" sz="2800"/>
              <a:t>Regression Test </a:t>
            </a:r>
            <a:endParaRPr/>
          </a:p>
          <a:p>
            <a:pPr marL="457200" lvl="1" indent="0" algn="l" rtl="0">
              <a:spcBef>
                <a:spcPts val="1000"/>
              </a:spcBef>
              <a:spcAft>
                <a:spcPts val="0"/>
              </a:spcAft>
              <a:buSzPts val="1280"/>
              <a:buNone/>
            </a:pPr>
            <a:r>
              <a:rPr lang="en-US"/>
              <a:t> 	Slide No: 182</a:t>
            </a:r>
            <a:endParaRPr/>
          </a:p>
        </p:txBody>
      </p:sp>
      <p:pic>
        <p:nvPicPr>
          <p:cNvPr id="338" name="Google Shape;338;p31" descr="Issue? Crisis? What's The Difference and Why Is It Important ..."/>
          <p:cNvPicPr preferRelativeResize="0"/>
          <p:nvPr/>
        </p:nvPicPr>
        <p:blipFill rotWithShape="1">
          <a:blip r:embed="rId3">
            <a:alphaModFix/>
          </a:blip>
          <a:srcRect/>
          <a:stretch/>
        </p:blipFill>
        <p:spPr>
          <a:xfrm>
            <a:off x="3977599" y="3429000"/>
            <a:ext cx="1860949" cy="1682318"/>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32"/>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0070C0"/>
              </a:buClr>
              <a:buSzPts val="4400"/>
              <a:buFont typeface="Trebuchet MS"/>
              <a:buNone/>
            </a:pPr>
            <a:r>
              <a:rPr lang="en-US" sz="4400" b="1">
                <a:solidFill>
                  <a:srgbClr val="0070C0"/>
                </a:solidFill>
              </a:rPr>
              <a:t>18. Manual Testing (</a:t>
            </a:r>
            <a:r>
              <a:rPr lang="en-US" sz="4400" b="1">
                <a:solidFill>
                  <a:srgbClr val="C00000"/>
                </a:solidFill>
              </a:rPr>
              <a:t>Functional</a:t>
            </a:r>
            <a:r>
              <a:rPr lang="en-US" sz="4400" b="1">
                <a:solidFill>
                  <a:srgbClr val="0070C0"/>
                </a:solidFill>
              </a:rPr>
              <a:t>)</a:t>
            </a:r>
            <a:endParaRPr sz="4400"/>
          </a:p>
        </p:txBody>
      </p:sp>
      <p:sp>
        <p:nvSpPr>
          <p:cNvPr id="344" name="Google Shape;344;p32"/>
          <p:cNvSpPr txBox="1">
            <a:spLocks noGrp="1"/>
          </p:cNvSpPr>
          <p:nvPr>
            <p:ph type="body" idx="1"/>
          </p:nvPr>
        </p:nvSpPr>
        <p:spPr>
          <a:xfrm>
            <a:off x="883812" y="1777131"/>
            <a:ext cx="8596668" cy="3880773"/>
          </a:xfrm>
          <a:prstGeom prst="rect">
            <a:avLst/>
          </a:prstGeom>
          <a:noFill/>
          <a:ln>
            <a:noFill/>
          </a:ln>
        </p:spPr>
        <p:txBody>
          <a:bodyPr spcFirstLastPara="1" wrap="square" lIns="91425" tIns="45700" rIns="91425" bIns="45700" anchor="t" anchorCtr="0">
            <a:normAutofit/>
          </a:bodyPr>
          <a:lstStyle/>
          <a:p>
            <a:pPr marL="342900" lvl="0" indent="-342900" algn="l" rtl="0">
              <a:lnSpc>
                <a:spcPct val="150000"/>
              </a:lnSpc>
              <a:spcBef>
                <a:spcPts val="0"/>
              </a:spcBef>
              <a:spcAft>
                <a:spcPts val="0"/>
              </a:spcAft>
              <a:buSzPts val="1440"/>
              <a:buChar char="►"/>
            </a:pPr>
            <a:r>
              <a:rPr lang="en-US"/>
              <a:t>It is a type of software testing where testers manually test cases without using any automation tools.</a:t>
            </a:r>
            <a:endParaRPr/>
          </a:p>
          <a:p>
            <a:pPr marL="342900" lvl="0" indent="-342900" algn="l" rtl="0">
              <a:lnSpc>
                <a:spcPct val="150000"/>
              </a:lnSpc>
              <a:spcBef>
                <a:spcPts val="1000"/>
              </a:spcBef>
              <a:spcAft>
                <a:spcPts val="0"/>
              </a:spcAft>
              <a:buSzPts val="1440"/>
              <a:buChar char="►"/>
            </a:pPr>
            <a:r>
              <a:rPr lang="en-US"/>
              <a:t>It is most primitive of all testing types and helps to find bugs in the software system.</a:t>
            </a:r>
            <a:endParaRPr/>
          </a:p>
          <a:p>
            <a:pPr marL="342900" lvl="0" indent="-342900" algn="l" rtl="0">
              <a:lnSpc>
                <a:spcPct val="150000"/>
              </a:lnSpc>
              <a:spcBef>
                <a:spcPts val="1000"/>
              </a:spcBef>
              <a:spcAft>
                <a:spcPts val="0"/>
              </a:spcAft>
              <a:buSzPts val="1440"/>
              <a:buChar char="►"/>
            </a:pPr>
            <a:r>
              <a:rPr lang="en-US"/>
              <a:t>Any new application must be manually tested before its testing can be automated.</a:t>
            </a:r>
            <a:endParaRPr/>
          </a:p>
          <a:p>
            <a:pPr marL="342900" lvl="0" indent="-342900" algn="l" rtl="0">
              <a:lnSpc>
                <a:spcPct val="150000"/>
              </a:lnSpc>
              <a:spcBef>
                <a:spcPts val="1000"/>
              </a:spcBef>
              <a:spcAft>
                <a:spcPts val="0"/>
              </a:spcAft>
              <a:buSzPts val="1440"/>
              <a:buChar char="►"/>
            </a:pPr>
            <a:r>
              <a:rPr lang="en-US"/>
              <a:t>Manual testing requires more effort but is necessary to check automation feasibility.</a:t>
            </a:r>
            <a:endParaRPr/>
          </a:p>
          <a:p>
            <a:pPr marL="342900" lvl="0" indent="-251459" algn="l" rtl="0">
              <a:spcBef>
                <a:spcPts val="1000"/>
              </a:spcBef>
              <a:spcAft>
                <a:spcPts val="0"/>
              </a:spcAft>
              <a:buSzPts val="1440"/>
              <a:buNone/>
            </a:pPr>
            <a:endParaRPr/>
          </a:p>
        </p:txBody>
      </p:sp>
      <p:pic>
        <p:nvPicPr>
          <p:cNvPr id="345" name="Google Shape;345;p32" descr="Testing techniques for better manual testing - Leaseweb labs"/>
          <p:cNvPicPr preferRelativeResize="0"/>
          <p:nvPr/>
        </p:nvPicPr>
        <p:blipFill rotWithShape="1">
          <a:blip r:embed="rId3">
            <a:alphaModFix/>
          </a:blip>
          <a:srcRect/>
          <a:stretch/>
        </p:blipFill>
        <p:spPr>
          <a:xfrm>
            <a:off x="9274002" y="1800225"/>
            <a:ext cx="2917998" cy="32575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33"/>
          <p:cNvSpPr txBox="1">
            <a:spLocks noGrp="1"/>
          </p:cNvSpPr>
          <p:nvPr>
            <p:ph type="title"/>
          </p:nvPr>
        </p:nvSpPr>
        <p:spPr>
          <a:xfrm>
            <a:off x="677334" y="609600"/>
            <a:ext cx="8596668" cy="926237"/>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C00000"/>
              </a:buClr>
              <a:buSzPts val="3600"/>
              <a:buFont typeface="Trebuchet MS"/>
              <a:buNone/>
            </a:pPr>
            <a:r>
              <a:rPr lang="en-US">
                <a:solidFill>
                  <a:srgbClr val="C00000"/>
                </a:solidFill>
              </a:rPr>
              <a:t>Techniques in Manual testing</a:t>
            </a:r>
            <a:endParaRPr/>
          </a:p>
        </p:txBody>
      </p:sp>
      <p:pic>
        <p:nvPicPr>
          <p:cNvPr id="351" name="Google Shape;351;p33"/>
          <p:cNvPicPr preferRelativeResize="0"/>
          <p:nvPr/>
        </p:nvPicPr>
        <p:blipFill rotWithShape="1">
          <a:blip r:embed="rId3">
            <a:alphaModFix/>
          </a:blip>
          <a:srcRect/>
          <a:stretch/>
        </p:blipFill>
        <p:spPr>
          <a:xfrm>
            <a:off x="3171825" y="1814975"/>
            <a:ext cx="4933950" cy="45720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34"/>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How to perform a Test:</a:t>
            </a:r>
            <a:endParaRPr/>
          </a:p>
        </p:txBody>
      </p:sp>
      <p:sp>
        <p:nvSpPr>
          <p:cNvPr id="357" name="Google Shape;357;p34"/>
          <p:cNvSpPr txBox="1">
            <a:spLocks noGrp="1"/>
          </p:cNvSpPr>
          <p:nvPr>
            <p:ph type="body" idx="1"/>
          </p:nvPr>
        </p:nvSpPr>
        <p:spPr>
          <a:xfrm>
            <a:off x="801622" y="1681195"/>
            <a:ext cx="8596668" cy="3880773"/>
          </a:xfrm>
          <a:prstGeom prst="rect">
            <a:avLst/>
          </a:prstGeom>
          <a:noFill/>
          <a:ln>
            <a:noFill/>
          </a:ln>
        </p:spPr>
        <p:txBody>
          <a:bodyPr spcFirstLastPara="1" wrap="square" lIns="91425" tIns="45700" rIns="91425" bIns="45700" anchor="t" anchorCtr="0">
            <a:normAutofit/>
          </a:bodyPr>
          <a:lstStyle/>
          <a:p>
            <a:pPr marL="342900" lvl="0" indent="-342900" algn="l" rtl="0">
              <a:lnSpc>
                <a:spcPct val="150000"/>
              </a:lnSpc>
              <a:spcBef>
                <a:spcPts val="0"/>
              </a:spcBef>
              <a:spcAft>
                <a:spcPts val="0"/>
              </a:spcAft>
              <a:buSzPts val="1440"/>
              <a:buChar char="►"/>
            </a:pPr>
            <a:r>
              <a:rPr lang="en-US"/>
              <a:t>1. Read and understand the software project documentation / guides</a:t>
            </a:r>
            <a:endParaRPr/>
          </a:p>
          <a:p>
            <a:pPr marL="342900" lvl="0" indent="-342900" algn="l" rtl="0">
              <a:lnSpc>
                <a:spcPct val="150000"/>
              </a:lnSpc>
              <a:spcBef>
                <a:spcPts val="1000"/>
              </a:spcBef>
              <a:spcAft>
                <a:spcPts val="0"/>
              </a:spcAft>
              <a:buSzPts val="1440"/>
              <a:buChar char="►"/>
            </a:pPr>
            <a:r>
              <a:rPr lang="en-US"/>
              <a:t>2. Draft Test cases that cover all the requirements mentioned in the documentation</a:t>
            </a:r>
            <a:endParaRPr/>
          </a:p>
          <a:p>
            <a:pPr marL="342900" lvl="0" indent="-342900" algn="l" rtl="0">
              <a:lnSpc>
                <a:spcPct val="150000"/>
              </a:lnSpc>
              <a:spcBef>
                <a:spcPts val="1000"/>
              </a:spcBef>
              <a:spcAft>
                <a:spcPts val="0"/>
              </a:spcAft>
              <a:buSzPts val="1440"/>
              <a:buChar char="►"/>
            </a:pPr>
            <a:r>
              <a:rPr lang="en-US"/>
              <a:t>3. Review the test cases with Team Lead, Client</a:t>
            </a:r>
            <a:endParaRPr/>
          </a:p>
          <a:p>
            <a:pPr marL="342900" lvl="0" indent="-342900" algn="l" rtl="0">
              <a:lnSpc>
                <a:spcPct val="150000"/>
              </a:lnSpc>
              <a:spcBef>
                <a:spcPts val="1000"/>
              </a:spcBef>
              <a:spcAft>
                <a:spcPts val="0"/>
              </a:spcAft>
              <a:buSzPts val="1440"/>
              <a:buChar char="►"/>
            </a:pPr>
            <a:r>
              <a:rPr lang="en-US"/>
              <a:t>4. Execute the test cases </a:t>
            </a:r>
            <a:endParaRPr/>
          </a:p>
          <a:p>
            <a:pPr marL="342900" lvl="0" indent="-342900" algn="l" rtl="0">
              <a:lnSpc>
                <a:spcPct val="150000"/>
              </a:lnSpc>
              <a:spcBef>
                <a:spcPts val="1000"/>
              </a:spcBef>
              <a:spcAft>
                <a:spcPts val="0"/>
              </a:spcAft>
              <a:buSzPts val="1440"/>
              <a:buChar char="►"/>
            </a:pPr>
            <a:r>
              <a:rPr lang="en-US"/>
              <a:t>5. Report Bugs</a:t>
            </a:r>
            <a:endParaRPr/>
          </a:p>
          <a:p>
            <a:pPr marL="342900" lvl="0" indent="-342900" algn="l" rtl="0">
              <a:lnSpc>
                <a:spcPct val="150000"/>
              </a:lnSpc>
              <a:spcBef>
                <a:spcPts val="1000"/>
              </a:spcBef>
              <a:spcAft>
                <a:spcPts val="0"/>
              </a:spcAft>
              <a:buSzPts val="1440"/>
              <a:buChar char="►"/>
            </a:pPr>
            <a:r>
              <a:rPr lang="en-US"/>
              <a:t>6. After bugs fixed, execute failed test cases.</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p35"/>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C00000"/>
              </a:buClr>
              <a:buSzPts val="3600"/>
              <a:buFont typeface="Trebuchet MS"/>
              <a:buNone/>
            </a:pPr>
            <a:r>
              <a:rPr lang="en-US">
                <a:solidFill>
                  <a:srgbClr val="C00000"/>
                </a:solidFill>
              </a:rPr>
              <a:t>Software Testing Levels (Hierarchy)</a:t>
            </a:r>
            <a:endParaRPr/>
          </a:p>
        </p:txBody>
      </p:sp>
      <p:pic>
        <p:nvPicPr>
          <p:cNvPr id="363" name="Google Shape;363;p35"/>
          <p:cNvPicPr preferRelativeResize="0">
            <a:picLocks noGrp="1"/>
          </p:cNvPicPr>
          <p:nvPr>
            <p:ph type="body" idx="1"/>
          </p:nvPr>
        </p:nvPicPr>
        <p:blipFill rotWithShape="1">
          <a:blip r:embed="rId3">
            <a:alphaModFix/>
          </a:blip>
          <a:srcRect/>
          <a:stretch/>
        </p:blipFill>
        <p:spPr>
          <a:xfrm>
            <a:off x="2213769" y="2410619"/>
            <a:ext cx="5524500" cy="338137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36"/>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C00000"/>
              </a:buClr>
              <a:buSzPts val="3600"/>
              <a:buFont typeface="Trebuchet MS"/>
              <a:buNone/>
            </a:pPr>
            <a:r>
              <a:rPr lang="en-US">
                <a:solidFill>
                  <a:srgbClr val="C00000"/>
                </a:solidFill>
              </a:rPr>
              <a:t>1. Unit Testing</a:t>
            </a:r>
            <a:endParaRPr/>
          </a:p>
        </p:txBody>
      </p:sp>
      <p:sp>
        <p:nvSpPr>
          <p:cNvPr id="369" name="Google Shape;369;p36"/>
          <p:cNvSpPr txBox="1">
            <a:spLocks noGrp="1"/>
          </p:cNvSpPr>
          <p:nvPr>
            <p:ph type="body" idx="1"/>
          </p:nvPr>
        </p:nvSpPr>
        <p:spPr>
          <a:xfrm>
            <a:off x="677334" y="1322773"/>
            <a:ext cx="8596668" cy="4718589"/>
          </a:xfrm>
          <a:prstGeom prst="rect">
            <a:avLst/>
          </a:prstGeom>
          <a:noFill/>
          <a:ln>
            <a:noFill/>
          </a:ln>
        </p:spPr>
        <p:txBody>
          <a:bodyPr spcFirstLastPara="1" wrap="square" lIns="91425" tIns="45700" rIns="91425" bIns="45700" anchor="t" anchorCtr="0">
            <a:normAutofit/>
          </a:bodyPr>
          <a:lstStyle/>
          <a:p>
            <a:pPr marL="342900" lvl="0" indent="-251459" algn="l" rtl="0">
              <a:lnSpc>
                <a:spcPct val="150000"/>
              </a:lnSpc>
              <a:spcBef>
                <a:spcPts val="0"/>
              </a:spcBef>
              <a:spcAft>
                <a:spcPts val="0"/>
              </a:spcAft>
              <a:buSzPts val="1440"/>
              <a:buNone/>
            </a:pPr>
            <a:endParaRPr/>
          </a:p>
          <a:p>
            <a:pPr marL="342900" lvl="0" indent="-342900" algn="l" rtl="0">
              <a:lnSpc>
                <a:spcPct val="150000"/>
              </a:lnSpc>
              <a:spcBef>
                <a:spcPts val="1000"/>
              </a:spcBef>
              <a:spcAft>
                <a:spcPts val="0"/>
              </a:spcAft>
              <a:buSzPts val="1440"/>
              <a:buChar char="►"/>
            </a:pPr>
            <a:r>
              <a:rPr lang="en-US"/>
              <a:t>Individual units or components of a software are tested</a:t>
            </a:r>
            <a:endParaRPr/>
          </a:p>
          <a:p>
            <a:pPr marL="342900" lvl="0" indent="-342900" algn="l" rtl="0">
              <a:lnSpc>
                <a:spcPct val="150000"/>
              </a:lnSpc>
              <a:spcBef>
                <a:spcPts val="1000"/>
              </a:spcBef>
              <a:spcAft>
                <a:spcPts val="0"/>
              </a:spcAft>
              <a:buSzPts val="1440"/>
              <a:buChar char="►"/>
            </a:pPr>
            <a:r>
              <a:rPr lang="en-US"/>
              <a:t>It is done during the development of application by developers</a:t>
            </a:r>
            <a:endParaRPr/>
          </a:p>
          <a:p>
            <a:pPr marL="342900" lvl="0" indent="-342900" algn="l" rtl="0">
              <a:lnSpc>
                <a:spcPct val="150000"/>
              </a:lnSpc>
              <a:spcBef>
                <a:spcPts val="1000"/>
              </a:spcBef>
              <a:spcAft>
                <a:spcPts val="0"/>
              </a:spcAft>
              <a:buSzPts val="1440"/>
              <a:buChar char="►"/>
            </a:pPr>
            <a:r>
              <a:rPr lang="en-US"/>
              <a:t>A unit may be an individual function, method, procedure, module, or object</a:t>
            </a:r>
            <a:endParaRPr/>
          </a:p>
          <a:p>
            <a:pPr marL="342900" lvl="0" indent="-251459" algn="l" rtl="0">
              <a:lnSpc>
                <a:spcPct val="150000"/>
              </a:lnSpc>
              <a:spcBef>
                <a:spcPts val="1000"/>
              </a:spcBef>
              <a:spcAft>
                <a:spcPts val="0"/>
              </a:spcAft>
              <a:buSzPts val="1440"/>
              <a:buNone/>
            </a:pPr>
            <a:endParaRPr/>
          </a:p>
          <a:p>
            <a:pPr marL="0" lvl="0" indent="0" algn="l" rtl="0">
              <a:lnSpc>
                <a:spcPct val="150000"/>
              </a:lnSpc>
              <a:spcBef>
                <a:spcPts val="1000"/>
              </a:spcBef>
              <a:spcAft>
                <a:spcPts val="0"/>
              </a:spcAft>
              <a:buSzPts val="1440"/>
              <a:buNone/>
            </a:pPr>
            <a:r>
              <a:rPr lang="en-US"/>
              <a:t>			</a:t>
            </a:r>
            <a:r>
              <a:rPr lang="en-US" sz="2000" u="sng"/>
              <a:t>Tools</a:t>
            </a:r>
            <a:endParaRPr u="sng"/>
          </a:p>
          <a:p>
            <a:pPr marL="0" lvl="0" indent="0" algn="l" rtl="0">
              <a:lnSpc>
                <a:spcPct val="150000"/>
              </a:lnSpc>
              <a:spcBef>
                <a:spcPts val="1000"/>
              </a:spcBef>
              <a:spcAft>
                <a:spcPts val="0"/>
              </a:spcAft>
              <a:buSzPts val="1440"/>
              <a:buNone/>
            </a:pPr>
            <a:r>
              <a:rPr lang="en-US"/>
              <a:t>			JUnit</a:t>
            </a:r>
            <a:endParaRPr/>
          </a:p>
          <a:p>
            <a:pPr marL="0" lvl="0" indent="0" algn="l" rtl="0">
              <a:lnSpc>
                <a:spcPct val="150000"/>
              </a:lnSpc>
              <a:spcBef>
                <a:spcPts val="1000"/>
              </a:spcBef>
              <a:spcAft>
                <a:spcPts val="0"/>
              </a:spcAft>
              <a:buSzPts val="1440"/>
              <a:buNone/>
            </a:pPr>
            <a:r>
              <a:rPr lang="en-US"/>
              <a:t>			NUnit</a:t>
            </a:r>
            <a:endParaRPr/>
          </a:p>
          <a:p>
            <a:pPr marL="342900" lvl="0" indent="-251459" algn="l" rtl="0">
              <a:lnSpc>
                <a:spcPct val="150000"/>
              </a:lnSpc>
              <a:spcBef>
                <a:spcPts val="1000"/>
              </a:spcBef>
              <a:spcAft>
                <a:spcPts val="0"/>
              </a:spcAft>
              <a:buSzPts val="1440"/>
              <a:buNone/>
            </a:pPr>
            <a:endParaRPr/>
          </a:p>
        </p:txBody>
      </p:sp>
      <p:pic>
        <p:nvPicPr>
          <p:cNvPr id="370" name="Google Shape;370;p36"/>
          <p:cNvPicPr preferRelativeResize="0"/>
          <p:nvPr/>
        </p:nvPicPr>
        <p:blipFill rotWithShape="1">
          <a:blip r:embed="rId3">
            <a:alphaModFix/>
          </a:blip>
          <a:srcRect/>
          <a:stretch/>
        </p:blipFill>
        <p:spPr>
          <a:xfrm>
            <a:off x="4217949" y="3429000"/>
            <a:ext cx="2762250" cy="3095625"/>
          </a:xfrm>
          <a:prstGeom prst="rect">
            <a:avLst/>
          </a:prstGeom>
          <a:noFill/>
          <a:ln>
            <a:noFill/>
          </a:ln>
        </p:spPr>
      </p:pic>
      <p:pic>
        <p:nvPicPr>
          <p:cNvPr id="371" name="Google Shape;371;p36"/>
          <p:cNvPicPr preferRelativeResize="0"/>
          <p:nvPr/>
        </p:nvPicPr>
        <p:blipFill rotWithShape="1">
          <a:blip r:embed="rId4">
            <a:alphaModFix/>
          </a:blip>
          <a:srcRect/>
          <a:stretch/>
        </p:blipFill>
        <p:spPr>
          <a:xfrm>
            <a:off x="6980199" y="3703371"/>
            <a:ext cx="2254474" cy="2624987"/>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37"/>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C00000"/>
              </a:buClr>
              <a:buSzPts val="3600"/>
              <a:buFont typeface="Trebuchet MS"/>
              <a:buNone/>
            </a:pPr>
            <a:r>
              <a:rPr lang="en-US">
                <a:solidFill>
                  <a:srgbClr val="C00000"/>
                </a:solidFill>
              </a:rPr>
              <a:t>2. Integration Test</a:t>
            </a:r>
            <a:endParaRPr/>
          </a:p>
        </p:txBody>
      </p:sp>
      <p:sp>
        <p:nvSpPr>
          <p:cNvPr id="377" name="Google Shape;377;p37"/>
          <p:cNvSpPr txBox="1">
            <a:spLocks noGrp="1"/>
          </p:cNvSpPr>
          <p:nvPr>
            <p:ph type="body" idx="1"/>
          </p:nvPr>
        </p:nvSpPr>
        <p:spPr>
          <a:xfrm>
            <a:off x="677334" y="1686561"/>
            <a:ext cx="8596668" cy="4354802"/>
          </a:xfrm>
          <a:prstGeom prst="rect">
            <a:avLst/>
          </a:prstGeom>
          <a:noFill/>
          <a:ln>
            <a:noFill/>
          </a:ln>
        </p:spPr>
        <p:txBody>
          <a:bodyPr spcFirstLastPara="1" wrap="square" lIns="91425" tIns="45700" rIns="91425" bIns="45700" anchor="t" anchorCtr="0">
            <a:normAutofit/>
          </a:bodyPr>
          <a:lstStyle/>
          <a:p>
            <a:pPr marL="342900" lvl="0" indent="-307340" algn="l" rtl="0">
              <a:lnSpc>
                <a:spcPct val="150000"/>
              </a:lnSpc>
              <a:spcBef>
                <a:spcPts val="0"/>
              </a:spcBef>
              <a:spcAft>
                <a:spcPts val="0"/>
              </a:spcAft>
              <a:buSzPts val="560"/>
              <a:buNone/>
            </a:pPr>
            <a:endParaRPr sz="700"/>
          </a:p>
          <a:p>
            <a:pPr marL="342900" lvl="0" indent="-342900" algn="l" rtl="0">
              <a:lnSpc>
                <a:spcPct val="150000"/>
              </a:lnSpc>
              <a:spcBef>
                <a:spcPts val="1000"/>
              </a:spcBef>
              <a:spcAft>
                <a:spcPts val="0"/>
              </a:spcAft>
              <a:buSzPts val="1440"/>
              <a:buChar char="►"/>
            </a:pPr>
            <a:r>
              <a:rPr lang="en-US"/>
              <a:t>Software modules are integrated logically and tested as a group</a:t>
            </a:r>
            <a:endParaRPr/>
          </a:p>
          <a:p>
            <a:pPr marL="342900" lvl="0" indent="-342900" algn="l" rtl="0">
              <a:lnSpc>
                <a:spcPct val="150000"/>
              </a:lnSpc>
              <a:spcBef>
                <a:spcPts val="1000"/>
              </a:spcBef>
              <a:spcAft>
                <a:spcPts val="0"/>
              </a:spcAft>
              <a:buSzPts val="1440"/>
              <a:buChar char="►"/>
            </a:pPr>
            <a:r>
              <a:rPr lang="en-US"/>
              <a:t>It focuses mainly on the interfaces and flow of data/information between the modules</a:t>
            </a:r>
            <a:endParaRPr/>
          </a:p>
          <a:p>
            <a:pPr marL="0" lvl="0" indent="0" algn="l" rtl="0">
              <a:lnSpc>
                <a:spcPct val="150000"/>
              </a:lnSpc>
              <a:spcBef>
                <a:spcPts val="1000"/>
              </a:spcBef>
              <a:spcAft>
                <a:spcPts val="0"/>
              </a:spcAft>
              <a:buSzPts val="1440"/>
              <a:buNone/>
            </a:pPr>
            <a:r>
              <a:rPr lang="en-US" u="sng"/>
              <a:t>Example</a:t>
            </a:r>
            <a:r>
              <a:rPr lang="en-US"/>
              <a:t>:</a:t>
            </a:r>
            <a:endParaRPr/>
          </a:p>
          <a:p>
            <a:pPr marL="342900" lvl="0" indent="-342900" algn="l" rtl="0">
              <a:lnSpc>
                <a:spcPct val="150000"/>
              </a:lnSpc>
              <a:spcBef>
                <a:spcPts val="1000"/>
              </a:spcBef>
              <a:spcAft>
                <a:spcPts val="0"/>
              </a:spcAft>
              <a:buSzPts val="1440"/>
              <a:buChar char="►"/>
            </a:pPr>
            <a:r>
              <a:rPr lang="en-US"/>
              <a:t>An application has 3 modules:</a:t>
            </a:r>
            <a:endParaRPr/>
          </a:p>
          <a:p>
            <a:pPr marL="342900" lvl="0" indent="-342900" algn="l" rtl="0">
              <a:lnSpc>
                <a:spcPct val="150000"/>
              </a:lnSpc>
              <a:spcBef>
                <a:spcPts val="1000"/>
              </a:spcBef>
              <a:spcAft>
                <a:spcPts val="0"/>
              </a:spcAft>
              <a:buSzPts val="1440"/>
              <a:buChar char="►"/>
            </a:pPr>
            <a:r>
              <a:rPr lang="en-US"/>
              <a:t>Login Page, Mail box, Delete emails</a:t>
            </a:r>
            <a:endParaRPr/>
          </a:p>
        </p:txBody>
      </p:sp>
      <p:pic>
        <p:nvPicPr>
          <p:cNvPr id="378" name="Google Shape;378;p37" descr="Spin off Investing - TCI Ltd - Tankrich"/>
          <p:cNvPicPr preferRelativeResize="0"/>
          <p:nvPr/>
        </p:nvPicPr>
        <p:blipFill rotWithShape="1">
          <a:blip r:embed="rId3">
            <a:alphaModFix/>
          </a:blip>
          <a:srcRect/>
          <a:stretch/>
        </p:blipFill>
        <p:spPr>
          <a:xfrm>
            <a:off x="4975668" y="3115597"/>
            <a:ext cx="4989871" cy="3742403"/>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Shape 382"/>
        <p:cNvGrpSpPr/>
        <p:nvPr/>
      </p:nvGrpSpPr>
      <p:grpSpPr>
        <a:xfrm>
          <a:off x="0" y="0"/>
          <a:ext cx="0" cy="0"/>
          <a:chOff x="0" y="0"/>
          <a:chExt cx="0" cy="0"/>
        </a:xfrm>
      </p:grpSpPr>
      <p:sp>
        <p:nvSpPr>
          <p:cNvPr id="383" name="Google Shape;383;p38"/>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C00000"/>
              </a:buClr>
              <a:buSzPts val="3600"/>
              <a:buFont typeface="Trebuchet MS"/>
              <a:buNone/>
            </a:pPr>
            <a:r>
              <a:rPr lang="en-US">
                <a:solidFill>
                  <a:srgbClr val="C00000"/>
                </a:solidFill>
              </a:rPr>
              <a:t>3. System Testing</a:t>
            </a:r>
            <a:endParaRPr/>
          </a:p>
        </p:txBody>
      </p:sp>
      <p:pic>
        <p:nvPicPr>
          <p:cNvPr id="384" name="Google Shape;384;p38" descr="Government contract record view – One view of contract data ..."/>
          <p:cNvPicPr preferRelativeResize="0"/>
          <p:nvPr/>
        </p:nvPicPr>
        <p:blipFill rotWithShape="1">
          <a:blip r:embed="rId3">
            <a:alphaModFix/>
          </a:blip>
          <a:srcRect/>
          <a:stretch/>
        </p:blipFill>
        <p:spPr>
          <a:xfrm>
            <a:off x="4745652" y="2406447"/>
            <a:ext cx="5709367" cy="4285001"/>
          </a:xfrm>
          <a:prstGeom prst="rect">
            <a:avLst/>
          </a:prstGeom>
          <a:noFill/>
          <a:ln>
            <a:noFill/>
          </a:ln>
        </p:spPr>
      </p:pic>
      <p:sp>
        <p:nvSpPr>
          <p:cNvPr id="385" name="Google Shape;385;p38"/>
          <p:cNvSpPr txBox="1"/>
          <p:nvPr/>
        </p:nvSpPr>
        <p:spPr>
          <a:xfrm>
            <a:off x="2683115" y="1509254"/>
            <a:ext cx="7630924" cy="1204450"/>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150000"/>
              </a:lnSpc>
              <a:spcBef>
                <a:spcPts val="0"/>
              </a:spcBef>
              <a:spcAft>
                <a:spcPts val="0"/>
              </a:spcAft>
              <a:buClr>
                <a:schemeClr val="accent1"/>
              </a:buClr>
              <a:buSzPts val="1440"/>
              <a:buFont typeface="Noto Sans Symbols"/>
              <a:buChar char="►"/>
            </a:pPr>
            <a:r>
              <a:rPr lang="en-US" sz="1800" b="0" i="0" u="none" strike="noStrike" cap="none">
                <a:solidFill>
                  <a:srgbClr val="3F3F3F"/>
                </a:solidFill>
                <a:latin typeface="Trebuchet MS"/>
                <a:ea typeface="Trebuchet MS"/>
                <a:cs typeface="Trebuchet MS"/>
                <a:sym typeface="Trebuchet MS"/>
              </a:rPr>
              <a:t>It validates the complete and fully integrated software product</a:t>
            </a:r>
            <a:endParaRPr/>
          </a:p>
          <a:p>
            <a:pPr marL="342900" marR="0" lvl="0" indent="-342900" algn="l" rtl="0">
              <a:lnSpc>
                <a:spcPct val="150000"/>
              </a:lnSpc>
              <a:spcBef>
                <a:spcPts val="1000"/>
              </a:spcBef>
              <a:spcAft>
                <a:spcPts val="0"/>
              </a:spcAft>
              <a:buClr>
                <a:schemeClr val="accent1"/>
              </a:buClr>
              <a:buSzPts val="1440"/>
              <a:buFont typeface="Noto Sans Symbols"/>
              <a:buChar char="►"/>
            </a:pPr>
            <a:r>
              <a:rPr lang="en-US" sz="1800" b="0" i="0" u="none" strike="noStrike" cap="none">
                <a:solidFill>
                  <a:srgbClr val="3F3F3F"/>
                </a:solidFill>
                <a:latin typeface="Trebuchet MS"/>
                <a:ea typeface="Trebuchet MS"/>
                <a:cs typeface="Trebuchet MS"/>
                <a:sym typeface="Trebuchet MS"/>
              </a:rPr>
              <a:t>Purpose is evaluate the end-to-end system specifications</a:t>
            </a:r>
            <a:endParaRPr/>
          </a:p>
          <a:p>
            <a:pPr marL="342900" marR="0" lvl="0" indent="-332740" algn="l" rtl="0">
              <a:spcBef>
                <a:spcPts val="1000"/>
              </a:spcBef>
              <a:spcAft>
                <a:spcPts val="0"/>
              </a:spcAft>
              <a:buClr>
                <a:schemeClr val="accent1"/>
              </a:buClr>
              <a:buSzPts val="160"/>
              <a:buFont typeface="Noto Sans Symbols"/>
              <a:buNone/>
            </a:pPr>
            <a:endParaRPr sz="200" b="0" i="0" u="none" strike="noStrike" cap="none">
              <a:solidFill>
                <a:srgbClr val="3F3F3F"/>
              </a:solidFill>
              <a:latin typeface="Trebuchet MS"/>
              <a:ea typeface="Trebuchet MS"/>
              <a:cs typeface="Trebuchet MS"/>
              <a:sym typeface="Trebuchet MS"/>
            </a:endParaRPr>
          </a:p>
          <a:p>
            <a:pPr marL="342900" marR="0" lvl="0" indent="-297180" algn="l" rtl="0">
              <a:spcBef>
                <a:spcPts val="1000"/>
              </a:spcBef>
              <a:spcAft>
                <a:spcPts val="0"/>
              </a:spcAft>
              <a:buClr>
                <a:schemeClr val="accent1"/>
              </a:buClr>
              <a:buSzPts val="720"/>
              <a:buFont typeface="Noto Sans Symbols"/>
              <a:buNone/>
            </a:pPr>
            <a:endParaRPr sz="900" b="0" i="0" u="none" strike="noStrike" cap="none">
              <a:solidFill>
                <a:srgbClr val="3F3F3F"/>
              </a:solidFill>
              <a:latin typeface="Trebuchet MS"/>
              <a:ea typeface="Trebuchet MS"/>
              <a:cs typeface="Trebuchet MS"/>
              <a:sym typeface="Trebuchet MS"/>
            </a:endParaRPr>
          </a:p>
          <a:p>
            <a:pPr marL="0" marR="0" lvl="0" indent="0" algn="l" rtl="0">
              <a:spcBef>
                <a:spcPts val="1000"/>
              </a:spcBef>
              <a:spcAft>
                <a:spcPts val="0"/>
              </a:spcAft>
              <a:buClr>
                <a:schemeClr val="accent1"/>
              </a:buClr>
              <a:buSzPts val="1440"/>
              <a:buFont typeface="Noto Sans Symbols"/>
              <a:buNone/>
            </a:pPr>
            <a:endParaRPr sz="1800" b="0" i="0" u="none" strike="noStrike" cap="none">
              <a:solidFill>
                <a:srgbClr val="3F3F3F"/>
              </a:solidFill>
              <a:latin typeface="Trebuchet MS"/>
              <a:ea typeface="Trebuchet MS"/>
              <a:cs typeface="Trebuchet MS"/>
              <a:sym typeface="Trebuchet MS"/>
            </a:endParaRPr>
          </a:p>
        </p:txBody>
      </p:sp>
      <p:sp>
        <p:nvSpPr>
          <p:cNvPr id="386" name="Google Shape;386;p38"/>
          <p:cNvSpPr txBox="1"/>
          <p:nvPr/>
        </p:nvSpPr>
        <p:spPr>
          <a:xfrm>
            <a:off x="677334" y="2827593"/>
            <a:ext cx="4917221" cy="3268407"/>
          </a:xfrm>
          <a:prstGeom prst="rect">
            <a:avLst/>
          </a:prstGeom>
          <a:noFill/>
          <a:ln>
            <a:noFill/>
          </a:ln>
        </p:spPr>
        <p:txBody>
          <a:bodyPr spcFirstLastPara="1" wrap="square" lIns="91425" tIns="45700" rIns="91425" bIns="45700" anchor="t" anchorCtr="0">
            <a:normAutofit/>
          </a:bodyPr>
          <a:lstStyle/>
          <a:p>
            <a:pPr marL="0" marR="0" lvl="0" indent="0" algn="l" rtl="0">
              <a:spcBef>
                <a:spcPts val="0"/>
              </a:spcBef>
              <a:spcAft>
                <a:spcPts val="0"/>
              </a:spcAft>
              <a:buClr>
                <a:schemeClr val="accent1"/>
              </a:buClr>
              <a:buSzPts val="720"/>
              <a:buFont typeface="Noto Sans Symbols"/>
              <a:buNone/>
            </a:pPr>
            <a:endParaRPr sz="900" b="0" i="0" u="none" strike="noStrike" cap="none">
              <a:solidFill>
                <a:srgbClr val="3F3F3F"/>
              </a:solidFill>
              <a:latin typeface="Trebuchet MS"/>
              <a:ea typeface="Trebuchet MS"/>
              <a:cs typeface="Trebuchet MS"/>
              <a:sym typeface="Trebuchet MS"/>
            </a:endParaRPr>
          </a:p>
          <a:p>
            <a:pPr marL="0" marR="0" lvl="0" indent="0" algn="ctr" rtl="0">
              <a:spcBef>
                <a:spcPts val="1000"/>
              </a:spcBef>
              <a:spcAft>
                <a:spcPts val="0"/>
              </a:spcAft>
              <a:buClr>
                <a:schemeClr val="accent1"/>
              </a:buClr>
              <a:buSzPts val="1440"/>
              <a:buFont typeface="Noto Sans Symbols"/>
              <a:buNone/>
            </a:pPr>
            <a:r>
              <a:rPr lang="en-US" sz="1800" b="0" i="0" u="sng" strike="noStrike" cap="none">
                <a:solidFill>
                  <a:srgbClr val="3F3F3F"/>
                </a:solidFill>
                <a:latin typeface="Trebuchet MS"/>
                <a:ea typeface="Trebuchet MS"/>
                <a:cs typeface="Trebuchet MS"/>
                <a:sym typeface="Trebuchet MS"/>
              </a:rPr>
              <a:t>Different Types of System Testing</a:t>
            </a:r>
            <a:endParaRPr/>
          </a:p>
          <a:p>
            <a:pPr marL="0" marR="0" lvl="0" indent="0" algn="ctr" rtl="0">
              <a:spcBef>
                <a:spcPts val="1000"/>
              </a:spcBef>
              <a:spcAft>
                <a:spcPts val="0"/>
              </a:spcAft>
              <a:buClr>
                <a:schemeClr val="accent1"/>
              </a:buClr>
              <a:buSzPts val="1440"/>
              <a:buFont typeface="Noto Sans Symbols"/>
              <a:buNone/>
            </a:pPr>
            <a:r>
              <a:rPr lang="en-US" sz="1800" b="0" i="0" u="none" strike="noStrike" cap="none">
                <a:solidFill>
                  <a:srgbClr val="3F3F3F"/>
                </a:solidFill>
                <a:latin typeface="Trebuchet MS"/>
                <a:ea typeface="Trebuchet MS"/>
                <a:cs typeface="Trebuchet MS"/>
                <a:sym typeface="Trebuchet MS"/>
              </a:rPr>
              <a:t>Smoke Test,</a:t>
            </a:r>
            <a:endParaRPr/>
          </a:p>
          <a:p>
            <a:pPr marL="0" marR="0" lvl="0" indent="0" algn="ctr" rtl="0">
              <a:spcBef>
                <a:spcPts val="1000"/>
              </a:spcBef>
              <a:spcAft>
                <a:spcPts val="0"/>
              </a:spcAft>
              <a:buClr>
                <a:schemeClr val="accent1"/>
              </a:buClr>
              <a:buSzPts val="1440"/>
              <a:buFont typeface="Noto Sans Symbols"/>
              <a:buNone/>
            </a:pPr>
            <a:r>
              <a:rPr lang="en-US" sz="1800" b="0" i="0" u="none" strike="noStrike" cap="none">
                <a:solidFill>
                  <a:srgbClr val="3F3F3F"/>
                </a:solidFill>
                <a:latin typeface="Trebuchet MS"/>
                <a:ea typeface="Trebuchet MS"/>
                <a:cs typeface="Trebuchet MS"/>
                <a:sym typeface="Trebuchet MS"/>
              </a:rPr>
              <a:t>Sanity Test,</a:t>
            </a:r>
            <a:endParaRPr/>
          </a:p>
          <a:p>
            <a:pPr marL="0" marR="0" lvl="0" indent="0" algn="ctr" rtl="0">
              <a:spcBef>
                <a:spcPts val="1000"/>
              </a:spcBef>
              <a:spcAft>
                <a:spcPts val="0"/>
              </a:spcAft>
              <a:buClr>
                <a:schemeClr val="accent1"/>
              </a:buClr>
              <a:buSzPts val="1440"/>
              <a:buFont typeface="Noto Sans Symbols"/>
              <a:buNone/>
            </a:pPr>
            <a:r>
              <a:rPr lang="en-US" sz="1800" b="0" i="0" u="none" strike="noStrike" cap="none">
                <a:solidFill>
                  <a:srgbClr val="3F3F3F"/>
                </a:solidFill>
                <a:latin typeface="Trebuchet MS"/>
                <a:ea typeface="Trebuchet MS"/>
                <a:cs typeface="Trebuchet MS"/>
                <a:sym typeface="Trebuchet MS"/>
              </a:rPr>
              <a:t>Regression Test,</a:t>
            </a:r>
            <a:endParaRPr/>
          </a:p>
          <a:p>
            <a:pPr marL="0" marR="0" lvl="0" indent="0" algn="ctr" rtl="0">
              <a:spcBef>
                <a:spcPts val="1000"/>
              </a:spcBef>
              <a:spcAft>
                <a:spcPts val="0"/>
              </a:spcAft>
              <a:buClr>
                <a:schemeClr val="accent1"/>
              </a:buClr>
              <a:buSzPts val="1440"/>
              <a:buFont typeface="Noto Sans Symbols"/>
              <a:buNone/>
            </a:pPr>
            <a:r>
              <a:rPr lang="en-US" sz="1800" b="0" i="0" u="none" strike="noStrike" cap="none">
                <a:solidFill>
                  <a:srgbClr val="3F3F3F"/>
                </a:solidFill>
                <a:latin typeface="Trebuchet MS"/>
                <a:ea typeface="Trebuchet MS"/>
                <a:cs typeface="Trebuchet MS"/>
                <a:sym typeface="Trebuchet MS"/>
              </a:rPr>
              <a:t>Black Box,</a:t>
            </a:r>
            <a:endParaRPr/>
          </a:p>
          <a:p>
            <a:pPr marL="0" marR="0" lvl="0" indent="0" algn="ctr" rtl="0">
              <a:spcBef>
                <a:spcPts val="1000"/>
              </a:spcBef>
              <a:spcAft>
                <a:spcPts val="0"/>
              </a:spcAft>
              <a:buClr>
                <a:schemeClr val="accent1"/>
              </a:buClr>
              <a:buSzPts val="1440"/>
              <a:buFont typeface="Noto Sans Symbols"/>
              <a:buNone/>
            </a:pPr>
            <a:r>
              <a:rPr lang="en-US" sz="1800" b="0" i="0" u="none" strike="noStrike" cap="none">
                <a:solidFill>
                  <a:srgbClr val="3F3F3F"/>
                </a:solidFill>
                <a:latin typeface="Trebuchet MS"/>
                <a:ea typeface="Trebuchet MS"/>
                <a:cs typeface="Trebuchet MS"/>
                <a:sym typeface="Trebuchet MS"/>
              </a:rPr>
              <a:t>White Box,</a:t>
            </a:r>
            <a:endParaRPr/>
          </a:p>
          <a:p>
            <a:pPr marL="0" marR="0" lvl="0" indent="0" algn="ctr" rtl="0">
              <a:spcBef>
                <a:spcPts val="1000"/>
              </a:spcBef>
              <a:spcAft>
                <a:spcPts val="0"/>
              </a:spcAft>
              <a:buClr>
                <a:schemeClr val="accent1"/>
              </a:buClr>
              <a:buSzPts val="1440"/>
              <a:buFont typeface="Noto Sans Symbols"/>
              <a:buNone/>
            </a:pPr>
            <a:r>
              <a:rPr lang="en-US" sz="1800" b="0" i="0" u="none" strike="noStrike" cap="none">
                <a:solidFill>
                  <a:srgbClr val="3F3F3F"/>
                </a:solidFill>
                <a:latin typeface="Trebuchet MS"/>
                <a:ea typeface="Trebuchet MS"/>
                <a:cs typeface="Trebuchet MS"/>
                <a:sym typeface="Trebuchet MS"/>
              </a:rPr>
              <a:t>User Acceptance Test, </a:t>
            </a:r>
            <a:endParaRPr/>
          </a:p>
          <a:p>
            <a:pPr marL="0" marR="0" lvl="0" indent="0" algn="ctr" rtl="0">
              <a:spcBef>
                <a:spcPts val="1000"/>
              </a:spcBef>
              <a:spcAft>
                <a:spcPts val="0"/>
              </a:spcAft>
              <a:buClr>
                <a:schemeClr val="accent1"/>
              </a:buClr>
              <a:buSzPts val="1440"/>
              <a:buFont typeface="Noto Sans Symbols"/>
              <a:buNone/>
            </a:pPr>
            <a:endParaRPr sz="1800" b="0" i="0" u="none" strike="noStrike" cap="none">
              <a:solidFill>
                <a:srgbClr val="3F3F3F"/>
              </a:solidFill>
              <a:latin typeface="Trebuchet MS"/>
              <a:ea typeface="Trebuchet MS"/>
              <a:cs typeface="Trebuchet MS"/>
              <a:sym typeface="Trebuchet MS"/>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39"/>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3600"/>
              <a:buFont typeface="Trebuchet MS"/>
              <a:buNone/>
            </a:pPr>
            <a:r>
              <a:rPr lang="en-US">
                <a:solidFill>
                  <a:schemeClr val="dk1"/>
                </a:solidFill>
              </a:rPr>
              <a:t>Black Box Testing</a:t>
            </a:r>
            <a:endParaRPr/>
          </a:p>
        </p:txBody>
      </p:sp>
      <p:pic>
        <p:nvPicPr>
          <p:cNvPr id="392" name="Google Shape;392;p39"/>
          <p:cNvPicPr preferRelativeResize="0"/>
          <p:nvPr/>
        </p:nvPicPr>
        <p:blipFill rotWithShape="1">
          <a:blip r:embed="rId3">
            <a:alphaModFix/>
          </a:blip>
          <a:srcRect/>
          <a:stretch/>
        </p:blipFill>
        <p:spPr>
          <a:xfrm>
            <a:off x="4351696" y="3839599"/>
            <a:ext cx="2800350" cy="685800"/>
          </a:xfrm>
          <a:prstGeom prst="rect">
            <a:avLst/>
          </a:prstGeom>
          <a:noFill/>
          <a:ln>
            <a:noFill/>
          </a:ln>
        </p:spPr>
      </p:pic>
      <p:pic>
        <p:nvPicPr>
          <p:cNvPr id="393" name="Google Shape;393;p39"/>
          <p:cNvPicPr preferRelativeResize="0"/>
          <p:nvPr/>
        </p:nvPicPr>
        <p:blipFill rotWithShape="1">
          <a:blip r:embed="rId3">
            <a:alphaModFix/>
          </a:blip>
          <a:srcRect/>
          <a:stretch/>
        </p:blipFill>
        <p:spPr>
          <a:xfrm>
            <a:off x="5305898" y="5982878"/>
            <a:ext cx="2800350" cy="835844"/>
          </a:xfrm>
          <a:prstGeom prst="rect">
            <a:avLst/>
          </a:prstGeom>
          <a:noFill/>
          <a:ln>
            <a:noFill/>
          </a:ln>
        </p:spPr>
      </p:pic>
      <p:sp>
        <p:nvSpPr>
          <p:cNvPr id="394" name="Google Shape;394;p39"/>
          <p:cNvSpPr txBox="1"/>
          <p:nvPr/>
        </p:nvSpPr>
        <p:spPr>
          <a:xfrm>
            <a:off x="1205919" y="1509204"/>
            <a:ext cx="9091904" cy="4891596"/>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120000"/>
              </a:lnSpc>
              <a:spcBef>
                <a:spcPts val="0"/>
              </a:spcBef>
              <a:spcAft>
                <a:spcPts val="0"/>
              </a:spcAft>
              <a:buClr>
                <a:schemeClr val="accent1"/>
              </a:buClr>
              <a:buSzPts val="1440"/>
              <a:buFont typeface="Noto Sans Symbols"/>
              <a:buChar char="►"/>
            </a:pPr>
            <a:r>
              <a:rPr lang="en-US" sz="1800" b="0" i="1" u="none" strike="noStrike" cap="none">
                <a:solidFill>
                  <a:srgbClr val="3F3F3F"/>
                </a:solidFill>
                <a:latin typeface="Trebuchet MS"/>
                <a:ea typeface="Trebuchet MS"/>
                <a:cs typeface="Trebuchet MS"/>
                <a:sym typeface="Trebuchet MS"/>
              </a:rPr>
              <a:t>It </a:t>
            </a:r>
            <a:r>
              <a:rPr lang="en-US" sz="1800" b="0" i="0" u="none" strike="noStrike" cap="none">
                <a:solidFill>
                  <a:srgbClr val="3F3F3F"/>
                </a:solidFill>
                <a:latin typeface="Trebuchet MS"/>
                <a:ea typeface="Trebuchet MS"/>
                <a:cs typeface="Trebuchet MS"/>
                <a:sym typeface="Trebuchet MS"/>
              </a:rPr>
              <a:t>is tested </a:t>
            </a:r>
            <a:r>
              <a:rPr lang="en-US" sz="1800" b="1" i="0" u="none" strike="noStrike" cap="none">
                <a:solidFill>
                  <a:srgbClr val="3F3F3F"/>
                </a:solidFill>
                <a:latin typeface="Trebuchet MS"/>
                <a:ea typeface="Trebuchet MS"/>
                <a:cs typeface="Trebuchet MS"/>
                <a:sym typeface="Trebuchet MS"/>
              </a:rPr>
              <a:t>without looking</a:t>
            </a:r>
            <a:endParaRPr/>
          </a:p>
          <a:p>
            <a:pPr marL="0" marR="0" lvl="0" indent="0" algn="l" rtl="0">
              <a:lnSpc>
                <a:spcPct val="120000"/>
              </a:lnSpc>
              <a:spcBef>
                <a:spcPts val="1000"/>
              </a:spcBef>
              <a:spcAft>
                <a:spcPts val="0"/>
              </a:spcAft>
              <a:buClr>
                <a:schemeClr val="accent1"/>
              </a:buClr>
              <a:buSzPts val="1440"/>
              <a:buFont typeface="Noto Sans Symbols"/>
              <a:buNone/>
            </a:pPr>
            <a:r>
              <a:rPr lang="en-US" sz="1800" b="0" i="0" u="none" strike="noStrike" cap="none">
                <a:solidFill>
                  <a:srgbClr val="3F3F3F"/>
                </a:solidFill>
                <a:latin typeface="Trebuchet MS"/>
                <a:ea typeface="Trebuchet MS"/>
                <a:cs typeface="Trebuchet MS"/>
                <a:sym typeface="Trebuchet MS"/>
              </a:rPr>
              <a:t>			 at the </a:t>
            </a:r>
            <a:r>
              <a:rPr lang="en-US" sz="1800" b="0" i="0" u="sng" strike="noStrike" cap="none">
                <a:solidFill>
                  <a:srgbClr val="3F3F3F"/>
                </a:solidFill>
                <a:latin typeface="Trebuchet MS"/>
                <a:ea typeface="Trebuchet MS"/>
                <a:cs typeface="Trebuchet MS"/>
                <a:sym typeface="Trebuchet MS"/>
              </a:rPr>
              <a:t>internal code structure</a:t>
            </a:r>
            <a:r>
              <a:rPr lang="en-US" sz="1800" b="0" i="0" u="none" strike="noStrike" cap="none">
                <a:solidFill>
                  <a:srgbClr val="3F3F3F"/>
                </a:solidFill>
                <a:latin typeface="Trebuchet MS"/>
                <a:ea typeface="Trebuchet MS"/>
                <a:cs typeface="Trebuchet MS"/>
                <a:sym typeface="Trebuchet MS"/>
              </a:rPr>
              <a:t>,</a:t>
            </a:r>
            <a:endParaRPr/>
          </a:p>
          <a:p>
            <a:pPr marL="0" marR="0" lvl="0" indent="0" algn="l" rtl="0">
              <a:lnSpc>
                <a:spcPct val="120000"/>
              </a:lnSpc>
              <a:spcBef>
                <a:spcPts val="1000"/>
              </a:spcBef>
              <a:spcAft>
                <a:spcPts val="0"/>
              </a:spcAft>
              <a:buClr>
                <a:schemeClr val="accent1"/>
              </a:buClr>
              <a:buSzPts val="1440"/>
              <a:buFont typeface="Noto Sans Symbols"/>
              <a:buNone/>
            </a:pPr>
            <a:r>
              <a:rPr lang="en-US" sz="1800" b="0" i="0" u="none" strike="noStrike" cap="none">
                <a:solidFill>
                  <a:srgbClr val="3F3F3F"/>
                </a:solidFill>
                <a:latin typeface="Trebuchet MS"/>
                <a:ea typeface="Trebuchet MS"/>
                <a:cs typeface="Trebuchet MS"/>
                <a:sym typeface="Trebuchet MS"/>
              </a:rPr>
              <a:t>			 </a:t>
            </a:r>
            <a:r>
              <a:rPr lang="en-US" sz="1800" b="0" i="0" u="sng" strike="noStrike" cap="none">
                <a:solidFill>
                  <a:srgbClr val="3F3F3F"/>
                </a:solidFill>
                <a:latin typeface="Trebuchet MS"/>
                <a:ea typeface="Trebuchet MS"/>
                <a:cs typeface="Trebuchet MS"/>
                <a:sym typeface="Trebuchet MS"/>
              </a:rPr>
              <a:t>implementation details </a:t>
            </a:r>
            <a:r>
              <a:rPr lang="en-US" sz="1800" b="0" i="0" u="none" strike="noStrike" cap="none">
                <a:solidFill>
                  <a:srgbClr val="3F3F3F"/>
                </a:solidFill>
                <a:latin typeface="Trebuchet MS"/>
                <a:ea typeface="Trebuchet MS"/>
                <a:cs typeface="Trebuchet MS"/>
                <a:sym typeface="Trebuchet MS"/>
              </a:rPr>
              <a:t>and </a:t>
            </a:r>
            <a:endParaRPr/>
          </a:p>
          <a:p>
            <a:pPr marL="0" marR="0" lvl="0" indent="0" algn="l" rtl="0">
              <a:lnSpc>
                <a:spcPct val="120000"/>
              </a:lnSpc>
              <a:spcBef>
                <a:spcPts val="1000"/>
              </a:spcBef>
              <a:spcAft>
                <a:spcPts val="0"/>
              </a:spcAft>
              <a:buClr>
                <a:schemeClr val="accent1"/>
              </a:buClr>
              <a:buSzPts val="1440"/>
              <a:buFont typeface="Noto Sans Symbols"/>
              <a:buNone/>
            </a:pPr>
            <a:r>
              <a:rPr lang="en-US" sz="1800" b="0" i="0" u="none" strike="noStrike" cap="none">
                <a:solidFill>
                  <a:srgbClr val="3F3F3F"/>
                </a:solidFill>
                <a:latin typeface="Trebuchet MS"/>
                <a:ea typeface="Trebuchet MS"/>
                <a:cs typeface="Trebuchet MS"/>
                <a:sym typeface="Trebuchet MS"/>
              </a:rPr>
              <a:t>			 </a:t>
            </a:r>
            <a:r>
              <a:rPr lang="en-US" sz="1800" b="0" i="0" u="sng" strike="noStrike" cap="none">
                <a:solidFill>
                  <a:srgbClr val="3F3F3F"/>
                </a:solidFill>
                <a:latin typeface="Trebuchet MS"/>
                <a:ea typeface="Trebuchet MS"/>
                <a:cs typeface="Trebuchet MS"/>
                <a:sym typeface="Trebuchet MS"/>
              </a:rPr>
              <a:t>knowledge of internal paths </a:t>
            </a:r>
            <a:r>
              <a:rPr lang="en-US" sz="1800" b="0" i="0" u="none" strike="noStrike" cap="none">
                <a:solidFill>
                  <a:srgbClr val="3F3F3F"/>
                </a:solidFill>
                <a:latin typeface="Trebuchet MS"/>
                <a:ea typeface="Trebuchet MS"/>
                <a:cs typeface="Trebuchet MS"/>
                <a:sym typeface="Trebuchet MS"/>
              </a:rPr>
              <a:t>of the software. </a:t>
            </a:r>
            <a:endParaRPr/>
          </a:p>
          <a:p>
            <a:pPr marL="0" marR="0" lvl="0" indent="0" algn="l" rtl="0">
              <a:lnSpc>
                <a:spcPct val="120000"/>
              </a:lnSpc>
              <a:spcBef>
                <a:spcPts val="1000"/>
              </a:spcBef>
              <a:spcAft>
                <a:spcPts val="0"/>
              </a:spcAft>
              <a:buClr>
                <a:schemeClr val="accent1"/>
              </a:buClr>
              <a:buSzPts val="800"/>
              <a:buFont typeface="Noto Sans Symbols"/>
              <a:buNone/>
            </a:pPr>
            <a:endParaRPr sz="1000" b="0" i="0" u="none" strike="noStrike" cap="none">
              <a:solidFill>
                <a:srgbClr val="3F3F3F"/>
              </a:solidFill>
              <a:latin typeface="Trebuchet MS"/>
              <a:ea typeface="Trebuchet MS"/>
              <a:cs typeface="Trebuchet MS"/>
              <a:sym typeface="Trebuchet MS"/>
            </a:endParaRPr>
          </a:p>
          <a:p>
            <a:pPr marL="342900" marR="0" lvl="0" indent="-342900" algn="l" rtl="0">
              <a:lnSpc>
                <a:spcPct val="110000"/>
              </a:lnSpc>
              <a:spcBef>
                <a:spcPts val="1000"/>
              </a:spcBef>
              <a:spcAft>
                <a:spcPts val="0"/>
              </a:spcAft>
              <a:buClr>
                <a:schemeClr val="accent1"/>
              </a:buClr>
              <a:buSzPts val="1440"/>
              <a:buFont typeface="Noto Sans Symbols"/>
              <a:buChar char="►"/>
            </a:pPr>
            <a:r>
              <a:rPr lang="en-US" sz="1800" b="0" i="0" u="none" strike="noStrike" cap="none">
                <a:solidFill>
                  <a:srgbClr val="3F3F3F"/>
                </a:solidFill>
                <a:latin typeface="Trebuchet MS"/>
                <a:ea typeface="Trebuchet MS"/>
                <a:cs typeface="Trebuchet MS"/>
                <a:sym typeface="Trebuchet MS"/>
              </a:rPr>
              <a:t>This type of testing is </a:t>
            </a:r>
            <a:r>
              <a:rPr lang="en-US" sz="1800" b="0" i="1" u="none" strike="noStrike" cap="none">
                <a:solidFill>
                  <a:srgbClr val="3F3F3F"/>
                </a:solidFill>
                <a:latin typeface="Trebuchet MS"/>
                <a:ea typeface="Trebuchet MS"/>
                <a:cs typeface="Trebuchet MS"/>
                <a:sym typeface="Trebuchet MS"/>
              </a:rPr>
              <a:t>based</a:t>
            </a:r>
            <a:r>
              <a:rPr lang="en-US" sz="1800" b="0" i="0" u="none" strike="noStrike" cap="none">
                <a:solidFill>
                  <a:srgbClr val="3F3F3F"/>
                </a:solidFill>
                <a:latin typeface="Trebuchet MS"/>
                <a:ea typeface="Trebuchet MS"/>
                <a:cs typeface="Trebuchet MS"/>
                <a:sym typeface="Trebuchet MS"/>
              </a:rPr>
              <a:t> </a:t>
            </a:r>
            <a:r>
              <a:rPr lang="en-US" sz="1800" b="0" i="1" u="none" strike="noStrike" cap="none">
                <a:solidFill>
                  <a:srgbClr val="3F3F3F"/>
                </a:solidFill>
                <a:latin typeface="Trebuchet MS"/>
                <a:ea typeface="Trebuchet MS"/>
                <a:cs typeface="Trebuchet MS"/>
                <a:sym typeface="Trebuchet MS"/>
              </a:rPr>
              <a:t>entirely</a:t>
            </a:r>
            <a:r>
              <a:rPr lang="en-US" sz="1800" b="0" i="0" u="none" strike="noStrike" cap="none">
                <a:solidFill>
                  <a:srgbClr val="3F3F3F"/>
                </a:solidFill>
                <a:latin typeface="Trebuchet MS"/>
                <a:ea typeface="Trebuchet MS"/>
                <a:cs typeface="Trebuchet MS"/>
                <a:sym typeface="Trebuchet MS"/>
              </a:rPr>
              <a:t> </a:t>
            </a:r>
            <a:r>
              <a:rPr lang="en-US" sz="1800" b="0" i="1" u="none" strike="noStrike" cap="none">
                <a:solidFill>
                  <a:srgbClr val="3F3F3F"/>
                </a:solidFill>
                <a:latin typeface="Trebuchet MS"/>
                <a:ea typeface="Trebuchet MS"/>
                <a:cs typeface="Trebuchet MS"/>
                <a:sym typeface="Trebuchet MS"/>
              </a:rPr>
              <a:t>on</a:t>
            </a:r>
            <a:endParaRPr/>
          </a:p>
          <a:p>
            <a:pPr marL="0" marR="0" lvl="0" indent="0" algn="l" rtl="0">
              <a:lnSpc>
                <a:spcPct val="110000"/>
              </a:lnSpc>
              <a:spcBef>
                <a:spcPts val="1000"/>
              </a:spcBef>
              <a:spcAft>
                <a:spcPts val="0"/>
              </a:spcAft>
              <a:buClr>
                <a:schemeClr val="accent1"/>
              </a:buClr>
              <a:buSzPts val="1440"/>
              <a:buFont typeface="Noto Sans Symbols"/>
              <a:buNone/>
            </a:pPr>
            <a:r>
              <a:rPr lang="en-US" sz="1800" b="0" i="0" u="none" strike="noStrike" cap="none">
                <a:solidFill>
                  <a:srgbClr val="3F3F3F"/>
                </a:solidFill>
                <a:latin typeface="Trebuchet MS"/>
                <a:ea typeface="Trebuchet MS"/>
                <a:cs typeface="Trebuchet MS"/>
                <a:sym typeface="Trebuchet MS"/>
              </a:rPr>
              <a:t>					 </a:t>
            </a:r>
            <a:r>
              <a:rPr lang="en-US" sz="1800" b="0" i="0" u="sng" strike="noStrike" cap="none">
                <a:solidFill>
                  <a:srgbClr val="3F3F3F"/>
                </a:solidFill>
                <a:latin typeface="Trebuchet MS"/>
                <a:ea typeface="Trebuchet MS"/>
                <a:cs typeface="Trebuchet MS"/>
                <a:sym typeface="Trebuchet MS"/>
              </a:rPr>
              <a:t>software requirements and specifications.</a:t>
            </a:r>
            <a:endParaRPr/>
          </a:p>
        </p:txBody>
      </p:sp>
      <p:pic>
        <p:nvPicPr>
          <p:cNvPr id="395" name="Google Shape;395;p39"/>
          <p:cNvPicPr preferRelativeResize="0"/>
          <p:nvPr/>
        </p:nvPicPr>
        <p:blipFill rotWithShape="1">
          <a:blip r:embed="rId4">
            <a:alphaModFix/>
          </a:blip>
          <a:srcRect/>
          <a:stretch/>
        </p:blipFill>
        <p:spPr>
          <a:xfrm>
            <a:off x="3040046" y="4623875"/>
            <a:ext cx="4762500" cy="180975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00" name="Google Shape;400;p40"/>
          <p:cNvSpPr txBox="1">
            <a:spLocks noGrp="1"/>
          </p:cNvSpPr>
          <p:nvPr>
            <p:ph type="title"/>
          </p:nvPr>
        </p:nvSpPr>
        <p:spPr>
          <a:xfrm>
            <a:off x="647837" y="167148"/>
            <a:ext cx="8596668" cy="9144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7F7F7F"/>
              </a:buClr>
              <a:buSzPts val="3600"/>
              <a:buFont typeface="Trebuchet MS"/>
              <a:buNone/>
            </a:pPr>
            <a:r>
              <a:rPr lang="en-US">
                <a:solidFill>
                  <a:srgbClr val="7F7F7F"/>
                </a:solidFill>
              </a:rPr>
              <a:t>White box testing</a:t>
            </a:r>
            <a:endParaRPr/>
          </a:p>
        </p:txBody>
      </p:sp>
      <p:pic>
        <p:nvPicPr>
          <p:cNvPr id="401" name="Google Shape;401;p40" descr="What is White Box Software Testing: Advantages and Disadvantages ..."/>
          <p:cNvPicPr preferRelativeResize="0"/>
          <p:nvPr/>
        </p:nvPicPr>
        <p:blipFill rotWithShape="1">
          <a:blip r:embed="rId3">
            <a:alphaModFix/>
          </a:blip>
          <a:srcRect/>
          <a:stretch/>
        </p:blipFill>
        <p:spPr>
          <a:xfrm>
            <a:off x="2677293" y="3313471"/>
            <a:ext cx="6802770" cy="3544529"/>
          </a:xfrm>
          <a:prstGeom prst="rect">
            <a:avLst/>
          </a:prstGeom>
          <a:noFill/>
          <a:ln>
            <a:noFill/>
          </a:ln>
        </p:spPr>
      </p:pic>
      <p:pic>
        <p:nvPicPr>
          <p:cNvPr id="402" name="Google Shape;402;p40"/>
          <p:cNvPicPr preferRelativeResize="0"/>
          <p:nvPr/>
        </p:nvPicPr>
        <p:blipFill rotWithShape="1">
          <a:blip r:embed="rId4">
            <a:alphaModFix/>
          </a:blip>
          <a:srcRect/>
          <a:stretch/>
        </p:blipFill>
        <p:spPr>
          <a:xfrm>
            <a:off x="3950417" y="3513649"/>
            <a:ext cx="4259518" cy="676275"/>
          </a:xfrm>
          <a:prstGeom prst="rect">
            <a:avLst/>
          </a:prstGeom>
          <a:noFill/>
          <a:ln>
            <a:noFill/>
          </a:ln>
        </p:spPr>
      </p:pic>
      <p:sp>
        <p:nvSpPr>
          <p:cNvPr id="403" name="Google Shape;403;p40"/>
          <p:cNvSpPr txBox="1"/>
          <p:nvPr/>
        </p:nvSpPr>
        <p:spPr>
          <a:xfrm>
            <a:off x="1637841" y="1346200"/>
            <a:ext cx="8980998" cy="4470400"/>
          </a:xfrm>
          <a:prstGeom prst="rect">
            <a:avLst/>
          </a:prstGeom>
          <a:noFill/>
          <a:ln>
            <a:noFill/>
          </a:ln>
        </p:spPr>
        <p:txBody>
          <a:bodyPr spcFirstLastPara="1" wrap="square" lIns="91425" tIns="45700" rIns="91425" bIns="45700" anchor="t" anchorCtr="0">
            <a:normAutofit/>
          </a:bodyPr>
          <a:lstStyle/>
          <a:p>
            <a:pPr marL="342900" marR="0" lvl="0" indent="-342900" algn="l" rtl="0">
              <a:spcBef>
                <a:spcPts val="0"/>
              </a:spcBef>
              <a:spcAft>
                <a:spcPts val="0"/>
              </a:spcAft>
              <a:buClr>
                <a:schemeClr val="accent1"/>
              </a:buClr>
              <a:buSzPts val="1440"/>
              <a:buFont typeface="Noto Sans Symbols"/>
              <a:buChar char="►"/>
            </a:pPr>
            <a:r>
              <a:rPr lang="en-US" sz="1800" b="0" i="0" u="none" strike="noStrike" cap="none">
                <a:solidFill>
                  <a:srgbClr val="3F3F3F"/>
                </a:solidFill>
                <a:latin typeface="Trebuchet MS"/>
                <a:ea typeface="Trebuchet MS"/>
                <a:cs typeface="Trebuchet MS"/>
                <a:sym typeface="Trebuchet MS"/>
              </a:rPr>
              <a:t>Testing software’s </a:t>
            </a:r>
            <a:r>
              <a:rPr lang="en-US" sz="1800" b="0" i="0" u="sng" strike="noStrike" cap="none">
                <a:solidFill>
                  <a:srgbClr val="3F3F3F"/>
                </a:solidFill>
                <a:latin typeface="Trebuchet MS"/>
                <a:ea typeface="Trebuchet MS"/>
                <a:cs typeface="Trebuchet MS"/>
                <a:sym typeface="Trebuchet MS"/>
              </a:rPr>
              <a:t>internal</a:t>
            </a:r>
            <a:r>
              <a:rPr lang="en-US" sz="1800" b="0" i="0" u="none" strike="noStrike" cap="none">
                <a:solidFill>
                  <a:srgbClr val="3F3F3F"/>
                </a:solidFill>
                <a:latin typeface="Trebuchet MS"/>
                <a:ea typeface="Trebuchet MS"/>
                <a:cs typeface="Trebuchet MS"/>
                <a:sym typeface="Trebuchet MS"/>
              </a:rPr>
              <a:t> </a:t>
            </a:r>
            <a:r>
              <a:rPr lang="en-US" sz="1800" b="0" i="0" u="sng" strike="noStrike" cap="none">
                <a:solidFill>
                  <a:srgbClr val="3F3F3F"/>
                </a:solidFill>
                <a:latin typeface="Trebuchet MS"/>
                <a:ea typeface="Trebuchet MS"/>
                <a:cs typeface="Trebuchet MS"/>
                <a:sym typeface="Trebuchet MS"/>
              </a:rPr>
              <a:t>structure</a:t>
            </a:r>
            <a:r>
              <a:rPr lang="en-US" sz="1800" b="0" i="0" u="none" strike="noStrike" cap="none">
                <a:solidFill>
                  <a:srgbClr val="3F3F3F"/>
                </a:solidFill>
                <a:latin typeface="Trebuchet MS"/>
                <a:ea typeface="Trebuchet MS"/>
                <a:cs typeface="Trebuchet MS"/>
                <a:sym typeface="Trebuchet MS"/>
              </a:rPr>
              <a:t>, </a:t>
            </a:r>
            <a:r>
              <a:rPr lang="en-US" sz="1800" b="0" i="0" u="sng" strike="noStrike" cap="none">
                <a:solidFill>
                  <a:srgbClr val="3F3F3F"/>
                </a:solidFill>
                <a:latin typeface="Trebuchet MS"/>
                <a:ea typeface="Trebuchet MS"/>
                <a:cs typeface="Trebuchet MS"/>
                <a:sym typeface="Trebuchet MS"/>
              </a:rPr>
              <a:t>design</a:t>
            </a:r>
            <a:r>
              <a:rPr lang="en-US" sz="1800" b="0" i="0" u="none" strike="noStrike" cap="none">
                <a:solidFill>
                  <a:srgbClr val="3F3F3F"/>
                </a:solidFill>
                <a:latin typeface="Trebuchet MS"/>
                <a:ea typeface="Trebuchet MS"/>
                <a:cs typeface="Trebuchet MS"/>
                <a:sym typeface="Trebuchet MS"/>
              </a:rPr>
              <a:t>, and </a:t>
            </a:r>
            <a:r>
              <a:rPr lang="en-US" sz="1800" b="0" i="0" u="sng" strike="noStrike" cap="none">
                <a:solidFill>
                  <a:srgbClr val="3F3F3F"/>
                </a:solidFill>
                <a:latin typeface="Trebuchet MS"/>
                <a:ea typeface="Trebuchet MS"/>
                <a:cs typeface="Trebuchet MS"/>
                <a:sym typeface="Trebuchet MS"/>
              </a:rPr>
              <a:t>coding</a:t>
            </a:r>
            <a:r>
              <a:rPr lang="en-US" sz="1800" b="0" i="0" u="none" strike="noStrike" cap="none">
                <a:solidFill>
                  <a:srgbClr val="3F3F3F"/>
                </a:solidFill>
                <a:latin typeface="Trebuchet MS"/>
                <a:ea typeface="Trebuchet MS"/>
                <a:cs typeface="Trebuchet MS"/>
                <a:sym typeface="Trebuchet MS"/>
              </a:rPr>
              <a:t>. </a:t>
            </a:r>
            <a:endParaRPr/>
          </a:p>
          <a:p>
            <a:pPr marL="342900" marR="0" lvl="0" indent="-322580" algn="l" rtl="0">
              <a:spcBef>
                <a:spcPts val="1000"/>
              </a:spcBef>
              <a:spcAft>
                <a:spcPts val="0"/>
              </a:spcAft>
              <a:buClr>
                <a:schemeClr val="accent1"/>
              </a:buClr>
              <a:buSzPts val="320"/>
              <a:buFont typeface="Noto Sans Symbols"/>
              <a:buNone/>
            </a:pPr>
            <a:endParaRPr sz="400" b="0" i="0" u="none" strike="noStrike" cap="none">
              <a:solidFill>
                <a:srgbClr val="3F3F3F"/>
              </a:solidFill>
              <a:latin typeface="Trebuchet MS"/>
              <a:ea typeface="Trebuchet MS"/>
              <a:cs typeface="Trebuchet MS"/>
              <a:sym typeface="Trebuchet MS"/>
            </a:endParaRPr>
          </a:p>
          <a:p>
            <a:pPr marL="342900" marR="0" lvl="0" indent="-342900" algn="l" rtl="0">
              <a:spcBef>
                <a:spcPts val="1000"/>
              </a:spcBef>
              <a:spcAft>
                <a:spcPts val="0"/>
              </a:spcAft>
              <a:buClr>
                <a:schemeClr val="accent1"/>
              </a:buClr>
              <a:buSzPts val="1440"/>
              <a:buFont typeface="Noto Sans Symbols"/>
              <a:buChar char="►"/>
            </a:pPr>
            <a:r>
              <a:rPr lang="en-US" sz="1800" b="0" i="0" u="none" strike="noStrike" cap="none">
                <a:solidFill>
                  <a:srgbClr val="3F3F3F"/>
                </a:solidFill>
                <a:latin typeface="Trebuchet MS"/>
                <a:ea typeface="Trebuchet MS"/>
                <a:cs typeface="Trebuchet MS"/>
                <a:sym typeface="Trebuchet MS"/>
              </a:rPr>
              <a:t>In this type of testing, the </a:t>
            </a:r>
            <a:r>
              <a:rPr lang="en-US" sz="1800" b="0" i="0" u="sng" strike="noStrike" cap="none">
                <a:solidFill>
                  <a:srgbClr val="3F3F3F"/>
                </a:solidFill>
                <a:latin typeface="Trebuchet MS"/>
                <a:ea typeface="Trebuchet MS"/>
                <a:cs typeface="Trebuchet MS"/>
                <a:sym typeface="Trebuchet MS"/>
              </a:rPr>
              <a:t>code</a:t>
            </a:r>
            <a:r>
              <a:rPr lang="en-US" sz="1800" b="0" i="0" u="none" strike="noStrike" cap="none">
                <a:solidFill>
                  <a:srgbClr val="3F3F3F"/>
                </a:solidFill>
                <a:latin typeface="Trebuchet MS"/>
                <a:ea typeface="Trebuchet MS"/>
                <a:cs typeface="Trebuchet MS"/>
                <a:sym typeface="Trebuchet MS"/>
              </a:rPr>
              <a:t> </a:t>
            </a:r>
            <a:r>
              <a:rPr lang="en-US" sz="1800" b="0" i="0" u="sng" strike="noStrike" cap="none">
                <a:solidFill>
                  <a:srgbClr val="3F3F3F"/>
                </a:solidFill>
                <a:latin typeface="Trebuchet MS"/>
                <a:ea typeface="Trebuchet MS"/>
                <a:cs typeface="Trebuchet MS"/>
                <a:sym typeface="Trebuchet MS"/>
              </a:rPr>
              <a:t>is</a:t>
            </a:r>
            <a:r>
              <a:rPr lang="en-US" sz="1800" b="0" i="0" u="none" strike="noStrike" cap="none">
                <a:solidFill>
                  <a:srgbClr val="3F3F3F"/>
                </a:solidFill>
                <a:latin typeface="Trebuchet MS"/>
                <a:ea typeface="Trebuchet MS"/>
                <a:cs typeface="Trebuchet MS"/>
                <a:sym typeface="Trebuchet MS"/>
              </a:rPr>
              <a:t> </a:t>
            </a:r>
            <a:r>
              <a:rPr lang="en-US" sz="1800" b="0" i="0" u="sng" strike="noStrike" cap="none">
                <a:solidFill>
                  <a:srgbClr val="3F3F3F"/>
                </a:solidFill>
                <a:latin typeface="Trebuchet MS"/>
                <a:ea typeface="Trebuchet MS"/>
                <a:cs typeface="Trebuchet MS"/>
                <a:sym typeface="Trebuchet MS"/>
              </a:rPr>
              <a:t>visible</a:t>
            </a:r>
            <a:r>
              <a:rPr lang="en-US" sz="1800" b="0" i="0" u="none" strike="noStrike" cap="none">
                <a:solidFill>
                  <a:srgbClr val="3F3F3F"/>
                </a:solidFill>
                <a:latin typeface="Trebuchet MS"/>
                <a:ea typeface="Trebuchet MS"/>
                <a:cs typeface="Trebuchet MS"/>
                <a:sym typeface="Trebuchet MS"/>
              </a:rPr>
              <a:t> to the tester. </a:t>
            </a:r>
            <a:endParaRPr/>
          </a:p>
          <a:p>
            <a:pPr marL="342900" marR="0" lvl="0" indent="-337820" algn="l" rtl="0">
              <a:spcBef>
                <a:spcPts val="1000"/>
              </a:spcBef>
              <a:spcAft>
                <a:spcPts val="0"/>
              </a:spcAft>
              <a:buClr>
                <a:schemeClr val="accent1"/>
              </a:buClr>
              <a:buFont typeface="Noto Sans Symbols"/>
              <a:buNone/>
            </a:pPr>
            <a:endParaRPr sz="100" b="0" i="0" u="none" strike="noStrike" cap="none">
              <a:solidFill>
                <a:srgbClr val="3F3F3F"/>
              </a:solidFill>
              <a:latin typeface="Trebuchet MS"/>
              <a:ea typeface="Trebuchet MS"/>
              <a:cs typeface="Trebuchet MS"/>
              <a:sym typeface="Trebuchet MS"/>
            </a:endParaRPr>
          </a:p>
          <a:p>
            <a:pPr marL="342900" marR="0" lvl="0" indent="-337820" algn="l" rtl="0">
              <a:spcBef>
                <a:spcPts val="1000"/>
              </a:spcBef>
              <a:spcAft>
                <a:spcPts val="0"/>
              </a:spcAft>
              <a:buClr>
                <a:schemeClr val="accent1"/>
              </a:buClr>
              <a:buFont typeface="Noto Sans Symbols"/>
              <a:buNone/>
            </a:pPr>
            <a:endParaRPr sz="100" b="0" i="0" u="none" strike="noStrike" cap="none">
              <a:solidFill>
                <a:srgbClr val="3F3F3F"/>
              </a:solidFill>
              <a:latin typeface="Trebuchet MS"/>
              <a:ea typeface="Trebuchet MS"/>
              <a:cs typeface="Trebuchet MS"/>
              <a:sym typeface="Trebuchet MS"/>
            </a:endParaRPr>
          </a:p>
          <a:p>
            <a:pPr marL="342900" marR="0" lvl="0" indent="-342900" algn="l" rtl="0">
              <a:spcBef>
                <a:spcPts val="1000"/>
              </a:spcBef>
              <a:spcAft>
                <a:spcPts val="0"/>
              </a:spcAft>
              <a:buClr>
                <a:schemeClr val="accent1"/>
              </a:buClr>
              <a:buSzPts val="1440"/>
              <a:buFont typeface="Noto Sans Symbols"/>
              <a:buChar char="►"/>
            </a:pPr>
            <a:r>
              <a:rPr lang="en-US" sz="1800" b="0" i="0" u="none" strike="noStrike" cap="none">
                <a:solidFill>
                  <a:srgbClr val="3F3F3F"/>
                </a:solidFill>
                <a:latin typeface="Trebuchet MS"/>
                <a:ea typeface="Trebuchet MS"/>
                <a:cs typeface="Trebuchet MS"/>
                <a:sym typeface="Trebuchet MS"/>
              </a:rPr>
              <a:t>It focuses primarily on verifying </a:t>
            </a:r>
            <a:endParaRPr/>
          </a:p>
          <a:p>
            <a:pPr marL="0" marR="0" lvl="0" indent="0" algn="l" rtl="0">
              <a:spcBef>
                <a:spcPts val="1000"/>
              </a:spcBef>
              <a:spcAft>
                <a:spcPts val="0"/>
              </a:spcAft>
              <a:buClr>
                <a:schemeClr val="accent1"/>
              </a:buClr>
              <a:buSzPts val="1440"/>
              <a:buFont typeface="Noto Sans Symbols"/>
              <a:buNone/>
            </a:pPr>
            <a:r>
              <a:rPr lang="en-US" sz="1800" b="0" i="0" u="none" strike="noStrike" cap="none">
                <a:solidFill>
                  <a:srgbClr val="3F3F3F"/>
                </a:solidFill>
                <a:latin typeface="Trebuchet MS"/>
                <a:ea typeface="Trebuchet MS"/>
                <a:cs typeface="Trebuchet MS"/>
                <a:sym typeface="Trebuchet MS"/>
              </a:rPr>
              <a:t>				</a:t>
            </a:r>
            <a:r>
              <a:rPr lang="en-US" sz="1800" b="0" i="0" u="sng" strike="noStrike" cap="none">
                <a:solidFill>
                  <a:srgbClr val="3F3F3F"/>
                </a:solidFill>
                <a:latin typeface="Trebuchet MS"/>
                <a:ea typeface="Trebuchet MS"/>
                <a:cs typeface="Trebuchet MS"/>
                <a:sym typeface="Trebuchet MS"/>
              </a:rPr>
              <a:t>the flow of inputs </a:t>
            </a:r>
            <a:r>
              <a:rPr lang="en-US" sz="1800" b="0" i="0" u="sng" strike="noStrike" cap="none">
                <a:solidFill>
                  <a:srgbClr val="3F3F3F"/>
                </a:solidFill>
                <a:latin typeface="Times New Roman"/>
                <a:ea typeface="Times New Roman"/>
                <a:cs typeface="Times New Roman"/>
                <a:sym typeface="Times New Roman"/>
              </a:rPr>
              <a:t>&amp;</a:t>
            </a:r>
            <a:r>
              <a:rPr lang="en-US" sz="1800" b="0" i="0" u="sng" strike="noStrike" cap="none">
                <a:solidFill>
                  <a:srgbClr val="3F3F3F"/>
                </a:solidFill>
                <a:latin typeface="Trebuchet MS"/>
                <a:ea typeface="Trebuchet MS"/>
                <a:cs typeface="Trebuchet MS"/>
                <a:sym typeface="Trebuchet MS"/>
              </a:rPr>
              <a:t> outputs through the application</a:t>
            </a:r>
            <a:r>
              <a:rPr lang="en-US" sz="1800" b="0" i="0" u="none" strike="noStrike" cap="none">
                <a:solidFill>
                  <a:srgbClr val="3F3F3F"/>
                </a:solidFill>
                <a:latin typeface="Trebuchet MS"/>
                <a:ea typeface="Trebuchet MS"/>
                <a:cs typeface="Trebuchet MS"/>
                <a:sym typeface="Trebuchet MS"/>
              </a:rPr>
              <a:t>, </a:t>
            </a:r>
            <a:endParaRPr/>
          </a:p>
          <a:p>
            <a:pPr marL="0" marR="0" lvl="0" indent="0" algn="l" rtl="0">
              <a:spcBef>
                <a:spcPts val="1000"/>
              </a:spcBef>
              <a:spcAft>
                <a:spcPts val="0"/>
              </a:spcAft>
              <a:buClr>
                <a:schemeClr val="accent1"/>
              </a:buClr>
              <a:buSzPts val="1440"/>
              <a:buFont typeface="Noto Sans Symbols"/>
              <a:buNone/>
            </a:pPr>
            <a:r>
              <a:rPr lang="en-US" sz="1800" b="0" i="0" u="none" strike="noStrike" cap="none">
                <a:solidFill>
                  <a:srgbClr val="3F3F3F"/>
                </a:solidFill>
                <a:latin typeface="Trebuchet MS"/>
                <a:ea typeface="Trebuchet MS"/>
                <a:cs typeface="Trebuchet MS"/>
                <a:sym typeface="Trebuchet MS"/>
              </a:rPr>
              <a:t>				</a:t>
            </a:r>
            <a:r>
              <a:rPr lang="en-US" sz="1800" b="0" i="0" u="sng" strike="noStrike" cap="none">
                <a:solidFill>
                  <a:srgbClr val="3F3F3F"/>
                </a:solidFill>
                <a:latin typeface="Trebuchet MS"/>
                <a:ea typeface="Trebuchet MS"/>
                <a:cs typeface="Trebuchet MS"/>
                <a:sym typeface="Trebuchet MS"/>
              </a:rPr>
              <a:t>improving design and usability</a:t>
            </a:r>
            <a:r>
              <a:rPr lang="en-US" sz="1800" b="0" i="0" u="none" strike="noStrike" cap="none">
                <a:solidFill>
                  <a:srgbClr val="3F3F3F"/>
                </a:solidFill>
                <a:latin typeface="Trebuchet MS"/>
                <a:ea typeface="Trebuchet MS"/>
                <a:cs typeface="Trebuchet MS"/>
                <a:sym typeface="Trebuchet MS"/>
              </a:rPr>
              <a:t>, </a:t>
            </a:r>
            <a:endParaRPr/>
          </a:p>
          <a:p>
            <a:pPr marL="0" marR="0" lvl="0" indent="0" algn="l" rtl="0">
              <a:spcBef>
                <a:spcPts val="1000"/>
              </a:spcBef>
              <a:spcAft>
                <a:spcPts val="0"/>
              </a:spcAft>
              <a:buClr>
                <a:schemeClr val="accent1"/>
              </a:buClr>
              <a:buSzPts val="1440"/>
              <a:buFont typeface="Noto Sans Symbols"/>
              <a:buNone/>
            </a:pPr>
            <a:r>
              <a:rPr lang="en-US" sz="1800" b="0" i="0" u="none" strike="noStrike" cap="none">
                <a:solidFill>
                  <a:srgbClr val="3F3F3F"/>
                </a:solidFill>
                <a:latin typeface="Trebuchet MS"/>
                <a:ea typeface="Trebuchet MS"/>
                <a:cs typeface="Trebuchet MS"/>
                <a:sym typeface="Trebuchet MS"/>
              </a:rPr>
              <a:t>				</a:t>
            </a:r>
            <a:r>
              <a:rPr lang="en-US" sz="1800" b="0" i="0" u="sng" strike="noStrike" cap="none">
                <a:solidFill>
                  <a:srgbClr val="3F3F3F"/>
                </a:solidFill>
                <a:latin typeface="Trebuchet MS"/>
                <a:ea typeface="Trebuchet MS"/>
                <a:cs typeface="Trebuchet MS"/>
                <a:sym typeface="Trebuchet MS"/>
              </a:rPr>
              <a:t>strengthening security</a:t>
            </a:r>
            <a:r>
              <a:rPr lang="en-US" sz="1800" b="0" i="0" u="none" strike="noStrike" cap="none">
                <a:solidFill>
                  <a:srgbClr val="3F3F3F"/>
                </a:solidFill>
                <a:latin typeface="Trebuchet MS"/>
                <a:ea typeface="Trebuchet MS"/>
                <a:cs typeface="Trebuchet MS"/>
                <a:sym typeface="Trebuchet MS"/>
              </a:rPr>
              <a:t>.</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41"/>
          <p:cNvSpPr txBox="1">
            <a:spLocks noGrp="1"/>
          </p:cNvSpPr>
          <p:nvPr>
            <p:ph type="title"/>
          </p:nvPr>
        </p:nvSpPr>
        <p:spPr>
          <a:xfrm>
            <a:off x="624068" y="369903"/>
            <a:ext cx="8596668" cy="784194"/>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chemeClr val="accent1"/>
              </a:buClr>
              <a:buSzPts val="3600"/>
              <a:buFont typeface="Trebuchet MS"/>
              <a:buNone/>
            </a:pPr>
            <a:r>
              <a:rPr lang="en-US"/>
              <a:t>Black Box Vs White Box</a:t>
            </a:r>
            <a:endParaRPr/>
          </a:p>
        </p:txBody>
      </p:sp>
      <p:pic>
        <p:nvPicPr>
          <p:cNvPr id="409" name="Google Shape;409;p41"/>
          <p:cNvPicPr preferRelativeResize="0">
            <a:picLocks noGrp="1"/>
          </p:cNvPicPr>
          <p:nvPr>
            <p:ph type="body" idx="1"/>
          </p:nvPr>
        </p:nvPicPr>
        <p:blipFill rotWithShape="1">
          <a:blip r:embed="rId3">
            <a:alphaModFix/>
          </a:blip>
          <a:srcRect/>
          <a:stretch/>
        </p:blipFill>
        <p:spPr>
          <a:xfrm>
            <a:off x="2968795" y="1583575"/>
            <a:ext cx="4397034" cy="5274425"/>
          </a:xfrm>
          <a:prstGeom prst="rect">
            <a:avLst/>
          </a:prstGeom>
          <a:noFill/>
          <a:ln>
            <a:noFill/>
          </a:ln>
        </p:spPr>
      </p:pic>
      <p:pic>
        <p:nvPicPr>
          <p:cNvPr id="410" name="Google Shape;410;p41"/>
          <p:cNvPicPr preferRelativeResize="0"/>
          <p:nvPr/>
        </p:nvPicPr>
        <p:blipFill rotWithShape="1">
          <a:blip r:embed="rId4">
            <a:alphaModFix/>
          </a:blip>
          <a:srcRect/>
          <a:stretch/>
        </p:blipFill>
        <p:spPr>
          <a:xfrm>
            <a:off x="6277021" y="1245586"/>
            <a:ext cx="1857375" cy="1080364"/>
          </a:xfrm>
          <a:prstGeom prst="rect">
            <a:avLst/>
          </a:prstGeom>
          <a:noFill/>
          <a:ln>
            <a:noFill/>
          </a:ln>
        </p:spPr>
      </p:pic>
      <p:pic>
        <p:nvPicPr>
          <p:cNvPr id="411" name="Google Shape;411;p41"/>
          <p:cNvPicPr preferRelativeResize="0"/>
          <p:nvPr/>
        </p:nvPicPr>
        <p:blipFill rotWithShape="1">
          <a:blip r:embed="rId4">
            <a:alphaModFix/>
          </a:blip>
          <a:srcRect/>
          <a:stretch/>
        </p:blipFill>
        <p:spPr>
          <a:xfrm>
            <a:off x="3789331" y="1013750"/>
            <a:ext cx="2125649" cy="74295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Google Shape;416;p42"/>
          <p:cNvSpPr txBox="1">
            <a:spLocks noGrp="1"/>
          </p:cNvSpPr>
          <p:nvPr>
            <p:ph type="body" idx="1"/>
          </p:nvPr>
        </p:nvSpPr>
        <p:spPr>
          <a:xfrm>
            <a:off x="677862" y="1647057"/>
            <a:ext cx="8596312" cy="3880772"/>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n-US"/>
              <a:t>Gray-box testing is a combination of white-box testing and black-box testing.</a:t>
            </a:r>
            <a:endParaRPr/>
          </a:p>
          <a:p>
            <a:pPr marL="342900" lvl="0" indent="-251459" algn="l" rtl="0">
              <a:spcBef>
                <a:spcPts val="1000"/>
              </a:spcBef>
              <a:spcAft>
                <a:spcPts val="0"/>
              </a:spcAft>
              <a:buSzPts val="1440"/>
              <a:buNone/>
            </a:pPr>
            <a:endParaRPr/>
          </a:p>
          <a:p>
            <a:pPr marL="342900" lvl="0" indent="-342900" algn="l" rtl="0">
              <a:spcBef>
                <a:spcPts val="1000"/>
              </a:spcBef>
              <a:spcAft>
                <a:spcPts val="0"/>
              </a:spcAft>
              <a:buSzPts val="1440"/>
              <a:buChar char="►"/>
            </a:pPr>
            <a:r>
              <a:rPr lang="en-US" b="1"/>
              <a:t>Grey box testing</a:t>
            </a:r>
            <a:r>
              <a:rPr lang="en-US"/>
              <a:t> is when the </a:t>
            </a:r>
            <a:r>
              <a:rPr lang="en-US" b="1"/>
              <a:t>tester</a:t>
            </a:r>
            <a:r>
              <a:rPr lang="en-US"/>
              <a:t> has a partial understanding of the internal structure in the system under </a:t>
            </a:r>
            <a:r>
              <a:rPr lang="en-US" b="1"/>
              <a:t>test</a:t>
            </a:r>
            <a:r>
              <a:rPr lang="en-US"/>
              <a:t>.</a:t>
            </a:r>
            <a:endParaRPr/>
          </a:p>
          <a:p>
            <a:pPr marL="342900" lvl="0" indent="-251459" algn="l" rtl="0">
              <a:spcBef>
                <a:spcPts val="1000"/>
              </a:spcBef>
              <a:spcAft>
                <a:spcPts val="0"/>
              </a:spcAft>
              <a:buSzPts val="1440"/>
              <a:buNone/>
            </a:pPr>
            <a:endParaRPr/>
          </a:p>
          <a:p>
            <a:pPr marL="342900" lvl="0" indent="-342900" algn="l" rtl="0">
              <a:spcBef>
                <a:spcPts val="1000"/>
              </a:spcBef>
              <a:spcAft>
                <a:spcPts val="0"/>
              </a:spcAft>
              <a:buSzPts val="1440"/>
              <a:buChar char="►"/>
            </a:pPr>
            <a:r>
              <a:rPr lang="en-US"/>
              <a:t> </a:t>
            </a:r>
            <a:r>
              <a:rPr lang="en-US" b="1"/>
              <a:t>Grey box testing</a:t>
            </a:r>
            <a:r>
              <a:rPr lang="en-US"/>
              <a:t> is a process for debugging </a:t>
            </a:r>
            <a:r>
              <a:rPr lang="en-US" b="1"/>
              <a:t>software</a:t>
            </a:r>
            <a:r>
              <a:rPr lang="en-US"/>
              <a:t> applications by making an input through the front-end, and verifying the data on the back-end</a:t>
            </a:r>
            <a:endParaRPr/>
          </a:p>
          <a:p>
            <a:pPr marL="342900" lvl="0" indent="-251459" algn="l" rtl="0">
              <a:spcBef>
                <a:spcPts val="1000"/>
              </a:spcBef>
              <a:spcAft>
                <a:spcPts val="0"/>
              </a:spcAft>
              <a:buSzPts val="1440"/>
              <a:buNone/>
            </a:pPr>
            <a:endParaRPr b="1"/>
          </a:p>
        </p:txBody>
      </p:sp>
      <p:sp>
        <p:nvSpPr>
          <p:cNvPr id="417" name="Google Shape;417;p42"/>
          <p:cNvSpPr txBox="1">
            <a:spLocks noGrp="1"/>
          </p:cNvSpPr>
          <p:nvPr>
            <p:ph type="title"/>
          </p:nvPr>
        </p:nvSpPr>
        <p:spPr>
          <a:xfrm>
            <a:off x="677863" y="609600"/>
            <a:ext cx="8596312" cy="720571"/>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7F7F7F"/>
              </a:buClr>
              <a:buSzPts val="3600"/>
              <a:buFont typeface="Trebuchet MS"/>
              <a:buNone/>
            </a:pPr>
            <a:r>
              <a:rPr lang="en-US">
                <a:solidFill>
                  <a:srgbClr val="7F7F7F"/>
                </a:solidFill>
              </a:rPr>
              <a:t>Grey box testing</a:t>
            </a:r>
            <a:endParaRPr/>
          </a:p>
        </p:txBody>
      </p:sp>
      <p:pic>
        <p:nvPicPr>
          <p:cNvPr id="418" name="Google Shape;418;p42"/>
          <p:cNvPicPr preferRelativeResize="0"/>
          <p:nvPr/>
        </p:nvPicPr>
        <p:blipFill rotWithShape="1">
          <a:blip r:embed="rId3">
            <a:alphaModFix/>
          </a:blip>
          <a:srcRect/>
          <a:stretch/>
        </p:blipFill>
        <p:spPr>
          <a:xfrm>
            <a:off x="2323305" y="4508377"/>
            <a:ext cx="5305425" cy="16764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3" name="Google Shape;423;p43"/>
          <p:cNvSpPr txBox="1">
            <a:spLocks noGrp="1"/>
          </p:cNvSpPr>
          <p:nvPr>
            <p:ph type="title"/>
          </p:nvPr>
        </p:nvSpPr>
        <p:spPr>
          <a:xfrm>
            <a:off x="677334" y="376695"/>
            <a:ext cx="8596668" cy="944437"/>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EB7564"/>
              </a:buClr>
              <a:buSzPts val="3600"/>
              <a:buFont typeface="Trebuchet MS"/>
              <a:buNone/>
            </a:pPr>
            <a:r>
              <a:rPr lang="en-US">
                <a:solidFill>
                  <a:srgbClr val="EB7564"/>
                </a:solidFill>
              </a:rPr>
              <a:t>Smoke Testing</a:t>
            </a:r>
            <a:endParaRPr/>
          </a:p>
        </p:txBody>
      </p:sp>
      <p:sp>
        <p:nvSpPr>
          <p:cNvPr id="424" name="Google Shape;424;p43"/>
          <p:cNvSpPr txBox="1">
            <a:spLocks noGrp="1"/>
          </p:cNvSpPr>
          <p:nvPr>
            <p:ph type="body" idx="1"/>
          </p:nvPr>
        </p:nvSpPr>
        <p:spPr>
          <a:xfrm>
            <a:off x="1020576" y="1394644"/>
            <a:ext cx="9625303" cy="1486210"/>
          </a:xfrm>
          <a:prstGeom prst="rect">
            <a:avLst/>
          </a:prstGeom>
          <a:noFill/>
          <a:ln>
            <a:noFill/>
          </a:ln>
        </p:spPr>
        <p:txBody>
          <a:bodyPr spcFirstLastPara="1" wrap="square" lIns="91425" tIns="45700" rIns="91425" bIns="45700" anchor="t" anchorCtr="0">
            <a:normAutofit/>
          </a:bodyPr>
          <a:lstStyle/>
          <a:p>
            <a:pPr marL="0" lvl="0" indent="0" algn="l" rtl="0">
              <a:lnSpc>
                <a:spcPct val="200000"/>
              </a:lnSpc>
              <a:spcBef>
                <a:spcPts val="0"/>
              </a:spcBef>
              <a:spcAft>
                <a:spcPts val="0"/>
              </a:spcAft>
              <a:buSzPts val="1440"/>
              <a:buNone/>
            </a:pPr>
            <a:r>
              <a:rPr lang="en-US"/>
              <a:t>	 To confirm that the </a:t>
            </a:r>
            <a:r>
              <a:rPr lang="en-US" b="1"/>
              <a:t>critical functionalities of the program </a:t>
            </a:r>
            <a:endParaRPr/>
          </a:p>
          <a:p>
            <a:pPr marL="0" lvl="0" indent="0" algn="l" rtl="0">
              <a:lnSpc>
                <a:spcPct val="200000"/>
              </a:lnSpc>
              <a:spcBef>
                <a:spcPts val="1000"/>
              </a:spcBef>
              <a:spcAft>
                <a:spcPts val="0"/>
              </a:spcAft>
              <a:buSzPts val="1440"/>
              <a:buNone/>
            </a:pPr>
            <a:r>
              <a:rPr lang="en-US" b="1"/>
              <a:t>		are working fine </a:t>
            </a:r>
            <a:r>
              <a:rPr lang="en-US"/>
              <a:t>after software build </a:t>
            </a:r>
            <a:endParaRPr/>
          </a:p>
          <a:p>
            <a:pPr marL="0" lvl="0" indent="0" algn="l" rtl="0">
              <a:spcBef>
                <a:spcPts val="1000"/>
              </a:spcBef>
              <a:spcAft>
                <a:spcPts val="0"/>
              </a:spcAft>
              <a:buSzPts val="400"/>
              <a:buNone/>
            </a:pPr>
            <a:endParaRPr sz="500"/>
          </a:p>
        </p:txBody>
      </p:sp>
      <p:pic>
        <p:nvPicPr>
          <p:cNvPr id="425" name="Google Shape;425;p43" descr="What is Smoke Testing? Introduction to Smoke Testing | Edureka"/>
          <p:cNvPicPr preferRelativeResize="0"/>
          <p:nvPr/>
        </p:nvPicPr>
        <p:blipFill rotWithShape="1">
          <a:blip r:embed="rId3">
            <a:alphaModFix/>
          </a:blip>
          <a:srcRect/>
          <a:stretch/>
        </p:blipFill>
        <p:spPr>
          <a:xfrm>
            <a:off x="2367197" y="3134031"/>
            <a:ext cx="6800072" cy="3052305"/>
          </a:xfrm>
          <a:prstGeom prst="rect">
            <a:avLst/>
          </a:prstGeom>
          <a:noFill/>
          <a:ln>
            <a:noFill/>
          </a:ln>
        </p:spPr>
      </p:pic>
      <p:pic>
        <p:nvPicPr>
          <p:cNvPr id="426" name="Google Shape;426;p43"/>
          <p:cNvPicPr preferRelativeResize="0"/>
          <p:nvPr/>
        </p:nvPicPr>
        <p:blipFill rotWithShape="1">
          <a:blip r:embed="rId4">
            <a:alphaModFix/>
          </a:blip>
          <a:srcRect/>
          <a:stretch/>
        </p:blipFill>
        <p:spPr>
          <a:xfrm>
            <a:off x="1694066" y="5805030"/>
            <a:ext cx="2314575" cy="67627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p44"/>
          <p:cNvSpPr txBox="1">
            <a:spLocks noGrp="1"/>
          </p:cNvSpPr>
          <p:nvPr>
            <p:ph type="title"/>
          </p:nvPr>
        </p:nvSpPr>
        <p:spPr>
          <a:xfrm>
            <a:off x="677334" y="1065474"/>
            <a:ext cx="8596668" cy="864925"/>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EB7564"/>
              </a:buClr>
              <a:buSzPts val="3600"/>
              <a:buFont typeface="Trebuchet MS"/>
              <a:buNone/>
            </a:pPr>
            <a:r>
              <a:rPr lang="en-US">
                <a:solidFill>
                  <a:srgbClr val="EB7564"/>
                </a:solidFill>
              </a:rPr>
              <a:t>When</a:t>
            </a:r>
            <a:r>
              <a:rPr lang="en-US"/>
              <a:t> Smoke Testing?</a:t>
            </a:r>
            <a:endParaRPr/>
          </a:p>
        </p:txBody>
      </p:sp>
      <p:sp>
        <p:nvSpPr>
          <p:cNvPr id="432" name="Google Shape;432;p44"/>
          <p:cNvSpPr txBox="1">
            <a:spLocks noGrp="1"/>
          </p:cNvSpPr>
          <p:nvPr>
            <p:ph type="body" idx="1"/>
          </p:nvPr>
        </p:nvSpPr>
        <p:spPr>
          <a:xfrm>
            <a:off x="1614114" y="2160589"/>
            <a:ext cx="7659887" cy="388077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n-US"/>
              <a:t>"before" any detailed functional or regression tests are executed on the software build.</a:t>
            </a:r>
            <a:endParaRPr/>
          </a:p>
          <a:p>
            <a:pPr marL="342900" lvl="0" indent="-342900" algn="l" rtl="0">
              <a:spcBef>
                <a:spcPts val="1000"/>
              </a:spcBef>
              <a:spcAft>
                <a:spcPts val="0"/>
              </a:spcAft>
              <a:buSzPts val="1440"/>
              <a:buChar char="►"/>
            </a:pPr>
            <a:r>
              <a:rPr lang="en-US"/>
              <a:t>To decide if a build is stable enough to proceed with further testing</a:t>
            </a:r>
            <a:endParaRPr/>
          </a:p>
          <a:p>
            <a:pPr marL="0" lvl="0" indent="0" algn="l" rtl="0">
              <a:spcBef>
                <a:spcPts val="1000"/>
              </a:spcBef>
              <a:spcAft>
                <a:spcPts val="0"/>
              </a:spcAft>
              <a:buSzPts val="720"/>
              <a:buNone/>
            </a:pPr>
            <a:endParaRPr sz="900"/>
          </a:p>
          <a:p>
            <a:pPr marL="342900" lvl="0" indent="-342900" algn="l" rtl="0">
              <a:spcBef>
                <a:spcPts val="1000"/>
              </a:spcBef>
              <a:spcAft>
                <a:spcPts val="0"/>
              </a:spcAft>
              <a:buSzPts val="1440"/>
              <a:buChar char="►"/>
            </a:pPr>
            <a:r>
              <a:rPr lang="en-US" b="1"/>
              <a:t>Why?</a:t>
            </a:r>
            <a:endParaRPr/>
          </a:p>
          <a:p>
            <a:pPr marL="0" lvl="0" indent="0" algn="l" rtl="0">
              <a:spcBef>
                <a:spcPts val="1000"/>
              </a:spcBef>
              <a:spcAft>
                <a:spcPts val="0"/>
              </a:spcAft>
              <a:buSzPts val="1440"/>
              <a:buNone/>
            </a:pPr>
            <a:r>
              <a:rPr lang="en-US"/>
              <a:t>	-     If the build is imperfect/defective, further testing would be  			waste of time and resources.</a:t>
            </a:r>
            <a:endParaRPr/>
          </a:p>
          <a:p>
            <a:pPr marL="0" lvl="0" indent="0" algn="l" rtl="0">
              <a:spcBef>
                <a:spcPts val="1000"/>
              </a:spcBef>
              <a:spcAft>
                <a:spcPts val="0"/>
              </a:spcAft>
              <a:buSzPts val="1440"/>
              <a:buNone/>
            </a:pPr>
            <a:r>
              <a:rPr lang="en-US"/>
              <a:t> 	-     To detect early major issues.</a:t>
            </a:r>
            <a:endParaRPr/>
          </a:p>
          <a:p>
            <a:pPr marL="342900" lvl="0" indent="-251459" algn="l" rtl="0">
              <a:spcBef>
                <a:spcPts val="1000"/>
              </a:spcBef>
              <a:spcAft>
                <a:spcPts val="0"/>
              </a:spcAft>
              <a:buSzPts val="1440"/>
              <a:buNone/>
            </a:pP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36"/>
        <p:cNvGrpSpPr/>
        <p:nvPr/>
      </p:nvGrpSpPr>
      <p:grpSpPr>
        <a:xfrm>
          <a:off x="0" y="0"/>
          <a:ext cx="0" cy="0"/>
          <a:chOff x="0" y="0"/>
          <a:chExt cx="0" cy="0"/>
        </a:xfrm>
      </p:grpSpPr>
      <p:sp>
        <p:nvSpPr>
          <p:cNvPr id="437" name="Google Shape;437;p45"/>
          <p:cNvSpPr txBox="1">
            <a:spLocks noGrp="1"/>
          </p:cNvSpPr>
          <p:nvPr>
            <p:ph type="title"/>
          </p:nvPr>
        </p:nvSpPr>
        <p:spPr>
          <a:xfrm>
            <a:off x="677334" y="1001864"/>
            <a:ext cx="8596668" cy="928536"/>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EB7564"/>
              </a:buClr>
              <a:buSzPts val="3600"/>
              <a:buFont typeface="Trebuchet MS"/>
              <a:buNone/>
            </a:pPr>
            <a:r>
              <a:rPr lang="en-US">
                <a:solidFill>
                  <a:srgbClr val="EB7564"/>
                </a:solidFill>
              </a:rPr>
              <a:t>Sanity Testing?</a:t>
            </a:r>
            <a:endParaRPr/>
          </a:p>
        </p:txBody>
      </p:sp>
      <p:sp>
        <p:nvSpPr>
          <p:cNvPr id="438" name="Google Shape;438;p45"/>
          <p:cNvSpPr txBox="1">
            <a:spLocks noGrp="1"/>
          </p:cNvSpPr>
          <p:nvPr>
            <p:ph type="body" idx="1"/>
          </p:nvPr>
        </p:nvSpPr>
        <p:spPr>
          <a:xfrm>
            <a:off x="1776517" y="2200318"/>
            <a:ext cx="9853904" cy="572378"/>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1440"/>
              <a:buNone/>
            </a:pPr>
            <a:r>
              <a:rPr lang="en-US"/>
              <a:t>	To check the </a:t>
            </a:r>
            <a:r>
              <a:rPr lang="en-US" b="1"/>
              <a:t>new functionality/bugs have been fixed.</a:t>
            </a:r>
            <a:endParaRPr/>
          </a:p>
        </p:txBody>
      </p:sp>
      <p:pic>
        <p:nvPicPr>
          <p:cNvPr id="439" name="Google Shape;439;p45" descr="What is Sanity Testing? Advantages and Techniques - XenonStack"/>
          <p:cNvPicPr preferRelativeResize="0"/>
          <p:nvPr/>
        </p:nvPicPr>
        <p:blipFill rotWithShape="1">
          <a:blip r:embed="rId3">
            <a:alphaModFix/>
          </a:blip>
          <a:srcRect/>
          <a:stretch/>
        </p:blipFill>
        <p:spPr>
          <a:xfrm>
            <a:off x="2479911" y="2889805"/>
            <a:ext cx="6096000" cy="34290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444" name="Google Shape;444;p46"/>
          <p:cNvSpPr txBox="1">
            <a:spLocks noGrp="1"/>
          </p:cNvSpPr>
          <p:nvPr>
            <p:ph type="title"/>
          </p:nvPr>
        </p:nvSpPr>
        <p:spPr>
          <a:xfrm>
            <a:off x="303708" y="609600"/>
            <a:ext cx="8596668" cy="1016000"/>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rgbClr val="EB7564"/>
              </a:buClr>
              <a:buSzPts val="3600"/>
              <a:buFont typeface="Trebuchet MS"/>
              <a:buNone/>
            </a:pPr>
            <a:r>
              <a:rPr lang="en-US">
                <a:solidFill>
                  <a:srgbClr val="EB7564"/>
                </a:solidFill>
              </a:rPr>
              <a:t>Smoke</a:t>
            </a:r>
            <a:r>
              <a:rPr lang="en-US"/>
              <a:t> vs </a:t>
            </a:r>
            <a:r>
              <a:rPr lang="en-US">
                <a:solidFill>
                  <a:srgbClr val="FF0000"/>
                </a:solidFill>
              </a:rPr>
              <a:t>Sanity</a:t>
            </a:r>
            <a:endParaRPr/>
          </a:p>
        </p:txBody>
      </p:sp>
      <p:sp>
        <p:nvSpPr>
          <p:cNvPr id="445" name="Google Shape;445;p46"/>
          <p:cNvSpPr txBox="1">
            <a:spLocks noGrp="1"/>
          </p:cNvSpPr>
          <p:nvPr>
            <p:ph type="body" idx="1"/>
          </p:nvPr>
        </p:nvSpPr>
        <p:spPr>
          <a:xfrm>
            <a:off x="677334" y="1853688"/>
            <a:ext cx="3843062" cy="2209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1440"/>
              <a:buNone/>
            </a:pPr>
            <a:r>
              <a:rPr lang="en-US" b="1"/>
              <a:t>		</a:t>
            </a:r>
            <a:r>
              <a:rPr lang="en-US" b="1" u="sng"/>
              <a:t>Smoke Test</a:t>
            </a:r>
            <a:endParaRPr/>
          </a:p>
          <a:p>
            <a:pPr marL="342900" lvl="0" indent="-251459" algn="l" rtl="0">
              <a:spcBef>
                <a:spcPts val="1000"/>
              </a:spcBef>
              <a:spcAft>
                <a:spcPts val="0"/>
              </a:spcAft>
              <a:buSzPts val="1440"/>
              <a:buNone/>
            </a:pPr>
            <a:endParaRPr b="1"/>
          </a:p>
          <a:p>
            <a:pPr marL="0" lvl="0" indent="0" algn="l" rtl="0">
              <a:spcBef>
                <a:spcPts val="1000"/>
              </a:spcBef>
              <a:spcAft>
                <a:spcPts val="0"/>
              </a:spcAft>
              <a:buSzPts val="1440"/>
              <a:buNone/>
            </a:pPr>
            <a:r>
              <a:rPr lang="en-US"/>
              <a:t>It is like General Health Check Up</a:t>
            </a:r>
            <a:endParaRPr/>
          </a:p>
        </p:txBody>
      </p:sp>
      <p:sp>
        <p:nvSpPr>
          <p:cNvPr id="446" name="Google Shape;446;p46"/>
          <p:cNvSpPr txBox="1">
            <a:spLocks noGrp="1"/>
          </p:cNvSpPr>
          <p:nvPr>
            <p:ph type="body" idx="2"/>
          </p:nvPr>
        </p:nvSpPr>
        <p:spPr>
          <a:xfrm>
            <a:off x="4728634" y="1848772"/>
            <a:ext cx="3991625" cy="2209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1440"/>
              <a:buNone/>
            </a:pPr>
            <a:r>
              <a:rPr lang="en-US" b="1"/>
              <a:t>			</a:t>
            </a:r>
            <a:r>
              <a:rPr lang="en-US" b="1" u="sng"/>
              <a:t>Sanity Test</a:t>
            </a:r>
            <a:endParaRPr/>
          </a:p>
          <a:p>
            <a:pPr marL="0" lvl="0" indent="0" algn="ctr" rtl="0">
              <a:spcBef>
                <a:spcPts val="1000"/>
              </a:spcBef>
              <a:spcAft>
                <a:spcPts val="0"/>
              </a:spcAft>
              <a:buSzPts val="1440"/>
              <a:buNone/>
            </a:pPr>
            <a:endParaRPr b="1"/>
          </a:p>
          <a:p>
            <a:pPr marL="0" lvl="0" indent="0" algn="l" rtl="0">
              <a:spcBef>
                <a:spcPts val="1000"/>
              </a:spcBef>
              <a:spcAft>
                <a:spcPts val="0"/>
              </a:spcAft>
              <a:buSzPts val="1440"/>
              <a:buNone/>
            </a:pPr>
            <a:r>
              <a:rPr lang="en-US"/>
              <a:t>It is like specialized health check up</a:t>
            </a:r>
            <a:endParaRPr/>
          </a:p>
        </p:txBody>
      </p:sp>
      <p:pic>
        <p:nvPicPr>
          <p:cNvPr id="447" name="Google Shape;447;p46" descr="Sanity Testing vs. Smoke Testing - Dragon Blogger Technology"/>
          <p:cNvPicPr preferRelativeResize="0"/>
          <p:nvPr/>
        </p:nvPicPr>
        <p:blipFill rotWithShape="1">
          <a:blip r:embed="rId3">
            <a:alphaModFix/>
          </a:blip>
          <a:srcRect/>
          <a:stretch/>
        </p:blipFill>
        <p:spPr>
          <a:xfrm>
            <a:off x="677334" y="3847485"/>
            <a:ext cx="8102600" cy="22098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51"/>
        <p:cNvGrpSpPr/>
        <p:nvPr/>
      </p:nvGrpSpPr>
      <p:grpSpPr>
        <a:xfrm>
          <a:off x="0" y="0"/>
          <a:ext cx="0" cy="0"/>
          <a:chOff x="0" y="0"/>
          <a:chExt cx="0" cy="0"/>
        </a:xfrm>
      </p:grpSpPr>
      <p:sp>
        <p:nvSpPr>
          <p:cNvPr id="452" name="Google Shape;452;p47"/>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Ad-hoc Testing</a:t>
            </a:r>
            <a:endParaRPr/>
          </a:p>
        </p:txBody>
      </p:sp>
      <p:sp>
        <p:nvSpPr>
          <p:cNvPr id="453" name="Google Shape;453;p47"/>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p>
            <a:pPr marL="342900" lvl="0" indent="-342900" algn="l" rtl="0">
              <a:lnSpc>
                <a:spcPct val="150000"/>
              </a:lnSpc>
              <a:spcBef>
                <a:spcPts val="0"/>
              </a:spcBef>
              <a:spcAft>
                <a:spcPts val="0"/>
              </a:spcAft>
              <a:buSzPts val="1440"/>
              <a:buChar char="►"/>
            </a:pPr>
            <a:r>
              <a:rPr lang="en-US"/>
              <a:t>When a software </a:t>
            </a:r>
            <a:r>
              <a:rPr lang="en-US" b="1"/>
              <a:t>testing performed</a:t>
            </a:r>
            <a:r>
              <a:rPr lang="en-US"/>
              <a:t> without proper planning and documentation, it is said to be </a:t>
            </a:r>
            <a:r>
              <a:rPr lang="en-US" b="1"/>
              <a:t>Adhoc Testing</a:t>
            </a:r>
            <a:r>
              <a:rPr lang="en-US"/>
              <a:t>. Such kind of </a:t>
            </a:r>
            <a:r>
              <a:rPr lang="en-US" b="1"/>
              <a:t>tests</a:t>
            </a:r>
            <a:r>
              <a:rPr lang="en-US"/>
              <a:t> are </a:t>
            </a:r>
            <a:r>
              <a:rPr lang="en-US" b="1"/>
              <a:t>executed</a:t>
            </a:r>
            <a:r>
              <a:rPr lang="en-US"/>
              <a:t> only once unless we uncover the defects. </a:t>
            </a:r>
            <a:r>
              <a:rPr lang="en-US" b="1"/>
              <a:t>Adhoc Tests</a:t>
            </a:r>
            <a:r>
              <a:rPr lang="en-US"/>
              <a:t> are done after formal </a:t>
            </a:r>
            <a:r>
              <a:rPr lang="en-US" b="1"/>
              <a:t>testing is performed</a:t>
            </a:r>
            <a:r>
              <a:rPr lang="en-US"/>
              <a:t> on the application.</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Shape 457"/>
        <p:cNvGrpSpPr/>
        <p:nvPr/>
      </p:nvGrpSpPr>
      <p:grpSpPr>
        <a:xfrm>
          <a:off x="0" y="0"/>
          <a:ext cx="0" cy="0"/>
          <a:chOff x="0" y="0"/>
          <a:chExt cx="0" cy="0"/>
        </a:xfrm>
      </p:grpSpPr>
      <p:pic>
        <p:nvPicPr>
          <p:cNvPr id="458" name="Google Shape;458;p48"/>
          <p:cNvPicPr preferRelativeResize="0">
            <a:picLocks noGrp="1"/>
          </p:cNvPicPr>
          <p:nvPr>
            <p:ph type="body" idx="1"/>
          </p:nvPr>
        </p:nvPicPr>
        <p:blipFill rotWithShape="1">
          <a:blip r:embed="rId3">
            <a:alphaModFix/>
          </a:blip>
          <a:srcRect/>
          <a:stretch/>
        </p:blipFill>
        <p:spPr>
          <a:xfrm>
            <a:off x="1056640" y="0"/>
            <a:ext cx="9621520" cy="6858000"/>
          </a:xfrm>
          <a:prstGeom prst="rect">
            <a:avLst/>
          </a:prstGeom>
          <a:noFill/>
          <a:ln>
            <a:noFill/>
          </a:ln>
        </p:spPr>
      </p:pic>
      <p:pic>
        <p:nvPicPr>
          <p:cNvPr id="459" name="Google Shape;459;p48"/>
          <p:cNvPicPr preferRelativeResize="0"/>
          <p:nvPr/>
        </p:nvPicPr>
        <p:blipFill rotWithShape="1">
          <a:blip r:embed="rId4">
            <a:alphaModFix/>
          </a:blip>
          <a:srcRect/>
          <a:stretch/>
        </p:blipFill>
        <p:spPr>
          <a:xfrm>
            <a:off x="8347894" y="5961574"/>
            <a:ext cx="1847850" cy="657225"/>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464" name="Google Shape;464;p49"/>
          <p:cNvSpPr txBox="1">
            <a:spLocks noGrp="1"/>
          </p:cNvSpPr>
          <p:nvPr>
            <p:ph type="title"/>
          </p:nvPr>
        </p:nvSpPr>
        <p:spPr>
          <a:xfrm>
            <a:off x="1142709" y="721261"/>
            <a:ext cx="10157354" cy="900043"/>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EB7564"/>
              </a:buClr>
              <a:buSzPts val="3600"/>
              <a:buFont typeface="Trebuchet MS"/>
              <a:buNone/>
            </a:pPr>
            <a:r>
              <a:rPr lang="en-US">
                <a:solidFill>
                  <a:srgbClr val="EB7564"/>
                </a:solidFill>
              </a:rPr>
              <a:t>Regression Testing</a:t>
            </a:r>
            <a:endParaRPr/>
          </a:p>
        </p:txBody>
      </p:sp>
      <p:sp>
        <p:nvSpPr>
          <p:cNvPr id="465" name="Google Shape;465;p49"/>
          <p:cNvSpPr txBox="1">
            <a:spLocks noGrp="1"/>
          </p:cNvSpPr>
          <p:nvPr>
            <p:ph type="body" idx="1"/>
          </p:nvPr>
        </p:nvSpPr>
        <p:spPr>
          <a:xfrm>
            <a:off x="2261600" y="1621304"/>
            <a:ext cx="6926788" cy="4797201"/>
          </a:xfrm>
          <a:prstGeom prst="rect">
            <a:avLst/>
          </a:prstGeom>
          <a:noFill/>
          <a:ln>
            <a:noFill/>
          </a:ln>
        </p:spPr>
        <p:txBody>
          <a:bodyPr spcFirstLastPara="1" wrap="square" lIns="91425" tIns="45700" rIns="91425" bIns="45700" anchor="t" anchorCtr="0">
            <a:normAutofit/>
          </a:bodyPr>
          <a:lstStyle/>
          <a:p>
            <a:pPr marL="342900" lvl="0" indent="-342900" algn="l" rtl="0">
              <a:lnSpc>
                <a:spcPct val="200000"/>
              </a:lnSpc>
              <a:spcBef>
                <a:spcPts val="0"/>
              </a:spcBef>
              <a:spcAft>
                <a:spcPts val="0"/>
              </a:spcAft>
              <a:buSzPts val="1440"/>
              <a:buFont typeface="Noto Sans Symbols"/>
              <a:buChar char="✔"/>
            </a:pPr>
            <a:r>
              <a:rPr lang="en-US">
                <a:solidFill>
                  <a:srgbClr val="3A3A3A"/>
                </a:solidFill>
                <a:latin typeface="Work Sans"/>
                <a:ea typeface="Work Sans"/>
                <a:cs typeface="Work Sans"/>
                <a:sym typeface="Work Sans"/>
              </a:rPr>
              <a:t>It </a:t>
            </a:r>
            <a:r>
              <a:rPr lang="en-US" b="0" i="0">
                <a:solidFill>
                  <a:srgbClr val="3A3A3A"/>
                </a:solidFill>
                <a:latin typeface="Work Sans"/>
                <a:ea typeface="Work Sans"/>
                <a:cs typeface="Work Sans"/>
                <a:sym typeface="Work Sans"/>
              </a:rPr>
              <a:t>is done to verify that a code change in the software does not impact the existing functionality of the product. </a:t>
            </a:r>
            <a:endParaRPr/>
          </a:p>
          <a:p>
            <a:pPr marL="342900" lvl="0" indent="-337820" algn="l" rtl="0">
              <a:lnSpc>
                <a:spcPct val="200000"/>
              </a:lnSpc>
              <a:spcBef>
                <a:spcPts val="1000"/>
              </a:spcBef>
              <a:spcAft>
                <a:spcPts val="0"/>
              </a:spcAft>
              <a:buFont typeface="Noto Sans Symbols"/>
              <a:buNone/>
            </a:pPr>
            <a:endParaRPr sz="100" b="0" i="0">
              <a:solidFill>
                <a:srgbClr val="3A3A3A"/>
              </a:solidFill>
              <a:latin typeface="Work Sans"/>
              <a:ea typeface="Work Sans"/>
              <a:cs typeface="Work Sans"/>
              <a:sym typeface="Work Sans"/>
            </a:endParaRPr>
          </a:p>
          <a:p>
            <a:pPr marL="342900" lvl="0" indent="-342900" algn="l" rtl="0">
              <a:lnSpc>
                <a:spcPct val="200000"/>
              </a:lnSpc>
              <a:spcBef>
                <a:spcPts val="1000"/>
              </a:spcBef>
              <a:spcAft>
                <a:spcPts val="0"/>
              </a:spcAft>
              <a:buSzPts val="1440"/>
              <a:buFont typeface="Noto Sans Symbols"/>
              <a:buChar char="✔"/>
            </a:pPr>
            <a:r>
              <a:rPr lang="en-US" b="0" i="0">
                <a:solidFill>
                  <a:srgbClr val="3A3A3A"/>
                </a:solidFill>
                <a:latin typeface="Work Sans"/>
                <a:ea typeface="Work Sans"/>
                <a:cs typeface="Work Sans"/>
                <a:sym typeface="Work Sans"/>
              </a:rPr>
              <a:t>This is to make sure the product works fine with new functionality, bug fixes or any change in the existing feature. </a:t>
            </a:r>
            <a:endParaRPr/>
          </a:p>
          <a:p>
            <a:pPr marL="342900" lvl="0" indent="-332740" algn="l" rtl="0">
              <a:lnSpc>
                <a:spcPct val="200000"/>
              </a:lnSpc>
              <a:spcBef>
                <a:spcPts val="1000"/>
              </a:spcBef>
              <a:spcAft>
                <a:spcPts val="0"/>
              </a:spcAft>
              <a:buSzPts val="160"/>
              <a:buFont typeface="Noto Sans Symbols"/>
              <a:buNone/>
            </a:pPr>
            <a:endParaRPr sz="200" b="0" i="0">
              <a:solidFill>
                <a:srgbClr val="3A3A3A"/>
              </a:solidFill>
              <a:latin typeface="Work Sans"/>
              <a:ea typeface="Work Sans"/>
              <a:cs typeface="Work Sans"/>
              <a:sym typeface="Work Sans"/>
            </a:endParaRPr>
          </a:p>
          <a:p>
            <a:pPr marL="342900" lvl="0" indent="-342900" algn="l" rtl="0">
              <a:lnSpc>
                <a:spcPct val="200000"/>
              </a:lnSpc>
              <a:spcBef>
                <a:spcPts val="1000"/>
              </a:spcBef>
              <a:spcAft>
                <a:spcPts val="0"/>
              </a:spcAft>
              <a:buSzPts val="1440"/>
              <a:buFont typeface="Noto Sans Symbols"/>
              <a:buChar char="✔"/>
            </a:pPr>
            <a:r>
              <a:rPr lang="en-US" b="0" i="0">
                <a:solidFill>
                  <a:srgbClr val="3A3A3A"/>
                </a:solidFill>
                <a:latin typeface="Work Sans"/>
                <a:ea typeface="Work Sans"/>
                <a:cs typeface="Work Sans"/>
                <a:sym typeface="Work Sans"/>
              </a:rPr>
              <a:t>Previously executed test cases are re-executed in order to verify the impact of change.</a:t>
            </a:r>
            <a:endParaRPr b="1"/>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sp>
        <p:nvSpPr>
          <p:cNvPr id="470" name="Google Shape;470;p50"/>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chemeClr val="accent1"/>
              </a:buClr>
              <a:buSzPts val="3600"/>
              <a:buFont typeface="Trebuchet MS"/>
              <a:buNone/>
            </a:pPr>
            <a:r>
              <a:rPr lang="en-US"/>
              <a:t>Regression</a:t>
            </a:r>
            <a:endParaRPr/>
          </a:p>
        </p:txBody>
      </p:sp>
      <p:pic>
        <p:nvPicPr>
          <p:cNvPr id="471" name="Google Shape;471;p50" descr="Regression Testing In Agile Scenario | Regression testing ..."/>
          <p:cNvPicPr preferRelativeResize="0"/>
          <p:nvPr/>
        </p:nvPicPr>
        <p:blipFill rotWithShape="1">
          <a:blip r:embed="rId3">
            <a:alphaModFix/>
          </a:blip>
          <a:srcRect/>
          <a:stretch/>
        </p:blipFill>
        <p:spPr>
          <a:xfrm>
            <a:off x="4377273" y="1930400"/>
            <a:ext cx="6029018" cy="3617411"/>
          </a:xfrm>
          <a:prstGeom prst="rect">
            <a:avLst/>
          </a:prstGeom>
          <a:noFill/>
          <a:ln>
            <a:noFill/>
          </a:ln>
        </p:spPr>
      </p:pic>
      <p:pic>
        <p:nvPicPr>
          <p:cNvPr id="472" name="Google Shape;472;p50"/>
          <p:cNvPicPr preferRelativeResize="0"/>
          <p:nvPr/>
        </p:nvPicPr>
        <p:blipFill rotWithShape="1">
          <a:blip r:embed="rId4">
            <a:alphaModFix/>
          </a:blip>
          <a:srcRect/>
          <a:stretch/>
        </p:blipFill>
        <p:spPr>
          <a:xfrm>
            <a:off x="3309212" y="1917598"/>
            <a:ext cx="5810250" cy="390525"/>
          </a:xfrm>
          <a:prstGeom prst="rect">
            <a:avLst/>
          </a:prstGeom>
          <a:noFill/>
          <a:ln>
            <a:noFill/>
          </a:ln>
        </p:spPr>
      </p:pic>
      <p:pic>
        <p:nvPicPr>
          <p:cNvPr id="473" name="Google Shape;473;p50" descr="Regression testing"/>
          <p:cNvPicPr preferRelativeResize="0">
            <a:picLocks noGrp="1"/>
          </p:cNvPicPr>
          <p:nvPr>
            <p:ph type="body" idx="1"/>
          </p:nvPr>
        </p:nvPicPr>
        <p:blipFill rotWithShape="1">
          <a:blip r:embed="rId5">
            <a:alphaModFix/>
          </a:blip>
          <a:srcRect/>
          <a:stretch/>
        </p:blipFill>
        <p:spPr>
          <a:xfrm>
            <a:off x="593410" y="2295320"/>
            <a:ext cx="3048000" cy="1857375"/>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77"/>
        <p:cNvGrpSpPr/>
        <p:nvPr/>
      </p:nvGrpSpPr>
      <p:grpSpPr>
        <a:xfrm>
          <a:off x="0" y="0"/>
          <a:ext cx="0" cy="0"/>
          <a:chOff x="0" y="0"/>
          <a:chExt cx="0" cy="0"/>
        </a:xfrm>
      </p:grpSpPr>
      <p:sp>
        <p:nvSpPr>
          <p:cNvPr id="478" name="Google Shape;478;p51"/>
          <p:cNvSpPr txBox="1">
            <a:spLocks noGrp="1"/>
          </p:cNvSpPr>
          <p:nvPr>
            <p:ph type="title"/>
          </p:nvPr>
        </p:nvSpPr>
        <p:spPr>
          <a:xfrm>
            <a:off x="677334" y="1041620"/>
            <a:ext cx="8596668" cy="888779"/>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EB7564"/>
              </a:buClr>
              <a:buSzPts val="3600"/>
              <a:buFont typeface="Trebuchet MS"/>
              <a:buNone/>
            </a:pPr>
            <a:r>
              <a:rPr lang="en-US">
                <a:solidFill>
                  <a:srgbClr val="EB7564"/>
                </a:solidFill>
              </a:rPr>
              <a:t>When</a:t>
            </a:r>
            <a:r>
              <a:rPr lang="en-US"/>
              <a:t> Regression Testing?</a:t>
            </a:r>
            <a:endParaRPr/>
          </a:p>
        </p:txBody>
      </p:sp>
      <p:sp>
        <p:nvSpPr>
          <p:cNvPr id="479" name="Google Shape;479;p51"/>
          <p:cNvSpPr txBox="1">
            <a:spLocks noGrp="1"/>
          </p:cNvSpPr>
          <p:nvPr>
            <p:ph type="body" idx="1"/>
          </p:nvPr>
        </p:nvSpPr>
        <p:spPr>
          <a:xfrm>
            <a:off x="1118897" y="2057400"/>
            <a:ext cx="9168103" cy="4114800"/>
          </a:xfrm>
          <a:prstGeom prst="rect">
            <a:avLst/>
          </a:prstGeom>
          <a:noFill/>
          <a:ln>
            <a:noFill/>
          </a:ln>
        </p:spPr>
        <p:txBody>
          <a:bodyPr spcFirstLastPara="1" wrap="square" lIns="91425" tIns="45700" rIns="91425" bIns="45700" anchor="t" anchorCtr="0">
            <a:normAutofit/>
          </a:bodyPr>
          <a:lstStyle/>
          <a:p>
            <a:pPr marL="342900" lvl="0" indent="-342900" algn="l" rtl="0">
              <a:lnSpc>
                <a:spcPct val="150000"/>
              </a:lnSpc>
              <a:spcBef>
                <a:spcPts val="0"/>
              </a:spcBef>
              <a:spcAft>
                <a:spcPts val="0"/>
              </a:spcAft>
              <a:buSzPts val="1440"/>
              <a:buChar char="►"/>
            </a:pPr>
            <a:r>
              <a:rPr lang="en-US"/>
              <a:t>After the changes in requirements and code modified according to the requirement</a:t>
            </a:r>
            <a:endParaRPr/>
          </a:p>
          <a:p>
            <a:pPr marL="342900" lvl="0" indent="-342900" algn="l" rtl="0">
              <a:lnSpc>
                <a:spcPct val="150000"/>
              </a:lnSpc>
              <a:spcBef>
                <a:spcPts val="1000"/>
              </a:spcBef>
              <a:spcAft>
                <a:spcPts val="0"/>
              </a:spcAft>
              <a:buSzPts val="1440"/>
              <a:buChar char="►"/>
            </a:pPr>
            <a:r>
              <a:rPr lang="en-US"/>
              <a:t>After new feature added to the software</a:t>
            </a:r>
            <a:endParaRPr/>
          </a:p>
          <a:p>
            <a:pPr marL="342900" lvl="0" indent="-342900" algn="l" rtl="0">
              <a:lnSpc>
                <a:spcPct val="150000"/>
              </a:lnSpc>
              <a:spcBef>
                <a:spcPts val="1000"/>
              </a:spcBef>
              <a:spcAft>
                <a:spcPts val="0"/>
              </a:spcAft>
              <a:buSzPts val="1440"/>
              <a:buChar char="►"/>
            </a:pPr>
            <a:r>
              <a:rPr lang="en-US"/>
              <a:t>After defect fixed</a:t>
            </a:r>
            <a:endParaRPr/>
          </a:p>
          <a:p>
            <a:pPr marL="342900" lvl="0" indent="-342900" algn="l" rtl="0">
              <a:lnSpc>
                <a:spcPct val="150000"/>
              </a:lnSpc>
              <a:spcBef>
                <a:spcPts val="1000"/>
              </a:spcBef>
              <a:spcAft>
                <a:spcPts val="0"/>
              </a:spcAft>
              <a:buSzPts val="1440"/>
              <a:buChar char="►"/>
            </a:pPr>
            <a:r>
              <a:rPr lang="en-US"/>
              <a:t>After performance issue fixed </a:t>
            </a:r>
            <a:endParaRPr/>
          </a:p>
          <a:p>
            <a:pPr marL="342900" lvl="0" indent="-342900" algn="l" rtl="0">
              <a:lnSpc>
                <a:spcPct val="150000"/>
              </a:lnSpc>
              <a:spcBef>
                <a:spcPts val="1000"/>
              </a:spcBef>
              <a:spcAft>
                <a:spcPts val="0"/>
              </a:spcAft>
              <a:buSzPts val="1440"/>
              <a:buChar char="►"/>
            </a:pPr>
            <a:r>
              <a:rPr lang="en-US"/>
              <a:t>After alterations to an application's hosting environment.</a:t>
            </a:r>
            <a:endParaRPr/>
          </a:p>
          <a:p>
            <a:pPr marL="342900" lvl="0" indent="-251459" algn="l" rtl="0">
              <a:lnSpc>
                <a:spcPct val="150000"/>
              </a:lnSpc>
              <a:spcBef>
                <a:spcPts val="1000"/>
              </a:spcBef>
              <a:spcAft>
                <a:spcPts val="0"/>
              </a:spcAft>
              <a:buSzPts val="1440"/>
              <a:buNone/>
            </a:pP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83"/>
        <p:cNvGrpSpPr/>
        <p:nvPr/>
      </p:nvGrpSpPr>
      <p:grpSpPr>
        <a:xfrm>
          <a:off x="0" y="0"/>
          <a:ext cx="0" cy="0"/>
          <a:chOff x="0" y="0"/>
          <a:chExt cx="0" cy="0"/>
        </a:xfrm>
      </p:grpSpPr>
      <p:sp>
        <p:nvSpPr>
          <p:cNvPr id="484" name="Google Shape;484;p52"/>
          <p:cNvSpPr txBox="1">
            <a:spLocks noGrp="1"/>
          </p:cNvSpPr>
          <p:nvPr>
            <p:ph type="title"/>
          </p:nvPr>
        </p:nvSpPr>
        <p:spPr>
          <a:xfrm>
            <a:off x="677334" y="209550"/>
            <a:ext cx="8596668" cy="582386"/>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chemeClr val="accent1"/>
              </a:buClr>
              <a:buSzPct val="100000"/>
              <a:buFont typeface="Trebuchet MS"/>
              <a:buNone/>
            </a:pPr>
            <a:r>
              <a:rPr lang="en-US" b="1"/>
              <a:t>Selecting Test Cases for Regression Testing</a:t>
            </a:r>
            <a:br>
              <a:rPr lang="en-US" b="1"/>
            </a:br>
            <a:endParaRPr/>
          </a:p>
        </p:txBody>
      </p:sp>
      <p:sp>
        <p:nvSpPr>
          <p:cNvPr id="485" name="Google Shape;485;p52"/>
          <p:cNvSpPr txBox="1">
            <a:spLocks noGrp="1"/>
          </p:cNvSpPr>
          <p:nvPr>
            <p:ph type="body" idx="1"/>
          </p:nvPr>
        </p:nvSpPr>
        <p:spPr>
          <a:xfrm>
            <a:off x="677333" y="955221"/>
            <a:ext cx="9511695" cy="5676488"/>
          </a:xfrm>
          <a:prstGeom prst="rect">
            <a:avLst/>
          </a:prstGeom>
          <a:noFill/>
          <a:ln>
            <a:noFill/>
          </a:ln>
        </p:spPr>
        <p:txBody>
          <a:bodyPr spcFirstLastPara="1" wrap="square" lIns="91425" tIns="45700" rIns="91425" bIns="45700" anchor="t" anchorCtr="0">
            <a:normAutofit/>
          </a:bodyPr>
          <a:lstStyle/>
          <a:p>
            <a:pPr marL="0" lvl="0" indent="0" algn="l" rtl="0">
              <a:lnSpc>
                <a:spcPct val="150000"/>
              </a:lnSpc>
              <a:spcBef>
                <a:spcPts val="0"/>
              </a:spcBef>
              <a:spcAft>
                <a:spcPts val="0"/>
              </a:spcAft>
              <a:buSzPts val="1440"/>
              <a:buNone/>
            </a:pPr>
            <a:r>
              <a:rPr lang="en-US"/>
              <a:t>1. Select test cases for Regression; there are recent code changes /functional changes</a:t>
            </a:r>
            <a:endParaRPr/>
          </a:p>
          <a:p>
            <a:pPr marL="0" lvl="0" indent="0" algn="l" rtl="0">
              <a:lnSpc>
                <a:spcPct val="150000"/>
              </a:lnSpc>
              <a:spcBef>
                <a:spcPts val="1000"/>
              </a:spcBef>
              <a:spcAft>
                <a:spcPts val="0"/>
              </a:spcAft>
              <a:buSzPts val="1440"/>
              <a:buNone/>
            </a:pPr>
            <a:r>
              <a:rPr lang="en-US"/>
              <a:t>2. Select test cases that map to the business requirements </a:t>
            </a:r>
            <a:endParaRPr/>
          </a:p>
          <a:p>
            <a:pPr marL="0" lvl="0" indent="0" algn="l" rtl="0">
              <a:lnSpc>
                <a:spcPct val="150000"/>
              </a:lnSpc>
              <a:spcBef>
                <a:spcPts val="1000"/>
              </a:spcBef>
              <a:spcAft>
                <a:spcPts val="0"/>
              </a:spcAft>
              <a:buSzPts val="1440"/>
              <a:buNone/>
            </a:pPr>
            <a:r>
              <a:rPr lang="en-US"/>
              <a:t>3. Select test cases for Regression testing in areas with frequent bugs/defects</a:t>
            </a:r>
            <a:endParaRPr/>
          </a:p>
          <a:p>
            <a:pPr marL="0" lvl="0" indent="0" algn="l" rtl="0">
              <a:lnSpc>
                <a:spcPct val="150000"/>
              </a:lnSpc>
              <a:spcBef>
                <a:spcPts val="1000"/>
              </a:spcBef>
              <a:spcAft>
                <a:spcPts val="0"/>
              </a:spcAft>
              <a:buSzPts val="1440"/>
              <a:buNone/>
            </a:pPr>
            <a:r>
              <a:rPr lang="en-US"/>
              <a:t>4. Select test cases for Regression testing of the areas which are visible to the user</a:t>
            </a:r>
            <a:endParaRPr/>
          </a:p>
          <a:p>
            <a:pPr marL="0" lvl="0" indent="0" algn="l" rtl="0">
              <a:lnSpc>
                <a:spcPct val="150000"/>
              </a:lnSpc>
              <a:spcBef>
                <a:spcPts val="1000"/>
              </a:spcBef>
              <a:spcAft>
                <a:spcPts val="0"/>
              </a:spcAft>
              <a:buSzPts val="1440"/>
              <a:buNone/>
            </a:pPr>
            <a:r>
              <a:rPr lang="en-US"/>
              <a:t>5. Select all integration test cases for Regression testing</a:t>
            </a:r>
            <a:endParaRPr/>
          </a:p>
          <a:p>
            <a:pPr marL="0" lvl="0" indent="0" algn="l" rtl="0">
              <a:lnSpc>
                <a:spcPct val="150000"/>
              </a:lnSpc>
              <a:spcBef>
                <a:spcPts val="1000"/>
              </a:spcBef>
              <a:spcAft>
                <a:spcPts val="0"/>
              </a:spcAft>
              <a:buSzPts val="1440"/>
              <a:buNone/>
            </a:pPr>
            <a:r>
              <a:rPr lang="en-US"/>
              <a:t>6. Select all complex test cases for Regression testing</a:t>
            </a:r>
            <a:endParaRPr/>
          </a:p>
          <a:p>
            <a:pPr marL="0" lvl="0" indent="0" algn="l" rtl="0">
              <a:lnSpc>
                <a:spcPct val="150000"/>
              </a:lnSpc>
              <a:spcBef>
                <a:spcPts val="1000"/>
              </a:spcBef>
              <a:spcAft>
                <a:spcPts val="0"/>
              </a:spcAft>
              <a:buSzPts val="1440"/>
              <a:buNone/>
            </a:pPr>
            <a:r>
              <a:rPr lang="en-US"/>
              <a:t>7. Select test cases based on priorities for Regression testing</a:t>
            </a:r>
            <a:endParaRPr/>
          </a:p>
          <a:p>
            <a:pPr marL="0" lvl="0" indent="0" algn="l" rtl="0">
              <a:lnSpc>
                <a:spcPct val="150000"/>
              </a:lnSpc>
              <a:spcBef>
                <a:spcPts val="1000"/>
              </a:spcBef>
              <a:spcAft>
                <a:spcPts val="0"/>
              </a:spcAft>
              <a:buSzPts val="1440"/>
              <a:buNone/>
            </a:pPr>
            <a:r>
              <a:rPr lang="en-US"/>
              <a:t>8. Select test cases for Regression testing based on criticality and impact of bug fixes</a:t>
            </a:r>
            <a:endParaRPr/>
          </a:p>
          <a:p>
            <a:pPr marL="0" lvl="0" indent="0" algn="l" rtl="0">
              <a:lnSpc>
                <a:spcPct val="150000"/>
              </a:lnSpc>
              <a:spcBef>
                <a:spcPts val="1000"/>
              </a:spcBef>
              <a:spcAft>
                <a:spcPts val="0"/>
              </a:spcAft>
              <a:buSzPts val="1440"/>
              <a:buNone/>
            </a:pPr>
            <a:r>
              <a:rPr lang="en-US"/>
              <a:t>9. Select a sample of successful and failed test cases for Regression testing</a:t>
            </a:r>
            <a:endParaRPr/>
          </a:p>
          <a:p>
            <a:pPr marL="0" lvl="0" indent="0" algn="l" rtl="0">
              <a:lnSpc>
                <a:spcPct val="150000"/>
              </a:lnSpc>
              <a:spcBef>
                <a:spcPts val="1000"/>
              </a:spcBef>
              <a:spcAft>
                <a:spcPts val="0"/>
              </a:spcAft>
              <a:buSzPts val="1440"/>
              <a:buNone/>
            </a:pPr>
            <a:r>
              <a:rPr lang="en-US"/>
              <a:t>10. Functionalities which are more visible to the users</a:t>
            </a:r>
            <a:endParaRPr/>
          </a:p>
          <a:p>
            <a:pPr marL="0" lvl="0" indent="0" algn="l" rtl="0">
              <a:lnSpc>
                <a:spcPct val="150000"/>
              </a:lnSpc>
              <a:spcBef>
                <a:spcPts val="1000"/>
              </a:spcBef>
              <a:spcAft>
                <a:spcPts val="0"/>
              </a:spcAft>
              <a:buSzPts val="1440"/>
              <a:buNone/>
            </a:pP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sp>
        <p:nvSpPr>
          <p:cNvPr id="490" name="Google Shape;490;p53"/>
          <p:cNvSpPr txBox="1">
            <a:spLocks noGrp="1"/>
          </p:cNvSpPr>
          <p:nvPr>
            <p:ph type="title"/>
          </p:nvPr>
        </p:nvSpPr>
        <p:spPr>
          <a:xfrm>
            <a:off x="339982" y="581891"/>
            <a:ext cx="9008204" cy="1264664"/>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rgbClr val="3A3A3A"/>
              </a:buClr>
              <a:buSzPct val="100000"/>
              <a:buFont typeface="Work Sans"/>
              <a:buNone/>
            </a:pPr>
            <a:r>
              <a:rPr lang="en-US" b="1" i="0">
                <a:solidFill>
                  <a:srgbClr val="3A3A3A"/>
                </a:solidFill>
                <a:latin typeface="Work Sans"/>
                <a:ea typeface="Work Sans"/>
                <a:cs typeface="Work Sans"/>
                <a:sym typeface="Work Sans"/>
              </a:rPr>
              <a:t>Regression check is covered under </a:t>
            </a:r>
            <a:br>
              <a:rPr lang="en-US" b="1" i="0">
                <a:solidFill>
                  <a:srgbClr val="3A3A3A"/>
                </a:solidFill>
                <a:latin typeface="Work Sans"/>
                <a:ea typeface="Work Sans"/>
                <a:cs typeface="Work Sans"/>
                <a:sym typeface="Work Sans"/>
              </a:rPr>
            </a:br>
            <a:r>
              <a:rPr lang="en-US" b="1" i="0" u="sng">
                <a:solidFill>
                  <a:srgbClr val="3A3A3A"/>
                </a:solidFill>
                <a:latin typeface="Work Sans"/>
                <a:ea typeface="Work Sans"/>
                <a:cs typeface="Work Sans"/>
                <a:sym typeface="Work Sans"/>
              </a:rPr>
              <a:t>two categories</a:t>
            </a:r>
            <a:r>
              <a:rPr lang="en-US" b="1" i="0">
                <a:solidFill>
                  <a:srgbClr val="3A3A3A"/>
                </a:solidFill>
                <a:latin typeface="Work Sans"/>
                <a:ea typeface="Work Sans"/>
                <a:cs typeface="Work Sans"/>
                <a:sym typeface="Work Sans"/>
              </a:rPr>
              <a:t>:</a:t>
            </a:r>
            <a:br>
              <a:rPr lang="en-US" b="0" i="0">
                <a:solidFill>
                  <a:srgbClr val="3A3A3A"/>
                </a:solidFill>
                <a:latin typeface="Work Sans"/>
                <a:ea typeface="Work Sans"/>
                <a:cs typeface="Work Sans"/>
                <a:sym typeface="Work Sans"/>
              </a:rPr>
            </a:br>
            <a:endParaRPr/>
          </a:p>
        </p:txBody>
      </p:sp>
      <p:sp>
        <p:nvSpPr>
          <p:cNvPr id="491" name="Google Shape;491;p53"/>
          <p:cNvSpPr txBox="1">
            <a:spLocks noGrp="1"/>
          </p:cNvSpPr>
          <p:nvPr>
            <p:ph type="body" idx="1"/>
          </p:nvPr>
        </p:nvSpPr>
        <p:spPr>
          <a:xfrm>
            <a:off x="677334" y="1846555"/>
            <a:ext cx="9443210" cy="4749554"/>
          </a:xfrm>
          <a:prstGeom prst="rect">
            <a:avLst/>
          </a:prstGeom>
          <a:noFill/>
          <a:ln>
            <a:noFill/>
          </a:ln>
        </p:spPr>
        <p:txBody>
          <a:bodyPr spcFirstLastPara="1" wrap="square" lIns="91425" tIns="45700" rIns="91425" bIns="45700" anchor="t" anchorCtr="0">
            <a:normAutofit/>
          </a:bodyPr>
          <a:lstStyle/>
          <a:p>
            <a:pPr marL="1257300" lvl="3" indent="0" algn="l" rtl="0">
              <a:spcBef>
                <a:spcPts val="0"/>
              </a:spcBef>
              <a:spcAft>
                <a:spcPts val="0"/>
              </a:spcAft>
              <a:buSzPts val="1440"/>
              <a:buNone/>
            </a:pPr>
            <a:r>
              <a:rPr lang="en-US" sz="1800" b="0" i="0">
                <a:solidFill>
                  <a:srgbClr val="3A3A3A"/>
                </a:solidFill>
                <a:latin typeface="Work Sans"/>
                <a:ea typeface="Work Sans"/>
                <a:cs typeface="Work Sans"/>
                <a:sym typeface="Work Sans"/>
              </a:rPr>
              <a:t>Sprint Level Regression</a:t>
            </a:r>
            <a:endParaRPr/>
          </a:p>
          <a:p>
            <a:pPr marL="1257300" lvl="3" indent="0" algn="l" rtl="0">
              <a:spcBef>
                <a:spcPts val="1000"/>
              </a:spcBef>
              <a:spcAft>
                <a:spcPts val="0"/>
              </a:spcAft>
              <a:buSzPts val="1440"/>
              <a:buNone/>
            </a:pPr>
            <a:r>
              <a:rPr lang="en-US" sz="1800" b="0" i="0">
                <a:solidFill>
                  <a:srgbClr val="3A3A3A"/>
                </a:solidFill>
                <a:latin typeface="Work Sans"/>
                <a:ea typeface="Work Sans"/>
                <a:cs typeface="Work Sans"/>
                <a:sym typeface="Work Sans"/>
              </a:rPr>
              <a:t>End to End Regression</a:t>
            </a:r>
            <a:endParaRPr/>
          </a:p>
          <a:p>
            <a:pPr marL="1257300" lvl="3" indent="0" algn="l" rtl="0">
              <a:spcBef>
                <a:spcPts val="1000"/>
              </a:spcBef>
              <a:spcAft>
                <a:spcPts val="0"/>
              </a:spcAft>
              <a:buSzPts val="400"/>
              <a:buNone/>
            </a:pPr>
            <a:endParaRPr sz="500" b="0" i="0">
              <a:solidFill>
                <a:srgbClr val="3A3A3A"/>
              </a:solidFill>
              <a:latin typeface="Work Sans"/>
              <a:ea typeface="Work Sans"/>
              <a:cs typeface="Work Sans"/>
              <a:sym typeface="Work Sans"/>
            </a:endParaRPr>
          </a:p>
          <a:p>
            <a:pPr marL="0" lvl="0" indent="0" algn="l" rtl="0">
              <a:spcBef>
                <a:spcPts val="1000"/>
              </a:spcBef>
              <a:spcAft>
                <a:spcPts val="0"/>
              </a:spcAft>
              <a:buSzPts val="1440"/>
              <a:buNone/>
            </a:pPr>
            <a:r>
              <a:rPr lang="en-US" b="0" i="0">
                <a:solidFill>
                  <a:srgbClr val="FF6600"/>
                </a:solidFill>
                <a:latin typeface="Work Sans"/>
                <a:ea typeface="Work Sans"/>
                <a:cs typeface="Work Sans"/>
                <a:sym typeface="Work Sans"/>
              </a:rPr>
              <a:t>1) Sprint Level Regression</a:t>
            </a:r>
            <a:endParaRPr b="0" i="0">
              <a:solidFill>
                <a:srgbClr val="3A3A3A"/>
              </a:solidFill>
              <a:latin typeface="Work Sans"/>
              <a:ea typeface="Work Sans"/>
              <a:cs typeface="Work Sans"/>
              <a:sym typeface="Work Sans"/>
            </a:endParaRPr>
          </a:p>
          <a:p>
            <a:pPr marL="342900" lvl="0" indent="-342900" algn="l" rtl="0">
              <a:spcBef>
                <a:spcPts val="1000"/>
              </a:spcBef>
              <a:spcAft>
                <a:spcPts val="0"/>
              </a:spcAft>
              <a:buSzPts val="1440"/>
              <a:buChar char="►"/>
            </a:pPr>
            <a:r>
              <a:rPr lang="en-US">
                <a:solidFill>
                  <a:srgbClr val="3A3A3A"/>
                </a:solidFill>
                <a:latin typeface="Work Sans"/>
                <a:ea typeface="Work Sans"/>
                <a:cs typeface="Work Sans"/>
                <a:sym typeface="Work Sans"/>
              </a:rPr>
              <a:t>It</a:t>
            </a:r>
            <a:r>
              <a:rPr lang="en-US" b="0" i="0">
                <a:solidFill>
                  <a:srgbClr val="3A3A3A"/>
                </a:solidFill>
                <a:latin typeface="Work Sans"/>
                <a:ea typeface="Work Sans"/>
                <a:cs typeface="Work Sans"/>
                <a:sym typeface="Work Sans"/>
              </a:rPr>
              <a:t> is done mainly for the new functionality or the enhancement that is done in the latest sprint. Test cases from the test suite are selected as per the newly added functionality or the enhancement that is done.</a:t>
            </a:r>
            <a:endParaRPr/>
          </a:p>
          <a:p>
            <a:pPr marL="0" lvl="0" indent="0" algn="l" rtl="0">
              <a:spcBef>
                <a:spcPts val="1000"/>
              </a:spcBef>
              <a:spcAft>
                <a:spcPts val="0"/>
              </a:spcAft>
              <a:buSzPts val="720"/>
              <a:buNone/>
            </a:pPr>
            <a:endParaRPr sz="900" b="0" i="0">
              <a:solidFill>
                <a:srgbClr val="3A3A3A"/>
              </a:solidFill>
              <a:latin typeface="Work Sans"/>
              <a:ea typeface="Work Sans"/>
              <a:cs typeface="Work Sans"/>
              <a:sym typeface="Work Sans"/>
            </a:endParaRPr>
          </a:p>
          <a:p>
            <a:pPr marL="0" lvl="0" indent="0" algn="l" rtl="0">
              <a:spcBef>
                <a:spcPts val="1000"/>
              </a:spcBef>
              <a:spcAft>
                <a:spcPts val="0"/>
              </a:spcAft>
              <a:buSzPts val="1440"/>
              <a:buNone/>
            </a:pPr>
            <a:r>
              <a:rPr lang="en-US" b="0" i="0">
                <a:solidFill>
                  <a:srgbClr val="FF6600"/>
                </a:solidFill>
                <a:latin typeface="Work Sans"/>
                <a:ea typeface="Work Sans"/>
                <a:cs typeface="Work Sans"/>
                <a:sym typeface="Work Sans"/>
              </a:rPr>
              <a:t>2) End-to-End Regression</a:t>
            </a:r>
            <a:endParaRPr b="0" i="0">
              <a:solidFill>
                <a:srgbClr val="3A3A3A"/>
              </a:solidFill>
              <a:latin typeface="Work Sans"/>
              <a:ea typeface="Work Sans"/>
              <a:cs typeface="Work Sans"/>
              <a:sym typeface="Work Sans"/>
            </a:endParaRPr>
          </a:p>
          <a:p>
            <a:pPr marL="342900" lvl="0" indent="-342900" algn="l" rtl="0">
              <a:spcBef>
                <a:spcPts val="1000"/>
              </a:spcBef>
              <a:spcAft>
                <a:spcPts val="0"/>
              </a:spcAft>
              <a:buSzPts val="1440"/>
              <a:buChar char="►"/>
            </a:pPr>
            <a:r>
              <a:rPr lang="en-US" b="0" i="0">
                <a:solidFill>
                  <a:srgbClr val="3A3A3A"/>
                </a:solidFill>
                <a:latin typeface="Work Sans"/>
                <a:ea typeface="Work Sans"/>
                <a:cs typeface="Work Sans"/>
                <a:sym typeface="Work Sans"/>
              </a:rPr>
              <a:t>End-to-End Regression includes all the test cases that are to be re-executed to test the complete product end to end by covering all the core functionalities of the Product.</a:t>
            </a:r>
            <a:endParaRPr/>
          </a:p>
          <a:p>
            <a:pPr marL="342900" lvl="0" indent="-251459" algn="l" rtl="0">
              <a:spcBef>
                <a:spcPts val="1000"/>
              </a:spcBef>
              <a:spcAft>
                <a:spcPts val="0"/>
              </a:spcAft>
              <a:buSzPts val="1440"/>
              <a:buNone/>
            </a:pPr>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54"/>
          <p:cNvSpPr txBox="1">
            <a:spLocks noGrp="1"/>
          </p:cNvSpPr>
          <p:nvPr>
            <p:ph type="title"/>
          </p:nvPr>
        </p:nvSpPr>
        <p:spPr>
          <a:xfrm>
            <a:off x="863765" y="1044606"/>
            <a:ext cx="8596668" cy="855216"/>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3A3A3A"/>
              </a:buClr>
              <a:buSzPts val="3200"/>
              <a:buFont typeface="Work Sans"/>
              <a:buNone/>
            </a:pPr>
            <a:r>
              <a:rPr lang="en-US" sz="3200" b="1" u="sng">
                <a:solidFill>
                  <a:srgbClr val="3A3A3A"/>
                </a:solidFill>
                <a:latin typeface="Work Sans"/>
                <a:ea typeface="Work Sans"/>
                <a:cs typeface="Work Sans"/>
                <a:sym typeface="Work Sans"/>
              </a:rPr>
              <a:t>Regression Testing Steps:</a:t>
            </a:r>
            <a:endParaRPr sz="3200" b="1" u="sng">
              <a:solidFill>
                <a:srgbClr val="3A3A3A"/>
              </a:solidFill>
              <a:latin typeface="Work Sans"/>
              <a:ea typeface="Work Sans"/>
              <a:cs typeface="Work Sans"/>
              <a:sym typeface="Work Sans"/>
            </a:endParaRPr>
          </a:p>
        </p:txBody>
      </p:sp>
      <p:sp>
        <p:nvSpPr>
          <p:cNvPr id="497" name="Google Shape;497;p54"/>
          <p:cNvSpPr txBox="1">
            <a:spLocks noGrp="1"/>
          </p:cNvSpPr>
          <p:nvPr>
            <p:ph type="body" idx="1"/>
          </p:nvPr>
        </p:nvSpPr>
        <p:spPr>
          <a:xfrm>
            <a:off x="2343704" y="2160589"/>
            <a:ext cx="6930297" cy="3880773"/>
          </a:xfrm>
          <a:prstGeom prst="rect">
            <a:avLst/>
          </a:prstGeom>
          <a:noFill/>
          <a:ln>
            <a:noFill/>
          </a:ln>
        </p:spPr>
        <p:txBody>
          <a:bodyPr spcFirstLastPara="1" wrap="square" lIns="91425" tIns="45700" rIns="91425" bIns="45700" anchor="t" anchorCtr="0">
            <a:normAutofit/>
          </a:bodyPr>
          <a:lstStyle/>
          <a:p>
            <a:pPr marL="342900" lvl="0" indent="-342900" algn="just" rtl="0">
              <a:lnSpc>
                <a:spcPct val="150000"/>
              </a:lnSpc>
              <a:spcBef>
                <a:spcPts val="0"/>
              </a:spcBef>
              <a:spcAft>
                <a:spcPts val="0"/>
              </a:spcAft>
              <a:buSzPts val="1440"/>
              <a:buFont typeface="Arial"/>
              <a:buChar char="•"/>
            </a:pPr>
            <a:r>
              <a:rPr lang="en-US" b="0" i="0">
                <a:solidFill>
                  <a:srgbClr val="000000"/>
                </a:solidFill>
                <a:latin typeface="Arial"/>
                <a:ea typeface="Arial"/>
                <a:cs typeface="Arial"/>
                <a:sym typeface="Arial"/>
              </a:rPr>
              <a:t>Select the Tests for Regression.</a:t>
            </a:r>
            <a:endParaRPr/>
          </a:p>
          <a:p>
            <a:pPr marL="342900" lvl="0" indent="-342900" algn="just" rtl="0">
              <a:lnSpc>
                <a:spcPct val="150000"/>
              </a:lnSpc>
              <a:spcBef>
                <a:spcPts val="1000"/>
              </a:spcBef>
              <a:spcAft>
                <a:spcPts val="0"/>
              </a:spcAft>
              <a:buSzPts val="1440"/>
              <a:buFont typeface="Arial"/>
              <a:buChar char="•"/>
            </a:pPr>
            <a:r>
              <a:rPr lang="en-US" b="0" i="0">
                <a:solidFill>
                  <a:srgbClr val="000000"/>
                </a:solidFill>
                <a:latin typeface="Arial"/>
                <a:ea typeface="Arial"/>
                <a:cs typeface="Arial"/>
                <a:sym typeface="Arial"/>
              </a:rPr>
              <a:t>Choose the apt tool and automate the Regression Tests</a:t>
            </a:r>
            <a:endParaRPr/>
          </a:p>
          <a:p>
            <a:pPr marL="342900" lvl="0" indent="-342900" algn="just" rtl="0">
              <a:lnSpc>
                <a:spcPct val="150000"/>
              </a:lnSpc>
              <a:spcBef>
                <a:spcPts val="1000"/>
              </a:spcBef>
              <a:spcAft>
                <a:spcPts val="0"/>
              </a:spcAft>
              <a:buSzPts val="1440"/>
              <a:buFont typeface="Arial"/>
              <a:buChar char="•"/>
            </a:pPr>
            <a:r>
              <a:rPr lang="en-US" b="0" i="0">
                <a:solidFill>
                  <a:srgbClr val="000000"/>
                </a:solidFill>
                <a:latin typeface="Arial"/>
                <a:ea typeface="Arial"/>
                <a:cs typeface="Arial"/>
                <a:sym typeface="Arial"/>
              </a:rPr>
              <a:t>Verify applications with Checkpoints</a:t>
            </a:r>
            <a:endParaRPr/>
          </a:p>
          <a:p>
            <a:pPr marL="342900" lvl="0" indent="-342900" algn="just" rtl="0">
              <a:lnSpc>
                <a:spcPct val="150000"/>
              </a:lnSpc>
              <a:spcBef>
                <a:spcPts val="1000"/>
              </a:spcBef>
              <a:spcAft>
                <a:spcPts val="0"/>
              </a:spcAft>
              <a:buSzPts val="1440"/>
              <a:buFont typeface="Arial"/>
              <a:buChar char="•"/>
            </a:pPr>
            <a:r>
              <a:rPr lang="en-US" b="0" i="0">
                <a:solidFill>
                  <a:srgbClr val="000000"/>
                </a:solidFill>
                <a:latin typeface="Arial"/>
                <a:ea typeface="Arial"/>
                <a:cs typeface="Arial"/>
                <a:sym typeface="Arial"/>
              </a:rPr>
              <a:t>Manage Regression Tests/update when required</a:t>
            </a:r>
            <a:endParaRPr/>
          </a:p>
          <a:p>
            <a:pPr marL="342900" lvl="0" indent="-342900" algn="just" rtl="0">
              <a:lnSpc>
                <a:spcPct val="150000"/>
              </a:lnSpc>
              <a:spcBef>
                <a:spcPts val="1000"/>
              </a:spcBef>
              <a:spcAft>
                <a:spcPts val="0"/>
              </a:spcAft>
              <a:buSzPts val="1440"/>
              <a:buFont typeface="Arial"/>
              <a:buChar char="•"/>
            </a:pPr>
            <a:r>
              <a:rPr lang="en-US" b="0" i="0">
                <a:solidFill>
                  <a:srgbClr val="000000"/>
                </a:solidFill>
                <a:latin typeface="Arial"/>
                <a:ea typeface="Arial"/>
                <a:cs typeface="Arial"/>
                <a:sym typeface="Arial"/>
              </a:rPr>
              <a:t>Schedule the tests</a:t>
            </a:r>
            <a:endParaRPr/>
          </a:p>
          <a:p>
            <a:pPr marL="342900" lvl="0" indent="-342900" algn="just" rtl="0">
              <a:lnSpc>
                <a:spcPct val="150000"/>
              </a:lnSpc>
              <a:spcBef>
                <a:spcPts val="1000"/>
              </a:spcBef>
              <a:spcAft>
                <a:spcPts val="0"/>
              </a:spcAft>
              <a:buSzPts val="1440"/>
              <a:buFont typeface="Arial"/>
              <a:buChar char="•"/>
            </a:pPr>
            <a:r>
              <a:rPr lang="en-US" b="0" i="0">
                <a:solidFill>
                  <a:srgbClr val="000000"/>
                </a:solidFill>
                <a:latin typeface="Arial"/>
                <a:ea typeface="Arial"/>
                <a:cs typeface="Arial"/>
                <a:sym typeface="Arial"/>
              </a:rPr>
              <a:t>Integrate with the builds</a:t>
            </a:r>
            <a:endParaRPr/>
          </a:p>
          <a:p>
            <a:pPr marL="342900" lvl="0" indent="-342900" algn="just" rtl="0">
              <a:lnSpc>
                <a:spcPct val="150000"/>
              </a:lnSpc>
              <a:spcBef>
                <a:spcPts val="1000"/>
              </a:spcBef>
              <a:spcAft>
                <a:spcPts val="0"/>
              </a:spcAft>
              <a:buSzPts val="1440"/>
              <a:buFont typeface="Arial"/>
              <a:buChar char="•"/>
            </a:pPr>
            <a:r>
              <a:rPr lang="en-US" b="0" i="0">
                <a:solidFill>
                  <a:srgbClr val="000000"/>
                </a:solidFill>
                <a:latin typeface="Arial"/>
                <a:ea typeface="Arial"/>
                <a:cs typeface="Arial"/>
                <a:sym typeface="Arial"/>
              </a:rPr>
              <a:t>Analyze the results</a:t>
            </a:r>
            <a:endParaRPr/>
          </a:p>
          <a:p>
            <a:pPr marL="342900" lvl="0" indent="-251459" algn="l" rtl="0">
              <a:spcBef>
                <a:spcPts val="1000"/>
              </a:spcBef>
              <a:spcAft>
                <a:spcPts val="0"/>
              </a:spcAft>
              <a:buSzPts val="1440"/>
              <a:buNone/>
            </a:pPr>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Shape 501"/>
        <p:cNvGrpSpPr/>
        <p:nvPr/>
      </p:nvGrpSpPr>
      <p:grpSpPr>
        <a:xfrm>
          <a:off x="0" y="0"/>
          <a:ext cx="0" cy="0"/>
          <a:chOff x="0" y="0"/>
          <a:chExt cx="0" cy="0"/>
        </a:xfrm>
      </p:grpSpPr>
      <p:sp>
        <p:nvSpPr>
          <p:cNvPr id="502" name="Google Shape;502;p55"/>
          <p:cNvSpPr txBox="1">
            <a:spLocks noGrp="1"/>
          </p:cNvSpPr>
          <p:nvPr>
            <p:ph type="body" idx="2"/>
          </p:nvPr>
        </p:nvSpPr>
        <p:spPr>
          <a:xfrm>
            <a:off x="5089970" y="2160589"/>
            <a:ext cx="4184034" cy="3880773"/>
          </a:xfrm>
          <a:prstGeom prst="rect">
            <a:avLst/>
          </a:prstGeom>
          <a:noFill/>
          <a:ln>
            <a:noFill/>
          </a:ln>
        </p:spPr>
        <p:txBody>
          <a:bodyPr spcFirstLastPara="1" wrap="square" lIns="91425" tIns="45700" rIns="91425" bIns="45700" anchor="t" anchorCtr="0">
            <a:normAutofit/>
          </a:bodyPr>
          <a:lstStyle/>
          <a:p>
            <a:pPr marL="342900" lvl="0" indent="-251459" algn="l" rtl="0">
              <a:spcBef>
                <a:spcPts val="0"/>
              </a:spcBef>
              <a:spcAft>
                <a:spcPts val="0"/>
              </a:spcAft>
              <a:buSzPts val="1440"/>
              <a:buNone/>
            </a:pPr>
            <a:endParaRPr/>
          </a:p>
        </p:txBody>
      </p:sp>
      <p:pic>
        <p:nvPicPr>
          <p:cNvPr id="503" name="Google Shape;503;p55"/>
          <p:cNvPicPr preferRelativeResize="0"/>
          <p:nvPr/>
        </p:nvPicPr>
        <p:blipFill rotWithShape="1">
          <a:blip r:embed="rId3">
            <a:alphaModFix/>
          </a:blip>
          <a:srcRect/>
          <a:stretch/>
        </p:blipFill>
        <p:spPr>
          <a:xfrm>
            <a:off x="368393" y="767261"/>
            <a:ext cx="11300091" cy="5707429"/>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Shape 507"/>
        <p:cNvGrpSpPr/>
        <p:nvPr/>
      </p:nvGrpSpPr>
      <p:grpSpPr>
        <a:xfrm>
          <a:off x="0" y="0"/>
          <a:ext cx="0" cy="0"/>
          <a:chOff x="0" y="0"/>
          <a:chExt cx="0" cy="0"/>
        </a:xfrm>
      </p:grpSpPr>
      <p:sp>
        <p:nvSpPr>
          <p:cNvPr id="508" name="Google Shape;508;p56"/>
          <p:cNvSpPr txBox="1">
            <a:spLocks noGrp="1"/>
          </p:cNvSpPr>
          <p:nvPr>
            <p:ph type="title"/>
          </p:nvPr>
        </p:nvSpPr>
        <p:spPr>
          <a:xfrm>
            <a:off x="2014521" y="290052"/>
            <a:ext cx="6716524" cy="880828"/>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rgbClr val="3F7818"/>
              </a:buClr>
              <a:buSzPts val="3600"/>
              <a:buFont typeface="Trebuchet MS"/>
              <a:buNone/>
            </a:pPr>
            <a:r>
              <a:rPr lang="en-US">
                <a:solidFill>
                  <a:srgbClr val="3F7818"/>
                </a:solidFill>
              </a:rPr>
              <a:t>UAT – User Acceptance Testing</a:t>
            </a:r>
            <a:endParaRPr/>
          </a:p>
        </p:txBody>
      </p:sp>
      <p:sp>
        <p:nvSpPr>
          <p:cNvPr id="509" name="Google Shape;509;p56"/>
          <p:cNvSpPr txBox="1">
            <a:spLocks noGrp="1"/>
          </p:cNvSpPr>
          <p:nvPr>
            <p:ph type="body" idx="1"/>
          </p:nvPr>
        </p:nvSpPr>
        <p:spPr>
          <a:xfrm>
            <a:off x="800813" y="1930400"/>
            <a:ext cx="6042439" cy="44704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n-US"/>
              <a:t>Testing a software</a:t>
            </a:r>
            <a:r>
              <a:rPr lang="en-US" u="sng"/>
              <a:t> by the user or client </a:t>
            </a:r>
            <a:endParaRPr/>
          </a:p>
          <a:p>
            <a:pPr marL="0" lvl="0" indent="0" algn="l" rtl="0">
              <a:spcBef>
                <a:spcPts val="1000"/>
              </a:spcBef>
              <a:spcAft>
                <a:spcPts val="0"/>
              </a:spcAft>
              <a:buSzPts val="1440"/>
              <a:buNone/>
            </a:pPr>
            <a:r>
              <a:rPr lang="en-US"/>
              <a:t>	to determine whether it can be accepted or not. </a:t>
            </a:r>
            <a:endParaRPr/>
          </a:p>
          <a:p>
            <a:pPr marL="0" lvl="0" indent="0" algn="l" rtl="0">
              <a:spcBef>
                <a:spcPts val="1000"/>
              </a:spcBef>
              <a:spcAft>
                <a:spcPts val="0"/>
              </a:spcAft>
              <a:buSzPts val="1920"/>
              <a:buNone/>
            </a:pPr>
            <a:endParaRPr sz="2400"/>
          </a:p>
          <a:p>
            <a:pPr marL="342900" lvl="0" indent="-342900" algn="l" rtl="0">
              <a:spcBef>
                <a:spcPts val="1000"/>
              </a:spcBef>
              <a:spcAft>
                <a:spcPts val="0"/>
              </a:spcAft>
              <a:buSzPts val="1440"/>
              <a:buChar char="►"/>
            </a:pPr>
            <a:r>
              <a:rPr lang="en-US"/>
              <a:t>This is the final testing performed</a:t>
            </a:r>
            <a:endParaRPr/>
          </a:p>
          <a:p>
            <a:pPr marL="0" lvl="0" indent="0" algn="l" rtl="0">
              <a:spcBef>
                <a:spcPts val="1000"/>
              </a:spcBef>
              <a:spcAft>
                <a:spcPts val="0"/>
              </a:spcAft>
              <a:buSzPts val="1440"/>
              <a:buNone/>
            </a:pPr>
            <a:r>
              <a:rPr lang="en-US"/>
              <a:t>	 once the functional, system &amp; regression testing </a:t>
            </a:r>
            <a:endParaRPr/>
          </a:p>
          <a:p>
            <a:pPr marL="0" lvl="0" indent="0" algn="l" rtl="0">
              <a:spcBef>
                <a:spcPts val="1000"/>
              </a:spcBef>
              <a:spcAft>
                <a:spcPts val="0"/>
              </a:spcAft>
              <a:buSzPts val="1440"/>
              <a:buNone/>
            </a:pPr>
            <a:r>
              <a:rPr lang="en-US"/>
              <a:t>	</a:t>
            </a:r>
            <a:r>
              <a:rPr lang="en-US" u="sng"/>
              <a:t>are completed</a:t>
            </a:r>
            <a:endParaRPr/>
          </a:p>
        </p:txBody>
      </p:sp>
      <p:pic>
        <p:nvPicPr>
          <p:cNvPr id="510" name="Google Shape;510;p56" descr="Acceptance Testing :Types,Process,Criteria,Checklist |Professionalqa"/>
          <p:cNvPicPr preferRelativeResize="0"/>
          <p:nvPr/>
        </p:nvPicPr>
        <p:blipFill rotWithShape="1">
          <a:blip r:embed="rId3">
            <a:alphaModFix/>
          </a:blip>
          <a:srcRect/>
          <a:stretch/>
        </p:blipFill>
        <p:spPr>
          <a:xfrm>
            <a:off x="7178679" y="1652587"/>
            <a:ext cx="4743450" cy="355282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sp>
        <p:nvSpPr>
          <p:cNvPr id="515" name="Google Shape;515;p57"/>
          <p:cNvSpPr txBox="1">
            <a:spLocks noGrp="1"/>
          </p:cNvSpPr>
          <p:nvPr>
            <p:ph type="title"/>
          </p:nvPr>
        </p:nvSpPr>
        <p:spPr>
          <a:xfrm>
            <a:off x="862088" y="609599"/>
            <a:ext cx="290365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C00000"/>
              </a:buClr>
              <a:buSzPts val="3600"/>
              <a:buFont typeface="Trebuchet MS"/>
              <a:buNone/>
            </a:pPr>
            <a:r>
              <a:rPr lang="en-US">
                <a:solidFill>
                  <a:srgbClr val="C00000"/>
                </a:solidFill>
              </a:rPr>
              <a:t>After UAT…</a:t>
            </a:r>
            <a:endParaRPr/>
          </a:p>
        </p:txBody>
      </p:sp>
      <p:pic>
        <p:nvPicPr>
          <p:cNvPr id="516" name="Google Shape;516;p57" descr="Texavi.com - Innovative Solutions"/>
          <p:cNvPicPr preferRelativeResize="0">
            <a:picLocks noGrp="1"/>
          </p:cNvPicPr>
          <p:nvPr>
            <p:ph type="body" idx="1"/>
          </p:nvPr>
        </p:nvPicPr>
        <p:blipFill rotWithShape="1">
          <a:blip r:embed="rId3">
            <a:alphaModFix/>
          </a:blip>
          <a:srcRect/>
          <a:stretch/>
        </p:blipFill>
        <p:spPr>
          <a:xfrm>
            <a:off x="1037567" y="1439174"/>
            <a:ext cx="7876202" cy="5418826"/>
          </a:xfrm>
          <a:prstGeom prst="rect">
            <a:avLst/>
          </a:prstGeom>
          <a:noFill/>
          <a:ln>
            <a:noFill/>
          </a:ln>
        </p:spPr>
      </p:pic>
      <p:pic>
        <p:nvPicPr>
          <p:cNvPr id="517" name="Google Shape;517;p57"/>
          <p:cNvPicPr preferRelativeResize="0"/>
          <p:nvPr/>
        </p:nvPicPr>
        <p:blipFill rotWithShape="1">
          <a:blip r:embed="rId4">
            <a:alphaModFix/>
          </a:blip>
          <a:srcRect/>
          <a:stretch/>
        </p:blipFill>
        <p:spPr>
          <a:xfrm>
            <a:off x="1037567" y="1497012"/>
            <a:ext cx="2552700" cy="866775"/>
          </a:xfrm>
          <a:prstGeom prst="rect">
            <a:avLst/>
          </a:prstGeom>
          <a:noFill/>
          <a:ln>
            <a:noFill/>
          </a:ln>
        </p:spPr>
      </p:pic>
      <p:pic>
        <p:nvPicPr>
          <p:cNvPr id="518" name="Google Shape;518;p57" descr="User Acceptance Testing [UAT] - Oceanize Geeks - Medium"/>
          <p:cNvPicPr preferRelativeResize="0"/>
          <p:nvPr/>
        </p:nvPicPr>
        <p:blipFill rotWithShape="1">
          <a:blip r:embed="rId5">
            <a:alphaModFix/>
          </a:blip>
          <a:srcRect/>
          <a:stretch/>
        </p:blipFill>
        <p:spPr>
          <a:xfrm>
            <a:off x="8268929" y="4583972"/>
            <a:ext cx="3923071" cy="2274028"/>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522"/>
        <p:cNvGrpSpPr/>
        <p:nvPr/>
      </p:nvGrpSpPr>
      <p:grpSpPr>
        <a:xfrm>
          <a:off x="0" y="0"/>
          <a:ext cx="0" cy="0"/>
          <a:chOff x="0" y="0"/>
          <a:chExt cx="0" cy="0"/>
        </a:xfrm>
      </p:grpSpPr>
      <p:sp>
        <p:nvSpPr>
          <p:cNvPr id="523" name="Google Shape;523;p58"/>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C00000"/>
              </a:buClr>
              <a:buSzPts val="3600"/>
              <a:buFont typeface="Trebuchet MS"/>
              <a:buNone/>
            </a:pPr>
            <a:r>
              <a:rPr lang="en-US">
                <a:solidFill>
                  <a:srgbClr val="C00000"/>
                </a:solidFill>
              </a:rPr>
              <a:t>Non-Functional Testing</a:t>
            </a:r>
            <a:endParaRPr/>
          </a:p>
        </p:txBody>
      </p:sp>
      <p:pic>
        <p:nvPicPr>
          <p:cNvPr id="524" name="Google Shape;524;p58"/>
          <p:cNvPicPr preferRelativeResize="0"/>
          <p:nvPr/>
        </p:nvPicPr>
        <p:blipFill rotWithShape="1">
          <a:blip r:embed="rId3">
            <a:alphaModFix/>
          </a:blip>
          <a:srcRect/>
          <a:stretch/>
        </p:blipFill>
        <p:spPr>
          <a:xfrm>
            <a:off x="2590078" y="1586271"/>
            <a:ext cx="6683924" cy="4762954"/>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Shape 528"/>
        <p:cNvGrpSpPr/>
        <p:nvPr/>
      </p:nvGrpSpPr>
      <p:grpSpPr>
        <a:xfrm>
          <a:off x="0" y="0"/>
          <a:ext cx="0" cy="0"/>
          <a:chOff x="0" y="0"/>
          <a:chExt cx="0" cy="0"/>
        </a:xfrm>
      </p:grpSpPr>
      <p:graphicFrame>
        <p:nvGraphicFramePr>
          <p:cNvPr id="529" name="Google Shape;529;p59"/>
          <p:cNvGraphicFramePr/>
          <p:nvPr/>
        </p:nvGraphicFramePr>
        <p:xfrm>
          <a:off x="0" y="1"/>
          <a:ext cx="3000000" cy="3000000"/>
        </p:xfrm>
        <a:graphic>
          <a:graphicData uri="http://schemas.openxmlformats.org/drawingml/2006/table">
            <a:tbl>
              <a:tblPr firstRow="1" firstCol="1" bandRow="1">
                <a:noFill/>
                <a:tableStyleId>{F9023DBE-32B7-479B-B6F3-42938FD438B2}</a:tableStyleId>
              </a:tblPr>
              <a:tblGrid>
                <a:gridCol w="2365600">
                  <a:extLst>
                    <a:ext uri="{9D8B030D-6E8A-4147-A177-3AD203B41FA5}">
                      <a16:colId xmlns:a16="http://schemas.microsoft.com/office/drawing/2014/main" val="20000"/>
                    </a:ext>
                  </a:extLst>
                </a:gridCol>
                <a:gridCol w="5681100">
                  <a:extLst>
                    <a:ext uri="{9D8B030D-6E8A-4147-A177-3AD203B41FA5}">
                      <a16:colId xmlns:a16="http://schemas.microsoft.com/office/drawing/2014/main" val="20001"/>
                    </a:ext>
                  </a:extLst>
                </a:gridCol>
                <a:gridCol w="4145275">
                  <a:extLst>
                    <a:ext uri="{9D8B030D-6E8A-4147-A177-3AD203B41FA5}">
                      <a16:colId xmlns:a16="http://schemas.microsoft.com/office/drawing/2014/main" val="20002"/>
                    </a:ext>
                  </a:extLst>
                </a:gridCol>
              </a:tblGrid>
              <a:tr h="993125">
                <a:tc>
                  <a:txBody>
                    <a:bodyPr/>
                    <a:lstStyle/>
                    <a:p>
                      <a:pPr marL="0" marR="0" lvl="0" indent="0" algn="ctr" rtl="0">
                        <a:lnSpc>
                          <a:spcPct val="107000"/>
                        </a:lnSpc>
                        <a:spcBef>
                          <a:spcPts val="0"/>
                        </a:spcBef>
                        <a:spcAft>
                          <a:spcPts val="0"/>
                        </a:spcAft>
                        <a:buNone/>
                      </a:pPr>
                      <a:r>
                        <a:rPr lang="en-US" sz="3200" b="1" u="none" strike="noStrike" cap="none">
                          <a:solidFill>
                            <a:schemeClr val="dk1"/>
                          </a:solidFill>
                          <a:latin typeface="Calibri"/>
                          <a:ea typeface="Calibri"/>
                          <a:cs typeface="Calibri"/>
                          <a:sym typeface="Calibri"/>
                        </a:rPr>
                        <a:t>TESTING</a:t>
                      </a:r>
                      <a:endParaRPr/>
                    </a:p>
                  </a:txBody>
                  <a:tcPr marL="68575" marR="68575" marT="0" marB="0" anchor="ctr">
                    <a:solidFill>
                      <a:srgbClr val="B0B0B0"/>
                    </a:solidFill>
                  </a:tcPr>
                </a:tc>
                <a:tc>
                  <a:txBody>
                    <a:bodyPr/>
                    <a:lstStyle/>
                    <a:p>
                      <a:pPr marL="0" marR="0" lvl="0" indent="0" algn="ctr" rtl="0">
                        <a:spcBef>
                          <a:spcPts val="0"/>
                        </a:spcBef>
                        <a:spcAft>
                          <a:spcPts val="0"/>
                        </a:spcAft>
                        <a:buNone/>
                      </a:pPr>
                      <a:r>
                        <a:rPr lang="en-US" sz="3200" b="1" u="none" strike="noStrike" cap="none">
                          <a:solidFill>
                            <a:schemeClr val="dk1"/>
                          </a:solidFill>
                          <a:latin typeface="Calibri"/>
                          <a:ea typeface="Calibri"/>
                          <a:cs typeface="Calibri"/>
                          <a:sym typeface="Calibri"/>
                        </a:rPr>
                        <a:t>Description</a:t>
                      </a:r>
                      <a:endParaRPr/>
                    </a:p>
                  </a:txBody>
                  <a:tcPr marL="68575" marR="68575" marT="0" marB="0" anchor="ctr">
                    <a:solidFill>
                      <a:srgbClr val="B0B0B0"/>
                    </a:solidFill>
                  </a:tcPr>
                </a:tc>
                <a:tc>
                  <a:txBody>
                    <a:bodyPr/>
                    <a:lstStyle/>
                    <a:p>
                      <a:pPr marL="0" marR="0" lvl="0" indent="0" algn="ctr" rtl="0">
                        <a:lnSpc>
                          <a:spcPct val="107000"/>
                        </a:lnSpc>
                        <a:spcBef>
                          <a:spcPts val="0"/>
                        </a:spcBef>
                        <a:spcAft>
                          <a:spcPts val="0"/>
                        </a:spcAft>
                        <a:buNone/>
                      </a:pPr>
                      <a:r>
                        <a:rPr lang="en-US" sz="3200" b="1" u="none" strike="noStrike" cap="none">
                          <a:solidFill>
                            <a:schemeClr val="dk1"/>
                          </a:solidFill>
                          <a:latin typeface="Calibri"/>
                          <a:ea typeface="Calibri"/>
                          <a:cs typeface="Calibri"/>
                          <a:sym typeface="Calibri"/>
                        </a:rPr>
                        <a:t>Tools</a:t>
                      </a:r>
                      <a:endParaRPr/>
                    </a:p>
                  </a:txBody>
                  <a:tcPr marL="68575" marR="68575" marT="0" marB="0" anchor="ctr">
                    <a:solidFill>
                      <a:srgbClr val="B0B0B0"/>
                    </a:solidFill>
                  </a:tcPr>
                </a:tc>
                <a:extLst>
                  <a:ext uri="{0D108BD9-81ED-4DB2-BD59-A6C34878D82A}">
                    <a16:rowId xmlns:a16="http://schemas.microsoft.com/office/drawing/2014/main" val="10000"/>
                  </a:ext>
                </a:extLst>
              </a:tr>
              <a:tr h="1016075">
                <a:tc>
                  <a:txBody>
                    <a:bodyPr/>
                    <a:lstStyle/>
                    <a:p>
                      <a:pPr marL="0" marR="0" lvl="0" indent="0" algn="ctr" rtl="0">
                        <a:lnSpc>
                          <a:spcPct val="107000"/>
                        </a:lnSpc>
                        <a:spcBef>
                          <a:spcPts val="0"/>
                        </a:spcBef>
                        <a:spcAft>
                          <a:spcPts val="0"/>
                        </a:spcAft>
                        <a:buNone/>
                      </a:pPr>
                      <a:r>
                        <a:rPr lang="en-US" sz="1800" u="none" strike="noStrike" cap="none">
                          <a:solidFill>
                            <a:schemeClr val="dk1"/>
                          </a:solidFill>
                        </a:rPr>
                        <a:t>Performance Test</a:t>
                      </a:r>
                      <a:endParaRPr sz="1800" u="none" strike="noStrike" cap="none">
                        <a:solidFill>
                          <a:schemeClr val="dk1"/>
                        </a:solidFill>
                        <a:latin typeface="Calibri"/>
                        <a:ea typeface="Calibri"/>
                        <a:cs typeface="Calibri"/>
                        <a:sym typeface="Calibri"/>
                      </a:endParaRPr>
                    </a:p>
                  </a:txBody>
                  <a:tcPr marL="68575" marR="68575" marT="0" marB="0" anchor="ctr">
                    <a:solidFill>
                      <a:srgbClr val="9DB7BF"/>
                    </a:solidFill>
                  </a:tcPr>
                </a:tc>
                <a:tc>
                  <a:txBody>
                    <a:bodyPr/>
                    <a:lstStyle/>
                    <a:p>
                      <a:pPr marL="0" marR="0" lvl="0" indent="0" algn="ctr" rtl="0">
                        <a:spcBef>
                          <a:spcPts val="0"/>
                        </a:spcBef>
                        <a:spcAft>
                          <a:spcPts val="0"/>
                        </a:spcAft>
                        <a:buNone/>
                      </a:pPr>
                      <a:r>
                        <a:rPr lang="en-US" sz="1800" u="none" strike="noStrike" cap="none">
                          <a:solidFill>
                            <a:schemeClr val="dk1"/>
                          </a:solidFill>
                        </a:rPr>
                        <a:t>To Verify Speed, response time, reliability</a:t>
                      </a:r>
                      <a:endParaRPr sz="1800" u="none" strike="noStrike" cap="none">
                        <a:solidFill>
                          <a:schemeClr val="dk1"/>
                        </a:solidFill>
                        <a:latin typeface="Calibri"/>
                        <a:ea typeface="Calibri"/>
                        <a:cs typeface="Calibri"/>
                        <a:sym typeface="Calibri"/>
                      </a:endParaRPr>
                    </a:p>
                  </a:txBody>
                  <a:tcPr marL="68575" marR="68575" marT="0" marB="0" anchor="ctr"/>
                </a:tc>
                <a:tc>
                  <a:txBody>
                    <a:bodyPr/>
                    <a:lstStyle/>
                    <a:p>
                      <a:pPr marL="0" marR="0" lvl="0" indent="0" algn="ctr" rtl="0">
                        <a:lnSpc>
                          <a:spcPct val="107000"/>
                        </a:lnSpc>
                        <a:spcBef>
                          <a:spcPts val="0"/>
                        </a:spcBef>
                        <a:spcAft>
                          <a:spcPts val="0"/>
                        </a:spcAft>
                        <a:buNone/>
                      </a:pPr>
                      <a:endParaRPr sz="1800" u="none" strike="noStrike" cap="none">
                        <a:solidFill>
                          <a:schemeClr val="dk1"/>
                        </a:solidFill>
                        <a:latin typeface="Calibri"/>
                        <a:ea typeface="Calibri"/>
                        <a:cs typeface="Calibri"/>
                        <a:sym typeface="Calibri"/>
                      </a:endParaRPr>
                    </a:p>
                  </a:txBody>
                  <a:tcPr marL="68575" marR="68575" marT="0" marB="0" anchor="ctr">
                    <a:solidFill>
                      <a:srgbClr val="D8D8D8"/>
                    </a:solidFill>
                  </a:tcPr>
                </a:tc>
                <a:extLst>
                  <a:ext uri="{0D108BD9-81ED-4DB2-BD59-A6C34878D82A}">
                    <a16:rowId xmlns:a16="http://schemas.microsoft.com/office/drawing/2014/main" val="10001"/>
                  </a:ext>
                </a:extLst>
              </a:tr>
              <a:tr h="952950">
                <a:tc>
                  <a:txBody>
                    <a:bodyPr/>
                    <a:lstStyle/>
                    <a:p>
                      <a:pPr marL="0" marR="0" lvl="0" indent="0" algn="ctr" rtl="0">
                        <a:lnSpc>
                          <a:spcPct val="107000"/>
                        </a:lnSpc>
                        <a:spcBef>
                          <a:spcPts val="0"/>
                        </a:spcBef>
                        <a:spcAft>
                          <a:spcPts val="0"/>
                        </a:spcAft>
                        <a:buNone/>
                      </a:pPr>
                      <a:r>
                        <a:rPr lang="en-US" sz="1800" u="none" strike="noStrike" cap="none">
                          <a:solidFill>
                            <a:schemeClr val="dk1"/>
                          </a:solidFill>
                        </a:rPr>
                        <a:t>Load Test</a:t>
                      </a:r>
                      <a:endParaRPr sz="1800" u="none" strike="noStrike" cap="none">
                        <a:solidFill>
                          <a:schemeClr val="dk1"/>
                        </a:solidFill>
                        <a:latin typeface="Calibri"/>
                        <a:ea typeface="Calibri"/>
                        <a:cs typeface="Calibri"/>
                        <a:sym typeface="Calibri"/>
                      </a:endParaRPr>
                    </a:p>
                  </a:txBody>
                  <a:tcPr marL="68575" marR="68575" marT="0" marB="0" anchor="ctr">
                    <a:solidFill>
                      <a:srgbClr val="9DB7BF"/>
                    </a:solidFill>
                  </a:tcPr>
                </a:tc>
                <a:tc>
                  <a:txBody>
                    <a:bodyPr/>
                    <a:lstStyle/>
                    <a:p>
                      <a:pPr marL="0" marR="0" lvl="0" indent="0" algn="ctr" rtl="0">
                        <a:spcBef>
                          <a:spcPts val="0"/>
                        </a:spcBef>
                        <a:spcAft>
                          <a:spcPts val="0"/>
                        </a:spcAft>
                        <a:buNone/>
                      </a:pPr>
                      <a:r>
                        <a:rPr lang="en-US" sz="1800" u="none" strike="noStrike" cap="none">
                          <a:solidFill>
                            <a:schemeClr val="dk1"/>
                          </a:solidFill>
                        </a:rPr>
                        <a:t>How application behaves when multiple users access simultaneously</a:t>
                      </a:r>
                      <a:endParaRPr sz="1800" u="none" strike="noStrike" cap="none">
                        <a:solidFill>
                          <a:schemeClr val="dk1"/>
                        </a:solidFill>
                        <a:latin typeface="Calibri"/>
                        <a:ea typeface="Calibri"/>
                        <a:cs typeface="Calibri"/>
                        <a:sym typeface="Calibri"/>
                      </a:endParaRPr>
                    </a:p>
                  </a:txBody>
                  <a:tcPr marL="68575" marR="68575" marT="0" marB="0" anchor="ctr">
                    <a:solidFill>
                      <a:srgbClr val="EEF4E7"/>
                    </a:solidFill>
                  </a:tcPr>
                </a:tc>
                <a:tc>
                  <a:txBody>
                    <a:bodyPr/>
                    <a:lstStyle/>
                    <a:p>
                      <a:pPr marL="0" marR="0" lvl="0" indent="0" algn="ctr" rtl="0">
                        <a:lnSpc>
                          <a:spcPct val="107000"/>
                        </a:lnSpc>
                        <a:spcBef>
                          <a:spcPts val="0"/>
                        </a:spcBef>
                        <a:spcAft>
                          <a:spcPts val="0"/>
                        </a:spcAft>
                        <a:buNone/>
                      </a:pPr>
                      <a:endParaRPr sz="1800" u="none" strike="noStrike" cap="none">
                        <a:solidFill>
                          <a:schemeClr val="dk1"/>
                        </a:solidFill>
                        <a:latin typeface="Calibri"/>
                        <a:ea typeface="Calibri"/>
                        <a:cs typeface="Calibri"/>
                        <a:sym typeface="Calibri"/>
                      </a:endParaRPr>
                    </a:p>
                  </a:txBody>
                  <a:tcPr marL="68575" marR="68575" marT="0" marB="0" anchor="ctr">
                    <a:solidFill>
                      <a:srgbClr val="D8D8D8"/>
                    </a:solidFill>
                  </a:tcPr>
                </a:tc>
                <a:extLst>
                  <a:ext uri="{0D108BD9-81ED-4DB2-BD59-A6C34878D82A}">
                    <a16:rowId xmlns:a16="http://schemas.microsoft.com/office/drawing/2014/main" val="10002"/>
                  </a:ext>
                </a:extLst>
              </a:tr>
              <a:tr h="964425">
                <a:tc>
                  <a:txBody>
                    <a:bodyPr/>
                    <a:lstStyle/>
                    <a:p>
                      <a:pPr marL="0" marR="0" lvl="0" indent="0" algn="ctr" rtl="0">
                        <a:lnSpc>
                          <a:spcPct val="107000"/>
                        </a:lnSpc>
                        <a:spcBef>
                          <a:spcPts val="0"/>
                        </a:spcBef>
                        <a:spcAft>
                          <a:spcPts val="0"/>
                        </a:spcAft>
                        <a:buNone/>
                      </a:pPr>
                      <a:r>
                        <a:rPr lang="en-US" sz="1800" u="none" strike="noStrike" cap="none">
                          <a:solidFill>
                            <a:schemeClr val="dk1"/>
                          </a:solidFill>
                        </a:rPr>
                        <a:t>Stress Test </a:t>
                      </a:r>
                      <a:endParaRPr sz="1800" u="none" strike="noStrike" cap="none">
                        <a:solidFill>
                          <a:schemeClr val="dk1"/>
                        </a:solidFill>
                        <a:latin typeface="Calibri"/>
                        <a:ea typeface="Calibri"/>
                        <a:cs typeface="Calibri"/>
                        <a:sym typeface="Calibri"/>
                      </a:endParaRPr>
                    </a:p>
                  </a:txBody>
                  <a:tcPr marL="68575" marR="68575" marT="0" marB="0" anchor="ctr">
                    <a:solidFill>
                      <a:srgbClr val="9DB7BF"/>
                    </a:solidFill>
                  </a:tcPr>
                </a:tc>
                <a:tc>
                  <a:txBody>
                    <a:bodyPr/>
                    <a:lstStyle/>
                    <a:p>
                      <a:pPr marL="0" marR="0" lvl="0" indent="0" algn="ctr" rtl="0">
                        <a:spcBef>
                          <a:spcPts val="0"/>
                        </a:spcBef>
                        <a:spcAft>
                          <a:spcPts val="0"/>
                        </a:spcAft>
                        <a:buNone/>
                      </a:pPr>
                      <a:r>
                        <a:rPr lang="en-US" sz="1800" u="none" strike="noStrike" cap="none">
                          <a:solidFill>
                            <a:schemeClr val="dk1"/>
                          </a:solidFill>
                        </a:rPr>
                        <a:t>To verify the stability and reliability</a:t>
                      </a:r>
                      <a:endParaRPr sz="1800" u="none" strike="noStrike" cap="none">
                        <a:solidFill>
                          <a:schemeClr val="dk1"/>
                        </a:solidFill>
                        <a:latin typeface="Calibri"/>
                        <a:ea typeface="Calibri"/>
                        <a:cs typeface="Calibri"/>
                        <a:sym typeface="Calibri"/>
                      </a:endParaRPr>
                    </a:p>
                  </a:txBody>
                  <a:tcPr marL="68575" marR="68575" marT="0" marB="0" anchor="ctr"/>
                </a:tc>
                <a:tc>
                  <a:txBody>
                    <a:bodyPr/>
                    <a:lstStyle/>
                    <a:p>
                      <a:pPr marL="0" marR="0" lvl="0" indent="0" algn="ctr" rtl="0">
                        <a:lnSpc>
                          <a:spcPct val="107000"/>
                        </a:lnSpc>
                        <a:spcBef>
                          <a:spcPts val="0"/>
                        </a:spcBef>
                        <a:spcAft>
                          <a:spcPts val="0"/>
                        </a:spcAft>
                        <a:buNone/>
                      </a:pPr>
                      <a:endParaRPr sz="1800" u="none" strike="noStrike" cap="none">
                        <a:solidFill>
                          <a:schemeClr val="dk1"/>
                        </a:solidFill>
                        <a:latin typeface="Calibri"/>
                        <a:ea typeface="Calibri"/>
                        <a:cs typeface="Calibri"/>
                        <a:sym typeface="Calibri"/>
                      </a:endParaRPr>
                    </a:p>
                  </a:txBody>
                  <a:tcPr marL="68575" marR="68575" marT="0" marB="0" anchor="ctr">
                    <a:solidFill>
                      <a:srgbClr val="D8D8D8"/>
                    </a:solidFill>
                  </a:tcPr>
                </a:tc>
                <a:extLst>
                  <a:ext uri="{0D108BD9-81ED-4DB2-BD59-A6C34878D82A}">
                    <a16:rowId xmlns:a16="http://schemas.microsoft.com/office/drawing/2014/main" val="10003"/>
                  </a:ext>
                </a:extLst>
              </a:tr>
              <a:tr h="982275">
                <a:tc>
                  <a:txBody>
                    <a:bodyPr/>
                    <a:lstStyle/>
                    <a:p>
                      <a:pPr marL="0" marR="0" lvl="0" indent="0" algn="ctr" rtl="0">
                        <a:lnSpc>
                          <a:spcPct val="107000"/>
                        </a:lnSpc>
                        <a:spcBef>
                          <a:spcPts val="0"/>
                        </a:spcBef>
                        <a:spcAft>
                          <a:spcPts val="0"/>
                        </a:spcAft>
                        <a:buNone/>
                      </a:pPr>
                      <a:r>
                        <a:rPr lang="en-US" sz="1800" u="none" strike="noStrike" cap="none">
                          <a:solidFill>
                            <a:schemeClr val="dk1"/>
                          </a:solidFill>
                        </a:rPr>
                        <a:t>Volume Test</a:t>
                      </a:r>
                      <a:endParaRPr sz="1800" u="none" strike="noStrike" cap="none">
                        <a:solidFill>
                          <a:schemeClr val="dk1"/>
                        </a:solidFill>
                        <a:latin typeface="Calibri"/>
                        <a:ea typeface="Calibri"/>
                        <a:cs typeface="Calibri"/>
                        <a:sym typeface="Calibri"/>
                      </a:endParaRPr>
                    </a:p>
                  </a:txBody>
                  <a:tcPr marL="68575" marR="68575" marT="0" marB="0" anchor="ctr">
                    <a:solidFill>
                      <a:srgbClr val="9DB7BF"/>
                    </a:solidFill>
                  </a:tcPr>
                </a:tc>
                <a:tc>
                  <a:txBody>
                    <a:bodyPr/>
                    <a:lstStyle/>
                    <a:p>
                      <a:pPr marL="0" marR="0" lvl="0" indent="0" algn="ctr" rtl="0">
                        <a:spcBef>
                          <a:spcPts val="0"/>
                        </a:spcBef>
                        <a:spcAft>
                          <a:spcPts val="0"/>
                        </a:spcAft>
                        <a:buNone/>
                      </a:pPr>
                      <a:r>
                        <a:rPr lang="en-US" sz="1800" u="none" strike="noStrike" cap="none">
                          <a:solidFill>
                            <a:schemeClr val="dk1"/>
                          </a:solidFill>
                        </a:rPr>
                        <a:t>To analyse the system performance by increasing the volume of data in DB</a:t>
                      </a:r>
                      <a:endParaRPr sz="1800" u="none" strike="noStrike" cap="none">
                        <a:solidFill>
                          <a:schemeClr val="dk1"/>
                        </a:solidFill>
                        <a:latin typeface="Calibri"/>
                        <a:ea typeface="Calibri"/>
                        <a:cs typeface="Calibri"/>
                        <a:sym typeface="Calibri"/>
                      </a:endParaRPr>
                    </a:p>
                  </a:txBody>
                  <a:tcPr marL="68575" marR="68575" marT="0" marB="0" anchor="ctr"/>
                </a:tc>
                <a:tc>
                  <a:txBody>
                    <a:bodyPr/>
                    <a:lstStyle/>
                    <a:p>
                      <a:pPr marL="0" marR="0" lvl="0" indent="0" algn="ctr" rtl="0">
                        <a:lnSpc>
                          <a:spcPct val="107000"/>
                        </a:lnSpc>
                        <a:spcBef>
                          <a:spcPts val="0"/>
                        </a:spcBef>
                        <a:spcAft>
                          <a:spcPts val="0"/>
                        </a:spcAft>
                        <a:buNone/>
                      </a:pPr>
                      <a:endParaRPr sz="1800" u="none" strike="noStrike" cap="none">
                        <a:solidFill>
                          <a:schemeClr val="dk1"/>
                        </a:solidFill>
                        <a:latin typeface="Calibri"/>
                        <a:ea typeface="Calibri"/>
                        <a:cs typeface="Calibri"/>
                        <a:sym typeface="Calibri"/>
                      </a:endParaRPr>
                    </a:p>
                  </a:txBody>
                  <a:tcPr marL="68575" marR="68575" marT="0" marB="0" anchor="ctr">
                    <a:solidFill>
                      <a:srgbClr val="D8D8D8"/>
                    </a:solidFill>
                  </a:tcPr>
                </a:tc>
                <a:extLst>
                  <a:ext uri="{0D108BD9-81ED-4DB2-BD59-A6C34878D82A}">
                    <a16:rowId xmlns:a16="http://schemas.microsoft.com/office/drawing/2014/main" val="10004"/>
                  </a:ext>
                </a:extLst>
              </a:tr>
              <a:tr h="919750">
                <a:tc>
                  <a:txBody>
                    <a:bodyPr/>
                    <a:lstStyle/>
                    <a:p>
                      <a:pPr marL="0" marR="0" lvl="0" indent="0" algn="ctr" rtl="0">
                        <a:lnSpc>
                          <a:spcPct val="107000"/>
                        </a:lnSpc>
                        <a:spcBef>
                          <a:spcPts val="0"/>
                        </a:spcBef>
                        <a:spcAft>
                          <a:spcPts val="0"/>
                        </a:spcAft>
                        <a:buNone/>
                      </a:pPr>
                      <a:r>
                        <a:rPr lang="en-US" sz="1800" u="none" strike="noStrike" cap="none">
                          <a:solidFill>
                            <a:schemeClr val="dk1"/>
                          </a:solidFill>
                        </a:rPr>
                        <a:t>Stability Test</a:t>
                      </a:r>
                      <a:endParaRPr sz="1800" u="none" strike="noStrike" cap="none">
                        <a:solidFill>
                          <a:schemeClr val="dk1"/>
                        </a:solidFill>
                        <a:latin typeface="Calibri"/>
                        <a:ea typeface="Calibri"/>
                        <a:cs typeface="Calibri"/>
                        <a:sym typeface="Calibri"/>
                      </a:endParaRPr>
                    </a:p>
                  </a:txBody>
                  <a:tcPr marL="68575" marR="68575" marT="0" marB="0" anchor="ctr">
                    <a:solidFill>
                      <a:srgbClr val="9DB7BF"/>
                    </a:solidFill>
                  </a:tcPr>
                </a:tc>
                <a:tc>
                  <a:txBody>
                    <a:bodyPr/>
                    <a:lstStyle/>
                    <a:p>
                      <a:pPr marL="0" marR="0" lvl="0" indent="0" algn="ctr" rtl="0">
                        <a:spcBef>
                          <a:spcPts val="0"/>
                        </a:spcBef>
                        <a:spcAft>
                          <a:spcPts val="0"/>
                        </a:spcAft>
                        <a:buNone/>
                      </a:pPr>
                      <a:r>
                        <a:rPr lang="en-US" sz="1800" u="none" strike="noStrike" cap="none">
                          <a:solidFill>
                            <a:schemeClr val="dk1"/>
                          </a:solidFill>
                        </a:rPr>
                        <a:t>To check if the app will crash at any point of time</a:t>
                      </a:r>
                      <a:endParaRPr sz="1800" u="none" strike="noStrike" cap="none">
                        <a:solidFill>
                          <a:schemeClr val="dk1"/>
                        </a:solidFill>
                        <a:latin typeface="Calibri"/>
                        <a:ea typeface="Calibri"/>
                        <a:cs typeface="Calibri"/>
                        <a:sym typeface="Calibri"/>
                      </a:endParaRPr>
                    </a:p>
                  </a:txBody>
                  <a:tcPr marL="68575" marR="68575" marT="0" marB="0" anchor="ctr"/>
                </a:tc>
                <a:tc>
                  <a:txBody>
                    <a:bodyPr/>
                    <a:lstStyle/>
                    <a:p>
                      <a:pPr marL="0" marR="0" lvl="0" indent="0" algn="ctr" rtl="0">
                        <a:lnSpc>
                          <a:spcPct val="107000"/>
                        </a:lnSpc>
                        <a:spcBef>
                          <a:spcPts val="0"/>
                        </a:spcBef>
                        <a:spcAft>
                          <a:spcPts val="0"/>
                        </a:spcAft>
                        <a:buNone/>
                      </a:pPr>
                      <a:endParaRPr sz="1800" u="none" strike="noStrike" cap="none">
                        <a:solidFill>
                          <a:schemeClr val="dk1"/>
                        </a:solidFill>
                        <a:latin typeface="Calibri"/>
                        <a:ea typeface="Calibri"/>
                        <a:cs typeface="Calibri"/>
                        <a:sym typeface="Calibri"/>
                      </a:endParaRPr>
                    </a:p>
                  </a:txBody>
                  <a:tcPr marL="68575" marR="68575" marT="0" marB="0" anchor="ctr">
                    <a:solidFill>
                      <a:srgbClr val="D8D8D8"/>
                    </a:solidFill>
                  </a:tcPr>
                </a:tc>
                <a:extLst>
                  <a:ext uri="{0D108BD9-81ED-4DB2-BD59-A6C34878D82A}">
                    <a16:rowId xmlns:a16="http://schemas.microsoft.com/office/drawing/2014/main" val="10005"/>
                  </a:ext>
                </a:extLst>
              </a:tr>
              <a:tr h="1029425">
                <a:tc>
                  <a:txBody>
                    <a:bodyPr/>
                    <a:lstStyle/>
                    <a:p>
                      <a:pPr marL="0" marR="0" lvl="0" indent="0" algn="ctr" rtl="0">
                        <a:lnSpc>
                          <a:spcPct val="107000"/>
                        </a:lnSpc>
                        <a:spcBef>
                          <a:spcPts val="0"/>
                        </a:spcBef>
                        <a:spcAft>
                          <a:spcPts val="0"/>
                        </a:spcAft>
                        <a:buNone/>
                      </a:pPr>
                      <a:r>
                        <a:rPr lang="en-US" sz="1800" u="none" strike="noStrike" cap="none">
                          <a:solidFill>
                            <a:schemeClr val="dk1"/>
                          </a:solidFill>
                        </a:rPr>
                        <a:t>Compatibility Test</a:t>
                      </a:r>
                      <a:endParaRPr sz="1800" u="none" strike="noStrike" cap="none">
                        <a:solidFill>
                          <a:schemeClr val="dk1"/>
                        </a:solidFill>
                        <a:latin typeface="Calibri"/>
                        <a:ea typeface="Calibri"/>
                        <a:cs typeface="Calibri"/>
                        <a:sym typeface="Calibri"/>
                      </a:endParaRPr>
                    </a:p>
                  </a:txBody>
                  <a:tcPr marL="68575" marR="68575" marT="0" marB="0" anchor="ctr">
                    <a:solidFill>
                      <a:srgbClr val="9DB7BF"/>
                    </a:solidFill>
                  </a:tcPr>
                </a:tc>
                <a:tc>
                  <a:txBody>
                    <a:bodyPr/>
                    <a:lstStyle/>
                    <a:p>
                      <a:pPr marL="0" marR="0" lvl="0" indent="0" algn="ctr" rtl="0">
                        <a:spcBef>
                          <a:spcPts val="0"/>
                        </a:spcBef>
                        <a:spcAft>
                          <a:spcPts val="0"/>
                        </a:spcAft>
                        <a:buNone/>
                      </a:pPr>
                      <a:r>
                        <a:rPr lang="en-US" sz="1800" u="none" strike="noStrike" cap="none">
                          <a:solidFill>
                            <a:schemeClr val="dk1"/>
                          </a:solidFill>
                        </a:rPr>
                        <a:t>Software should be installable on all versions of OS</a:t>
                      </a:r>
                      <a:endParaRPr sz="1800" u="none" strike="noStrike" cap="none">
                        <a:solidFill>
                          <a:schemeClr val="dk1"/>
                        </a:solidFill>
                        <a:latin typeface="Calibri"/>
                        <a:ea typeface="Calibri"/>
                        <a:cs typeface="Calibri"/>
                        <a:sym typeface="Calibri"/>
                      </a:endParaRPr>
                    </a:p>
                  </a:txBody>
                  <a:tcPr marL="68575" marR="68575" marT="0" marB="0" anchor="ctr"/>
                </a:tc>
                <a:tc>
                  <a:txBody>
                    <a:bodyPr/>
                    <a:lstStyle/>
                    <a:p>
                      <a:pPr marL="0" marR="0" lvl="0" indent="0" algn="ctr" rtl="0">
                        <a:lnSpc>
                          <a:spcPct val="107000"/>
                        </a:lnSpc>
                        <a:spcBef>
                          <a:spcPts val="0"/>
                        </a:spcBef>
                        <a:spcAft>
                          <a:spcPts val="0"/>
                        </a:spcAft>
                        <a:buNone/>
                      </a:pPr>
                      <a:endParaRPr sz="1800" u="none" strike="noStrike" cap="none">
                        <a:solidFill>
                          <a:schemeClr val="dk1"/>
                        </a:solidFill>
                        <a:latin typeface="Calibri"/>
                        <a:ea typeface="Calibri"/>
                        <a:cs typeface="Calibri"/>
                        <a:sym typeface="Calibri"/>
                      </a:endParaRPr>
                    </a:p>
                  </a:txBody>
                  <a:tcPr marL="68575" marR="68575" marT="0" marB="0" anchor="ctr">
                    <a:solidFill>
                      <a:srgbClr val="D8D8D8"/>
                    </a:solidFill>
                  </a:tcPr>
                </a:tc>
                <a:extLst>
                  <a:ext uri="{0D108BD9-81ED-4DB2-BD59-A6C34878D82A}">
                    <a16:rowId xmlns:a16="http://schemas.microsoft.com/office/drawing/2014/main" val="10006"/>
                  </a:ext>
                </a:extLst>
              </a:tr>
            </a:tbl>
          </a:graphicData>
        </a:graphic>
      </p:graphicFrame>
      <p:pic>
        <p:nvPicPr>
          <p:cNvPr id="530" name="Google Shape;530;p59" descr="Performance Testing Tools - javatpoint"/>
          <p:cNvPicPr preferRelativeResize="0"/>
          <p:nvPr/>
        </p:nvPicPr>
        <p:blipFill rotWithShape="1">
          <a:blip r:embed="rId3">
            <a:alphaModFix/>
          </a:blip>
          <a:srcRect/>
          <a:stretch/>
        </p:blipFill>
        <p:spPr>
          <a:xfrm>
            <a:off x="8046720" y="1371600"/>
            <a:ext cx="4216400" cy="4114800"/>
          </a:xfrm>
          <a:prstGeom prst="rect">
            <a:avLst/>
          </a:prstGeom>
          <a:noFill/>
          <a:ln>
            <a:noFill/>
          </a:ln>
        </p:spPr>
      </p:pic>
      <p:pic>
        <p:nvPicPr>
          <p:cNvPr id="531" name="Google Shape;531;p59"/>
          <p:cNvPicPr preferRelativeResize="0"/>
          <p:nvPr/>
        </p:nvPicPr>
        <p:blipFill rotWithShape="1">
          <a:blip r:embed="rId4">
            <a:alphaModFix/>
          </a:blip>
          <a:srcRect/>
          <a:stretch/>
        </p:blipFill>
        <p:spPr>
          <a:xfrm>
            <a:off x="8685530" y="1504950"/>
            <a:ext cx="3191510" cy="47625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Shape 535"/>
        <p:cNvGrpSpPr/>
        <p:nvPr/>
      </p:nvGrpSpPr>
      <p:grpSpPr>
        <a:xfrm>
          <a:off x="0" y="0"/>
          <a:ext cx="0" cy="0"/>
          <a:chOff x="0" y="0"/>
          <a:chExt cx="0" cy="0"/>
        </a:xfrm>
      </p:grpSpPr>
      <p:sp>
        <p:nvSpPr>
          <p:cNvPr id="536" name="Google Shape;536;p60"/>
          <p:cNvSpPr txBox="1"/>
          <p:nvPr/>
        </p:nvSpPr>
        <p:spPr>
          <a:xfrm>
            <a:off x="2390724" y="3515764"/>
            <a:ext cx="4474163" cy="2179369"/>
          </a:xfrm>
          <a:prstGeom prst="rect">
            <a:avLst/>
          </a:prstGeom>
          <a:noFill/>
          <a:ln>
            <a:noFill/>
          </a:ln>
        </p:spPr>
        <p:txBody>
          <a:bodyPr spcFirstLastPara="1" wrap="square" lIns="91425" tIns="45700" rIns="91425" bIns="45700" anchor="t" anchorCtr="0">
            <a:normAutofit/>
          </a:bodyPr>
          <a:lstStyle/>
          <a:p>
            <a:pPr marL="342900" marR="0" lvl="0" indent="-342900" algn="l" rtl="0">
              <a:spcBef>
                <a:spcPts val="0"/>
              </a:spcBef>
              <a:spcAft>
                <a:spcPts val="0"/>
              </a:spcAft>
              <a:buClr>
                <a:schemeClr val="accent1"/>
              </a:buClr>
              <a:buSzPts val="1440"/>
              <a:buFont typeface="Noto Sans Symbols"/>
              <a:buChar char="►"/>
            </a:pPr>
            <a:r>
              <a:rPr lang="en-US" sz="1800" b="0" i="0" u="none" strike="noStrike" cap="none">
                <a:solidFill>
                  <a:srgbClr val="3F3F3F"/>
                </a:solidFill>
                <a:latin typeface="Trebuchet MS"/>
                <a:ea typeface="Trebuchet MS"/>
                <a:cs typeface="Trebuchet MS"/>
                <a:sym typeface="Trebuchet MS"/>
              </a:rPr>
              <a:t>sdsd</a:t>
            </a:r>
            <a:endParaRPr sz="1800" b="0" i="0" u="none" strike="noStrike" cap="none">
              <a:solidFill>
                <a:srgbClr val="3F3F3F"/>
              </a:solidFill>
              <a:latin typeface="Trebuchet MS"/>
              <a:ea typeface="Trebuchet MS"/>
              <a:cs typeface="Trebuchet MS"/>
              <a:sym typeface="Trebuchet MS"/>
            </a:endParaRPr>
          </a:p>
        </p:txBody>
      </p:sp>
      <p:pic>
        <p:nvPicPr>
          <p:cNvPr id="537" name="Google Shape;537;p60" descr="Functional Testing vs Non-Functional Testing — What are the ..."/>
          <p:cNvPicPr preferRelativeResize="0"/>
          <p:nvPr/>
        </p:nvPicPr>
        <p:blipFill rotWithShape="1">
          <a:blip r:embed="rId3">
            <a:alphaModFix/>
          </a:blip>
          <a:srcRect/>
          <a:stretch/>
        </p:blipFill>
        <p:spPr>
          <a:xfrm>
            <a:off x="457200" y="1658120"/>
            <a:ext cx="10759736" cy="5160963"/>
          </a:xfrm>
          <a:prstGeom prst="rect">
            <a:avLst/>
          </a:prstGeom>
          <a:noFill/>
          <a:ln>
            <a:noFill/>
          </a:ln>
        </p:spPr>
      </p:pic>
      <p:pic>
        <p:nvPicPr>
          <p:cNvPr id="538" name="Google Shape;538;p60" descr="Functional Testing Vs Non-Functional Testing: What's the Difference?"/>
          <p:cNvPicPr preferRelativeResize="0"/>
          <p:nvPr/>
        </p:nvPicPr>
        <p:blipFill rotWithShape="1">
          <a:blip r:embed="rId4">
            <a:alphaModFix/>
          </a:blip>
          <a:srcRect/>
          <a:stretch/>
        </p:blipFill>
        <p:spPr>
          <a:xfrm>
            <a:off x="2996838" y="534170"/>
            <a:ext cx="5114925" cy="1123950"/>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542"/>
        <p:cNvGrpSpPr/>
        <p:nvPr/>
      </p:nvGrpSpPr>
      <p:grpSpPr>
        <a:xfrm>
          <a:off x="0" y="0"/>
          <a:ext cx="0" cy="0"/>
          <a:chOff x="0" y="0"/>
          <a:chExt cx="0" cy="0"/>
        </a:xfrm>
      </p:grpSpPr>
      <p:sp>
        <p:nvSpPr>
          <p:cNvPr id="543" name="Google Shape;543;p61"/>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EB7564"/>
              </a:buClr>
              <a:buSzPts val="3600"/>
              <a:buFont typeface="Trebuchet MS"/>
              <a:buNone/>
            </a:pPr>
            <a:r>
              <a:rPr lang="en-US">
                <a:solidFill>
                  <a:srgbClr val="EB7564"/>
                </a:solidFill>
              </a:rPr>
              <a:t>How to write a Test Scenario?</a:t>
            </a:r>
            <a:endParaRPr/>
          </a:p>
        </p:txBody>
      </p:sp>
      <p:sp>
        <p:nvSpPr>
          <p:cNvPr id="544" name="Google Shape;544;p61"/>
          <p:cNvSpPr txBox="1">
            <a:spLocks noGrp="1"/>
          </p:cNvSpPr>
          <p:nvPr>
            <p:ph type="body" idx="1"/>
          </p:nvPr>
        </p:nvSpPr>
        <p:spPr>
          <a:xfrm>
            <a:off x="3360000" y="1864623"/>
            <a:ext cx="2627791" cy="4211057"/>
          </a:xfrm>
          <a:prstGeom prst="rect">
            <a:avLst/>
          </a:prstGeom>
          <a:noFill/>
          <a:ln>
            <a:noFill/>
          </a:ln>
        </p:spPr>
        <p:txBody>
          <a:bodyPr spcFirstLastPara="1" wrap="square" lIns="91425" tIns="45700" rIns="91425" bIns="45700" anchor="t" anchorCtr="0">
            <a:normAutofit/>
          </a:bodyPr>
          <a:lstStyle/>
          <a:p>
            <a:pPr marL="342900" lvl="0" indent="-342900" algn="l" rtl="0">
              <a:lnSpc>
                <a:spcPct val="150000"/>
              </a:lnSpc>
              <a:spcBef>
                <a:spcPts val="0"/>
              </a:spcBef>
              <a:spcAft>
                <a:spcPts val="0"/>
              </a:spcAft>
              <a:buSzPts val="1440"/>
              <a:buChar char="►"/>
            </a:pPr>
            <a:r>
              <a:rPr lang="en-US"/>
              <a:t>Test Scenario</a:t>
            </a:r>
            <a:endParaRPr/>
          </a:p>
          <a:p>
            <a:pPr marL="342900" lvl="0" indent="-342900" algn="l" rtl="0">
              <a:lnSpc>
                <a:spcPct val="150000"/>
              </a:lnSpc>
              <a:spcBef>
                <a:spcPts val="1000"/>
              </a:spcBef>
              <a:spcAft>
                <a:spcPts val="0"/>
              </a:spcAft>
              <a:buSzPts val="1440"/>
              <a:buChar char="►"/>
            </a:pPr>
            <a:r>
              <a:rPr lang="en-US"/>
              <a:t>Test Case</a:t>
            </a:r>
            <a:endParaRPr/>
          </a:p>
          <a:p>
            <a:pPr marL="342900" lvl="0" indent="-342900" algn="l" rtl="0">
              <a:lnSpc>
                <a:spcPct val="150000"/>
              </a:lnSpc>
              <a:spcBef>
                <a:spcPts val="1000"/>
              </a:spcBef>
              <a:spcAft>
                <a:spcPts val="0"/>
              </a:spcAft>
              <a:buSzPts val="1440"/>
              <a:buChar char="►"/>
            </a:pPr>
            <a:r>
              <a:rPr lang="en-US"/>
              <a:t>Test Step</a:t>
            </a:r>
            <a:endParaRPr/>
          </a:p>
          <a:p>
            <a:pPr marL="342900" lvl="0" indent="-342900" algn="l" rtl="0">
              <a:lnSpc>
                <a:spcPct val="150000"/>
              </a:lnSpc>
              <a:spcBef>
                <a:spcPts val="1000"/>
              </a:spcBef>
              <a:spcAft>
                <a:spcPts val="0"/>
              </a:spcAft>
              <a:buSzPts val="1440"/>
              <a:buChar char="►"/>
            </a:pPr>
            <a:r>
              <a:rPr lang="en-US"/>
              <a:t>Actual Result</a:t>
            </a:r>
            <a:endParaRPr/>
          </a:p>
          <a:p>
            <a:pPr marL="342900" lvl="0" indent="-342900" algn="l" rtl="0">
              <a:lnSpc>
                <a:spcPct val="150000"/>
              </a:lnSpc>
              <a:spcBef>
                <a:spcPts val="1000"/>
              </a:spcBef>
              <a:spcAft>
                <a:spcPts val="0"/>
              </a:spcAft>
              <a:buSzPts val="1440"/>
              <a:buChar char="►"/>
            </a:pPr>
            <a:r>
              <a:rPr lang="en-US"/>
              <a:t>Expected Result</a:t>
            </a:r>
            <a:endParaRPr/>
          </a:p>
          <a:p>
            <a:pPr marL="342900" lvl="0" indent="-342900" algn="l" rtl="0">
              <a:lnSpc>
                <a:spcPct val="150000"/>
              </a:lnSpc>
              <a:spcBef>
                <a:spcPts val="1000"/>
              </a:spcBef>
              <a:spcAft>
                <a:spcPts val="0"/>
              </a:spcAft>
              <a:buSzPts val="1440"/>
              <a:buChar char="►"/>
            </a:pPr>
            <a:r>
              <a:rPr lang="en-US"/>
              <a:t>Status</a:t>
            </a:r>
            <a:endParaRPr/>
          </a:p>
          <a:p>
            <a:pPr marL="342900" lvl="0" indent="-342900" algn="l" rtl="0">
              <a:lnSpc>
                <a:spcPct val="150000"/>
              </a:lnSpc>
              <a:spcBef>
                <a:spcPts val="1000"/>
              </a:spcBef>
              <a:spcAft>
                <a:spcPts val="0"/>
              </a:spcAft>
              <a:buSzPts val="1440"/>
              <a:buChar char="►"/>
            </a:pPr>
            <a:r>
              <a:rPr lang="en-US"/>
              <a:t>Comment</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548"/>
        <p:cNvGrpSpPr/>
        <p:nvPr/>
      </p:nvGrpSpPr>
      <p:grpSpPr>
        <a:xfrm>
          <a:off x="0" y="0"/>
          <a:ext cx="0" cy="0"/>
          <a:chOff x="0" y="0"/>
          <a:chExt cx="0" cy="0"/>
        </a:xfrm>
      </p:grpSpPr>
      <p:sp>
        <p:nvSpPr>
          <p:cNvPr id="549" name="Google Shape;549;p62"/>
          <p:cNvSpPr txBox="1">
            <a:spLocks noGrp="1"/>
          </p:cNvSpPr>
          <p:nvPr>
            <p:ph type="title"/>
          </p:nvPr>
        </p:nvSpPr>
        <p:spPr>
          <a:xfrm>
            <a:off x="677334" y="318654"/>
            <a:ext cx="8596668" cy="900545"/>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EB7564"/>
              </a:buClr>
              <a:buSzPts val="3600"/>
              <a:buFont typeface="Trebuchet MS"/>
              <a:buNone/>
            </a:pPr>
            <a:r>
              <a:rPr lang="en-US">
                <a:solidFill>
                  <a:srgbClr val="EB7564"/>
                </a:solidFill>
              </a:rPr>
              <a:t>Test Scenario and Test cases</a:t>
            </a:r>
            <a:endParaRPr/>
          </a:p>
        </p:txBody>
      </p:sp>
      <p:sp>
        <p:nvSpPr>
          <p:cNvPr id="550" name="Google Shape;550;p62"/>
          <p:cNvSpPr txBox="1">
            <a:spLocks noGrp="1"/>
          </p:cNvSpPr>
          <p:nvPr>
            <p:ph type="body" idx="1"/>
          </p:nvPr>
        </p:nvSpPr>
        <p:spPr>
          <a:xfrm>
            <a:off x="665366" y="1219199"/>
            <a:ext cx="9741284" cy="55681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n-US"/>
              <a:t>Test Scenario:</a:t>
            </a:r>
            <a:endParaRPr/>
          </a:p>
          <a:p>
            <a:pPr marL="0" lvl="0" indent="0" algn="l" rtl="0">
              <a:spcBef>
                <a:spcPts val="1000"/>
              </a:spcBef>
              <a:spcAft>
                <a:spcPts val="0"/>
              </a:spcAft>
              <a:buSzPts val="1440"/>
              <a:buNone/>
            </a:pPr>
            <a:r>
              <a:rPr lang="en-US" b="1"/>
              <a:t>			It</a:t>
            </a:r>
            <a:r>
              <a:rPr lang="en-US"/>
              <a:t> is one liner statement which tell us about what to </a:t>
            </a:r>
            <a:r>
              <a:rPr lang="en-US" b="1"/>
              <a:t>test</a:t>
            </a:r>
            <a:endParaRPr/>
          </a:p>
          <a:p>
            <a:pPr marL="0" lvl="0" indent="0" algn="l" rtl="0">
              <a:spcBef>
                <a:spcPts val="1000"/>
              </a:spcBef>
              <a:spcAft>
                <a:spcPts val="0"/>
              </a:spcAft>
              <a:buSzPts val="1440"/>
              <a:buNone/>
            </a:pPr>
            <a:r>
              <a:rPr lang="en-US" b="1"/>
              <a:t>	Ex: </a:t>
            </a:r>
            <a:r>
              <a:rPr lang="en-US" b="1">
                <a:solidFill>
                  <a:srgbClr val="932313"/>
                </a:solidFill>
              </a:rPr>
              <a:t>Check Login functionality</a:t>
            </a:r>
            <a:endParaRPr/>
          </a:p>
          <a:p>
            <a:pPr marL="0" lvl="0" indent="0" algn="l" rtl="0">
              <a:spcBef>
                <a:spcPts val="1000"/>
              </a:spcBef>
              <a:spcAft>
                <a:spcPts val="0"/>
              </a:spcAft>
              <a:buSzPts val="1440"/>
              <a:buNone/>
            </a:pPr>
            <a:endParaRPr b="1"/>
          </a:p>
          <a:p>
            <a:pPr marL="0" lvl="0" indent="0" algn="l" rtl="0">
              <a:spcBef>
                <a:spcPts val="1000"/>
              </a:spcBef>
              <a:spcAft>
                <a:spcPts val="0"/>
              </a:spcAft>
              <a:buSzPts val="480"/>
              <a:buNone/>
            </a:pPr>
            <a:endParaRPr sz="600"/>
          </a:p>
          <a:p>
            <a:pPr marL="342900" lvl="0" indent="-342900" algn="l" rtl="0">
              <a:spcBef>
                <a:spcPts val="1000"/>
              </a:spcBef>
              <a:spcAft>
                <a:spcPts val="0"/>
              </a:spcAft>
              <a:buSzPts val="1440"/>
              <a:buChar char="►"/>
            </a:pPr>
            <a:r>
              <a:rPr lang="en-US"/>
              <a:t>Test Case: </a:t>
            </a:r>
            <a:endParaRPr/>
          </a:p>
          <a:p>
            <a:pPr marL="0" lvl="0" indent="0" algn="l" rtl="0">
              <a:spcBef>
                <a:spcPts val="1000"/>
              </a:spcBef>
              <a:spcAft>
                <a:spcPts val="0"/>
              </a:spcAft>
              <a:buSzPts val="1440"/>
              <a:buNone/>
            </a:pPr>
            <a:r>
              <a:rPr lang="en-US" b="1"/>
              <a:t>			</a:t>
            </a:r>
            <a:r>
              <a:rPr lang="en-US"/>
              <a:t> </a:t>
            </a:r>
            <a:r>
              <a:rPr lang="en-US" b="1"/>
              <a:t>Test scenario</a:t>
            </a:r>
            <a:r>
              <a:rPr lang="en-US"/>
              <a:t> consists of a detailed </a:t>
            </a:r>
            <a:r>
              <a:rPr lang="en-US" b="1"/>
              <a:t>test</a:t>
            </a:r>
            <a:r>
              <a:rPr lang="en-US"/>
              <a:t> procedure</a:t>
            </a:r>
            <a:endParaRPr/>
          </a:p>
          <a:p>
            <a:pPr marL="0" lvl="0" indent="0" algn="l" rtl="0">
              <a:spcBef>
                <a:spcPts val="1000"/>
              </a:spcBef>
              <a:spcAft>
                <a:spcPts val="0"/>
              </a:spcAft>
              <a:buSzPts val="1440"/>
              <a:buNone/>
            </a:pPr>
            <a:r>
              <a:rPr lang="en-US"/>
              <a:t>			 Here Login Test Scenario has 4 test cases.</a:t>
            </a:r>
            <a:endParaRPr/>
          </a:p>
          <a:p>
            <a:pPr marL="0" lvl="0" indent="0" algn="l" rtl="0">
              <a:spcBef>
                <a:spcPts val="1000"/>
              </a:spcBef>
              <a:spcAft>
                <a:spcPts val="0"/>
              </a:spcAft>
              <a:buSzPts val="1440"/>
              <a:buNone/>
            </a:pPr>
            <a:endParaRPr/>
          </a:p>
          <a:p>
            <a:pPr marL="0" lvl="0" indent="0" algn="l" rtl="0">
              <a:spcBef>
                <a:spcPts val="1000"/>
              </a:spcBef>
              <a:spcAft>
                <a:spcPts val="0"/>
              </a:spcAft>
              <a:buSzPts val="1440"/>
              <a:buNone/>
            </a:pPr>
            <a:r>
              <a:rPr lang="en-US"/>
              <a:t>	Ex:  </a:t>
            </a:r>
            <a:r>
              <a:rPr lang="en-US">
                <a:solidFill>
                  <a:srgbClr val="932313"/>
                </a:solidFill>
              </a:rPr>
              <a:t>Check Using </a:t>
            </a:r>
            <a:r>
              <a:rPr lang="en-US" b="1">
                <a:solidFill>
                  <a:srgbClr val="932313"/>
                </a:solidFill>
              </a:rPr>
              <a:t>valid</a:t>
            </a:r>
            <a:r>
              <a:rPr lang="en-US">
                <a:solidFill>
                  <a:srgbClr val="932313"/>
                </a:solidFill>
              </a:rPr>
              <a:t> User Id and </a:t>
            </a:r>
            <a:r>
              <a:rPr lang="en-US" b="1">
                <a:solidFill>
                  <a:srgbClr val="932313"/>
                </a:solidFill>
              </a:rPr>
              <a:t>valid</a:t>
            </a:r>
            <a:r>
              <a:rPr lang="en-US">
                <a:solidFill>
                  <a:srgbClr val="932313"/>
                </a:solidFill>
              </a:rPr>
              <a:t> Password</a:t>
            </a:r>
            <a:endParaRPr/>
          </a:p>
          <a:p>
            <a:pPr marL="0" lvl="0" indent="0" algn="l" rtl="0">
              <a:spcBef>
                <a:spcPts val="1000"/>
              </a:spcBef>
              <a:spcAft>
                <a:spcPts val="0"/>
              </a:spcAft>
              <a:buSzPts val="1440"/>
              <a:buNone/>
            </a:pPr>
            <a:r>
              <a:rPr lang="en-US">
                <a:solidFill>
                  <a:srgbClr val="932313"/>
                </a:solidFill>
              </a:rPr>
              <a:t>		Check Using </a:t>
            </a:r>
            <a:r>
              <a:rPr lang="en-US" b="1">
                <a:solidFill>
                  <a:srgbClr val="932313"/>
                </a:solidFill>
              </a:rPr>
              <a:t>Invalid</a:t>
            </a:r>
            <a:r>
              <a:rPr lang="en-US">
                <a:solidFill>
                  <a:srgbClr val="932313"/>
                </a:solidFill>
              </a:rPr>
              <a:t> User Id and valid Password</a:t>
            </a:r>
            <a:endParaRPr/>
          </a:p>
          <a:p>
            <a:pPr marL="0" lvl="0" indent="0" algn="l" rtl="0">
              <a:spcBef>
                <a:spcPts val="1000"/>
              </a:spcBef>
              <a:spcAft>
                <a:spcPts val="0"/>
              </a:spcAft>
              <a:buSzPts val="1440"/>
              <a:buNone/>
            </a:pPr>
            <a:r>
              <a:rPr lang="en-US">
                <a:solidFill>
                  <a:srgbClr val="932313"/>
                </a:solidFill>
              </a:rPr>
              <a:t>		Check Using valid User Id and </a:t>
            </a:r>
            <a:r>
              <a:rPr lang="en-US" b="1">
                <a:solidFill>
                  <a:srgbClr val="932313"/>
                </a:solidFill>
              </a:rPr>
              <a:t>Invalid</a:t>
            </a:r>
            <a:r>
              <a:rPr lang="en-US">
                <a:solidFill>
                  <a:srgbClr val="932313"/>
                </a:solidFill>
              </a:rPr>
              <a:t> Password</a:t>
            </a:r>
            <a:endParaRPr/>
          </a:p>
          <a:p>
            <a:pPr marL="0" lvl="0" indent="0" algn="l" rtl="0">
              <a:spcBef>
                <a:spcPts val="1000"/>
              </a:spcBef>
              <a:spcAft>
                <a:spcPts val="0"/>
              </a:spcAft>
              <a:buSzPts val="1440"/>
              <a:buNone/>
            </a:pPr>
            <a:r>
              <a:rPr lang="en-US">
                <a:solidFill>
                  <a:srgbClr val="932313"/>
                </a:solidFill>
              </a:rPr>
              <a:t>		Check Using </a:t>
            </a:r>
            <a:r>
              <a:rPr lang="en-US" b="1">
                <a:solidFill>
                  <a:srgbClr val="932313"/>
                </a:solidFill>
              </a:rPr>
              <a:t>Invalid</a:t>
            </a:r>
            <a:r>
              <a:rPr lang="en-US">
                <a:solidFill>
                  <a:srgbClr val="932313"/>
                </a:solidFill>
              </a:rPr>
              <a:t> User Id and </a:t>
            </a:r>
            <a:r>
              <a:rPr lang="en-US" b="1">
                <a:solidFill>
                  <a:srgbClr val="932313"/>
                </a:solidFill>
              </a:rPr>
              <a:t>Invalid</a:t>
            </a:r>
            <a:r>
              <a:rPr lang="en-US">
                <a:solidFill>
                  <a:srgbClr val="932313"/>
                </a:solidFill>
              </a:rPr>
              <a:t> Password</a:t>
            </a:r>
            <a:endParaRPr/>
          </a:p>
          <a:p>
            <a:pPr marL="0" lvl="0" indent="0" algn="l" rtl="0">
              <a:spcBef>
                <a:spcPts val="1000"/>
              </a:spcBef>
              <a:spcAft>
                <a:spcPts val="0"/>
              </a:spcAft>
              <a:buSzPts val="1440"/>
              <a:buNone/>
            </a:pPr>
            <a:r>
              <a:rPr lang="en-US"/>
              <a:t> </a:t>
            </a:r>
            <a:endParaRPr/>
          </a:p>
          <a:p>
            <a:pPr marL="0" lvl="0" indent="0" algn="l" rtl="0">
              <a:spcBef>
                <a:spcPts val="1000"/>
              </a:spcBef>
              <a:spcAft>
                <a:spcPts val="0"/>
              </a:spcAft>
              <a:buSzPts val="480"/>
              <a:buNone/>
            </a:pPr>
            <a:endParaRPr sz="600"/>
          </a:p>
          <a:p>
            <a:pPr marL="0" lvl="0" indent="0" algn="l" rtl="0">
              <a:spcBef>
                <a:spcPts val="1000"/>
              </a:spcBef>
              <a:spcAft>
                <a:spcPts val="0"/>
              </a:spcAft>
              <a:buSzPts val="1440"/>
              <a:buNone/>
            </a:pPr>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554"/>
        <p:cNvGrpSpPr/>
        <p:nvPr/>
      </p:nvGrpSpPr>
      <p:grpSpPr>
        <a:xfrm>
          <a:off x="0" y="0"/>
          <a:ext cx="0" cy="0"/>
          <a:chOff x="0" y="0"/>
          <a:chExt cx="0" cy="0"/>
        </a:xfrm>
      </p:grpSpPr>
      <p:sp>
        <p:nvSpPr>
          <p:cNvPr id="555" name="Google Shape;555;p63"/>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EB7564"/>
              </a:buClr>
              <a:buSzPts val="3600"/>
              <a:buFont typeface="Trebuchet MS"/>
              <a:buNone/>
            </a:pPr>
            <a:r>
              <a:rPr lang="en-US">
                <a:solidFill>
                  <a:srgbClr val="EB7564"/>
                </a:solidFill>
              </a:rPr>
              <a:t>Test Scenario vs Test cases</a:t>
            </a:r>
            <a:endParaRPr/>
          </a:p>
        </p:txBody>
      </p:sp>
      <p:sp>
        <p:nvSpPr>
          <p:cNvPr id="556" name="Google Shape;556;p63"/>
          <p:cNvSpPr txBox="1">
            <a:spLocks noGrp="1"/>
          </p:cNvSpPr>
          <p:nvPr>
            <p:ph type="body" idx="1"/>
          </p:nvPr>
        </p:nvSpPr>
        <p:spPr>
          <a:xfrm>
            <a:off x="677334" y="1772239"/>
            <a:ext cx="9134486" cy="426912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920"/>
              <a:buChar char="►"/>
            </a:pPr>
            <a:r>
              <a:rPr lang="en-US" sz="2400" b="1"/>
              <a:t>Test</a:t>
            </a:r>
            <a:r>
              <a:rPr lang="en-US" sz="2400"/>
              <a:t> </a:t>
            </a:r>
            <a:r>
              <a:rPr lang="en-US" sz="2400" b="1"/>
              <a:t>Scenario</a:t>
            </a:r>
            <a:r>
              <a:rPr lang="en-US" sz="2400"/>
              <a:t> </a:t>
            </a:r>
            <a:endParaRPr/>
          </a:p>
          <a:p>
            <a:pPr marL="0" lvl="0" indent="0" algn="l" rtl="0">
              <a:spcBef>
                <a:spcPts val="1000"/>
              </a:spcBef>
              <a:spcAft>
                <a:spcPts val="0"/>
              </a:spcAft>
              <a:buSzPts val="1920"/>
              <a:buNone/>
            </a:pPr>
            <a:r>
              <a:rPr lang="en-US" sz="2400"/>
              <a:t>				    </a:t>
            </a:r>
            <a:r>
              <a:rPr lang="en-US"/>
              <a:t> " </a:t>
            </a:r>
            <a:r>
              <a:rPr lang="en-US" b="1"/>
              <a:t>What to be tested</a:t>
            </a:r>
            <a:r>
              <a:rPr lang="en-US"/>
              <a:t>“</a:t>
            </a:r>
            <a:endParaRPr/>
          </a:p>
          <a:p>
            <a:pPr marL="342900" lvl="0" indent="-251459" algn="l" rtl="0">
              <a:spcBef>
                <a:spcPts val="1000"/>
              </a:spcBef>
              <a:spcAft>
                <a:spcPts val="0"/>
              </a:spcAft>
              <a:buSzPts val="1440"/>
              <a:buNone/>
            </a:pPr>
            <a:endParaRPr/>
          </a:p>
          <a:p>
            <a:pPr marL="342900" lvl="0" indent="-342900" algn="l" rtl="0">
              <a:spcBef>
                <a:spcPts val="1000"/>
              </a:spcBef>
              <a:spcAft>
                <a:spcPts val="0"/>
              </a:spcAft>
              <a:buSzPts val="1920"/>
              <a:buChar char="►"/>
            </a:pPr>
            <a:r>
              <a:rPr lang="en-US" sz="2400" b="1"/>
              <a:t>Test case</a:t>
            </a:r>
            <a:r>
              <a:rPr lang="en-US"/>
              <a:t> </a:t>
            </a:r>
            <a:endParaRPr/>
          </a:p>
          <a:p>
            <a:pPr marL="0" lvl="0" indent="0" algn="l" rtl="0">
              <a:spcBef>
                <a:spcPts val="1000"/>
              </a:spcBef>
              <a:spcAft>
                <a:spcPts val="0"/>
              </a:spcAft>
              <a:buSzPts val="1440"/>
              <a:buNone/>
            </a:pPr>
            <a:r>
              <a:rPr lang="en-US"/>
              <a:t>				       " </a:t>
            </a:r>
            <a:r>
              <a:rPr lang="en-US" b="1"/>
              <a:t>How to be tested</a:t>
            </a:r>
            <a:r>
              <a:rPr lang="en-US"/>
              <a:t>“</a:t>
            </a:r>
            <a:endParaRPr/>
          </a:p>
          <a:p>
            <a:pPr marL="342900" lvl="0" indent="-251459" algn="l" rtl="0">
              <a:spcBef>
                <a:spcPts val="1000"/>
              </a:spcBef>
              <a:spcAft>
                <a:spcPts val="0"/>
              </a:spcAft>
              <a:buSzPts val="1440"/>
              <a:buNone/>
            </a:pPr>
            <a:endParaRPr/>
          </a:p>
          <a:p>
            <a:pPr marL="342900" lvl="0" indent="-342900" algn="l" rtl="0">
              <a:spcBef>
                <a:spcPts val="1000"/>
              </a:spcBef>
              <a:spcAft>
                <a:spcPts val="0"/>
              </a:spcAft>
              <a:buSzPts val="1920"/>
              <a:buChar char="►"/>
            </a:pPr>
            <a:r>
              <a:rPr lang="en-US" sz="2400" b="1"/>
              <a:t>Test Script:</a:t>
            </a:r>
            <a:endParaRPr/>
          </a:p>
          <a:p>
            <a:pPr marL="0" lvl="0" indent="0" algn="l" rtl="0">
              <a:spcBef>
                <a:spcPts val="1000"/>
              </a:spcBef>
              <a:spcAft>
                <a:spcPts val="0"/>
              </a:spcAft>
              <a:buSzPts val="1440"/>
              <a:buNone/>
            </a:pPr>
            <a:r>
              <a:rPr lang="en-US"/>
              <a:t>					</a:t>
            </a:r>
            <a:r>
              <a:rPr lang="en-US" b="1"/>
              <a:t>Test</a:t>
            </a:r>
            <a:r>
              <a:rPr lang="en-US"/>
              <a:t> scripts are used in automated </a:t>
            </a:r>
            <a:r>
              <a:rPr lang="en-US" b="1"/>
              <a:t>testing</a:t>
            </a:r>
            <a:r>
              <a:rPr lang="en-US"/>
              <a:t>. </a:t>
            </a:r>
            <a:endParaRPr/>
          </a:p>
          <a:p>
            <a:pPr marL="0" lvl="0" indent="0" algn="l" rtl="0">
              <a:spcBef>
                <a:spcPts val="1000"/>
              </a:spcBef>
              <a:spcAft>
                <a:spcPts val="0"/>
              </a:spcAft>
              <a:buSzPts val="1440"/>
              <a:buNone/>
            </a:pPr>
            <a:r>
              <a:rPr lang="en-US"/>
              <a:t>					Sometimes, a set of instructions (written in a human language), 					used in manual </a:t>
            </a:r>
            <a:r>
              <a:rPr lang="en-US" b="1"/>
              <a:t>testing.</a:t>
            </a:r>
            <a:endParaRPr/>
          </a:p>
          <a:p>
            <a:pPr marL="342900" lvl="0" indent="-251459" algn="l" rtl="0">
              <a:spcBef>
                <a:spcPts val="1000"/>
              </a:spcBef>
              <a:spcAft>
                <a:spcPts val="0"/>
              </a:spcAft>
              <a:buSzPts val="1440"/>
              <a:buNone/>
            </a:pPr>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560"/>
        <p:cNvGrpSpPr/>
        <p:nvPr/>
      </p:nvGrpSpPr>
      <p:grpSpPr>
        <a:xfrm>
          <a:off x="0" y="0"/>
          <a:ext cx="0" cy="0"/>
          <a:chOff x="0" y="0"/>
          <a:chExt cx="0" cy="0"/>
        </a:xfrm>
      </p:grpSpPr>
      <p:graphicFrame>
        <p:nvGraphicFramePr>
          <p:cNvPr id="561" name="Google Shape;561;p64"/>
          <p:cNvGraphicFramePr/>
          <p:nvPr/>
        </p:nvGraphicFramePr>
        <p:xfrm>
          <a:off x="0" y="0"/>
          <a:ext cx="3000000" cy="3000000"/>
        </p:xfrm>
        <a:graphic>
          <a:graphicData uri="http://schemas.openxmlformats.org/drawingml/2006/table">
            <a:tbl>
              <a:tblPr firstRow="1" firstCol="1" bandRow="1">
                <a:noFill/>
                <a:tableStyleId>{BD6E39EE-3DAA-4A54-AF19-2EDD137A0911}</a:tableStyleId>
              </a:tblPr>
              <a:tblGrid>
                <a:gridCol w="1080225">
                  <a:extLst>
                    <a:ext uri="{9D8B030D-6E8A-4147-A177-3AD203B41FA5}">
                      <a16:colId xmlns:a16="http://schemas.microsoft.com/office/drawing/2014/main" val="20000"/>
                    </a:ext>
                  </a:extLst>
                </a:gridCol>
                <a:gridCol w="832200">
                  <a:extLst>
                    <a:ext uri="{9D8B030D-6E8A-4147-A177-3AD203B41FA5}">
                      <a16:colId xmlns:a16="http://schemas.microsoft.com/office/drawing/2014/main" val="20001"/>
                    </a:ext>
                  </a:extLst>
                </a:gridCol>
                <a:gridCol w="1547650">
                  <a:extLst>
                    <a:ext uri="{9D8B030D-6E8A-4147-A177-3AD203B41FA5}">
                      <a16:colId xmlns:a16="http://schemas.microsoft.com/office/drawing/2014/main" val="20002"/>
                    </a:ext>
                  </a:extLst>
                </a:gridCol>
                <a:gridCol w="2212325">
                  <a:extLst>
                    <a:ext uri="{9D8B030D-6E8A-4147-A177-3AD203B41FA5}">
                      <a16:colId xmlns:a16="http://schemas.microsoft.com/office/drawing/2014/main" val="20003"/>
                    </a:ext>
                  </a:extLst>
                </a:gridCol>
                <a:gridCol w="775125">
                  <a:extLst>
                    <a:ext uri="{9D8B030D-6E8A-4147-A177-3AD203B41FA5}">
                      <a16:colId xmlns:a16="http://schemas.microsoft.com/office/drawing/2014/main" val="20004"/>
                    </a:ext>
                  </a:extLst>
                </a:gridCol>
                <a:gridCol w="1485650">
                  <a:extLst>
                    <a:ext uri="{9D8B030D-6E8A-4147-A177-3AD203B41FA5}">
                      <a16:colId xmlns:a16="http://schemas.microsoft.com/office/drawing/2014/main" val="20005"/>
                    </a:ext>
                  </a:extLst>
                </a:gridCol>
                <a:gridCol w="1291875">
                  <a:extLst>
                    <a:ext uri="{9D8B030D-6E8A-4147-A177-3AD203B41FA5}">
                      <a16:colId xmlns:a16="http://schemas.microsoft.com/office/drawing/2014/main" val="20006"/>
                    </a:ext>
                  </a:extLst>
                </a:gridCol>
                <a:gridCol w="1356450">
                  <a:extLst>
                    <a:ext uri="{9D8B030D-6E8A-4147-A177-3AD203B41FA5}">
                      <a16:colId xmlns:a16="http://schemas.microsoft.com/office/drawing/2014/main" val="20007"/>
                    </a:ext>
                  </a:extLst>
                </a:gridCol>
                <a:gridCol w="775125">
                  <a:extLst>
                    <a:ext uri="{9D8B030D-6E8A-4147-A177-3AD203B41FA5}">
                      <a16:colId xmlns:a16="http://schemas.microsoft.com/office/drawing/2014/main" val="20008"/>
                    </a:ext>
                  </a:extLst>
                </a:gridCol>
                <a:gridCol w="1001200">
                  <a:extLst>
                    <a:ext uri="{9D8B030D-6E8A-4147-A177-3AD203B41FA5}">
                      <a16:colId xmlns:a16="http://schemas.microsoft.com/office/drawing/2014/main" val="20009"/>
                    </a:ext>
                  </a:extLst>
                </a:gridCol>
              </a:tblGrid>
              <a:tr h="491975">
                <a:tc>
                  <a:txBody>
                    <a:bodyPr/>
                    <a:lstStyle/>
                    <a:p>
                      <a:pPr marL="0" marR="0" lvl="0" indent="0" algn="ctr" rtl="0">
                        <a:lnSpc>
                          <a:spcPct val="107000"/>
                        </a:lnSpc>
                        <a:spcBef>
                          <a:spcPts val="0"/>
                        </a:spcBef>
                        <a:spcAft>
                          <a:spcPts val="0"/>
                        </a:spcAft>
                        <a:buNone/>
                      </a:pPr>
                      <a:r>
                        <a:rPr lang="en-US" sz="1400" u="none" strike="noStrike" cap="none"/>
                        <a:t>Scenario Id</a:t>
                      </a:r>
                      <a:endParaRPr sz="1400" u="none" strike="noStrike" cap="none">
                        <a:latin typeface="Calibri"/>
                        <a:ea typeface="Calibri"/>
                        <a:cs typeface="Calibri"/>
                        <a:sym typeface="Calibri"/>
                      </a:endParaRPr>
                    </a:p>
                  </a:txBody>
                  <a:tcPr marL="61475" marR="61475" marT="0" marB="0"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US" sz="1400" u="none" strike="noStrike" cap="none"/>
                        <a:t>Test Case Id</a:t>
                      </a:r>
                      <a:endParaRPr sz="1400" u="none" strike="noStrike" cap="none">
                        <a:latin typeface="Calibri"/>
                        <a:ea typeface="Calibri"/>
                        <a:cs typeface="Calibri"/>
                        <a:sym typeface="Calibri"/>
                      </a:endParaRPr>
                    </a:p>
                  </a:txBody>
                  <a:tcPr marL="61475" marR="614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tcPr>
                </a:tc>
                <a:tc>
                  <a:txBody>
                    <a:bodyPr/>
                    <a:lstStyle/>
                    <a:p>
                      <a:pPr marL="0" marR="0" lvl="0" indent="0" algn="ctr" rtl="0">
                        <a:lnSpc>
                          <a:spcPct val="107000"/>
                        </a:lnSpc>
                        <a:spcBef>
                          <a:spcPts val="0"/>
                        </a:spcBef>
                        <a:spcAft>
                          <a:spcPts val="0"/>
                        </a:spcAft>
                        <a:buNone/>
                      </a:pPr>
                      <a:r>
                        <a:rPr lang="en-US" sz="1400" u="none" strike="noStrike" cap="none"/>
                        <a:t>Test Case</a:t>
                      </a:r>
                      <a:endParaRPr sz="1400" u="none" strike="noStrike" cap="none">
                        <a:latin typeface="Calibri"/>
                        <a:ea typeface="Calibri"/>
                        <a:cs typeface="Calibri"/>
                        <a:sym typeface="Calibri"/>
                      </a:endParaRPr>
                    </a:p>
                  </a:txBody>
                  <a:tcPr marL="61475" marR="614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tcPr>
                </a:tc>
                <a:tc>
                  <a:txBody>
                    <a:bodyPr/>
                    <a:lstStyle/>
                    <a:p>
                      <a:pPr marL="0" marR="0" lvl="0" indent="0" algn="ctr" rtl="0">
                        <a:lnSpc>
                          <a:spcPct val="107000"/>
                        </a:lnSpc>
                        <a:spcBef>
                          <a:spcPts val="0"/>
                        </a:spcBef>
                        <a:spcAft>
                          <a:spcPts val="0"/>
                        </a:spcAft>
                        <a:buNone/>
                      </a:pPr>
                      <a:r>
                        <a:rPr lang="en-US" sz="1400" u="none" strike="noStrike" cap="none"/>
                        <a:t>Test Case Description</a:t>
                      </a:r>
                      <a:endParaRPr sz="1400" u="none" strike="noStrike" cap="none">
                        <a:latin typeface="Calibri"/>
                        <a:ea typeface="Calibri"/>
                        <a:cs typeface="Calibri"/>
                        <a:sym typeface="Calibri"/>
                      </a:endParaRPr>
                    </a:p>
                  </a:txBody>
                  <a:tcPr marL="61475" marR="614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tcPr>
                </a:tc>
                <a:tc>
                  <a:txBody>
                    <a:bodyPr/>
                    <a:lstStyle/>
                    <a:p>
                      <a:pPr marL="0" marR="0" lvl="0" indent="0" algn="ctr" rtl="0">
                        <a:lnSpc>
                          <a:spcPct val="107000"/>
                        </a:lnSpc>
                        <a:spcBef>
                          <a:spcPts val="0"/>
                        </a:spcBef>
                        <a:spcAft>
                          <a:spcPts val="0"/>
                        </a:spcAft>
                        <a:buNone/>
                      </a:pPr>
                      <a:r>
                        <a:rPr lang="en-US" sz="1400" u="none" strike="noStrike" cap="none"/>
                        <a:t>Test Step</a:t>
                      </a:r>
                      <a:endParaRPr sz="1400" u="none" strike="noStrike" cap="none">
                        <a:latin typeface="Calibri"/>
                        <a:ea typeface="Calibri"/>
                        <a:cs typeface="Calibri"/>
                        <a:sym typeface="Calibri"/>
                      </a:endParaRPr>
                    </a:p>
                  </a:txBody>
                  <a:tcPr marL="61475" marR="614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tcPr>
                </a:tc>
                <a:tc>
                  <a:txBody>
                    <a:bodyPr/>
                    <a:lstStyle/>
                    <a:p>
                      <a:pPr marL="0" marR="0" lvl="0" indent="0" algn="ctr" rtl="0">
                        <a:lnSpc>
                          <a:spcPct val="107000"/>
                        </a:lnSpc>
                        <a:spcBef>
                          <a:spcPts val="0"/>
                        </a:spcBef>
                        <a:spcAft>
                          <a:spcPts val="0"/>
                        </a:spcAft>
                        <a:buNone/>
                      </a:pPr>
                      <a:r>
                        <a:rPr lang="en-US" sz="1400" u="none" strike="noStrike" cap="none"/>
                        <a:t>Test Step Description</a:t>
                      </a:r>
                      <a:endParaRPr sz="1400" u="none" strike="noStrike" cap="none">
                        <a:latin typeface="Calibri"/>
                        <a:ea typeface="Calibri"/>
                        <a:cs typeface="Calibri"/>
                        <a:sym typeface="Calibri"/>
                      </a:endParaRPr>
                    </a:p>
                  </a:txBody>
                  <a:tcPr marL="61475" marR="614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tcPr>
                </a:tc>
                <a:tc>
                  <a:txBody>
                    <a:bodyPr/>
                    <a:lstStyle/>
                    <a:p>
                      <a:pPr marL="0" marR="0" lvl="0" indent="0" algn="ctr" rtl="0">
                        <a:lnSpc>
                          <a:spcPct val="107000"/>
                        </a:lnSpc>
                        <a:spcBef>
                          <a:spcPts val="0"/>
                        </a:spcBef>
                        <a:spcAft>
                          <a:spcPts val="0"/>
                        </a:spcAft>
                        <a:buNone/>
                      </a:pPr>
                      <a:r>
                        <a:rPr lang="en-US" sz="1400" u="none" strike="noStrike" cap="none"/>
                        <a:t>Expected Result </a:t>
                      </a:r>
                      <a:endParaRPr sz="1400" u="none" strike="noStrike" cap="none">
                        <a:latin typeface="Calibri"/>
                        <a:ea typeface="Calibri"/>
                        <a:cs typeface="Calibri"/>
                        <a:sym typeface="Calibri"/>
                      </a:endParaRPr>
                    </a:p>
                  </a:txBody>
                  <a:tcPr marL="61475" marR="614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tcPr>
                </a:tc>
                <a:tc>
                  <a:txBody>
                    <a:bodyPr/>
                    <a:lstStyle/>
                    <a:p>
                      <a:pPr marL="0" marR="0" lvl="0" indent="0" algn="ctr" rtl="0">
                        <a:lnSpc>
                          <a:spcPct val="107000"/>
                        </a:lnSpc>
                        <a:spcBef>
                          <a:spcPts val="0"/>
                        </a:spcBef>
                        <a:spcAft>
                          <a:spcPts val="0"/>
                        </a:spcAft>
                        <a:buNone/>
                      </a:pPr>
                      <a:r>
                        <a:rPr lang="en-US" sz="1400" u="none" strike="noStrike" cap="none"/>
                        <a:t>Actual Result</a:t>
                      </a:r>
                      <a:endParaRPr sz="1400" u="none" strike="noStrike" cap="none">
                        <a:latin typeface="Calibri"/>
                        <a:ea typeface="Calibri"/>
                        <a:cs typeface="Calibri"/>
                        <a:sym typeface="Calibri"/>
                      </a:endParaRPr>
                    </a:p>
                  </a:txBody>
                  <a:tcPr marL="61475" marR="614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tcPr>
                </a:tc>
                <a:tc>
                  <a:txBody>
                    <a:bodyPr/>
                    <a:lstStyle/>
                    <a:p>
                      <a:pPr marL="0" marR="0" lvl="0" indent="0" algn="ctr" rtl="0">
                        <a:lnSpc>
                          <a:spcPct val="107000"/>
                        </a:lnSpc>
                        <a:spcBef>
                          <a:spcPts val="0"/>
                        </a:spcBef>
                        <a:spcAft>
                          <a:spcPts val="0"/>
                        </a:spcAft>
                        <a:buNone/>
                      </a:pPr>
                      <a:r>
                        <a:rPr lang="en-US" sz="1400" u="none" strike="noStrike" cap="none"/>
                        <a:t>Status</a:t>
                      </a:r>
                      <a:endParaRPr sz="1400" u="none" strike="noStrike" cap="none">
                        <a:latin typeface="Calibri"/>
                        <a:ea typeface="Calibri"/>
                        <a:cs typeface="Calibri"/>
                        <a:sym typeface="Calibri"/>
                      </a:endParaRPr>
                    </a:p>
                  </a:txBody>
                  <a:tcPr marL="61475" marR="614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tcPr>
                </a:tc>
                <a:tc>
                  <a:txBody>
                    <a:bodyPr/>
                    <a:lstStyle/>
                    <a:p>
                      <a:pPr marL="0" marR="0" lvl="0" indent="0" algn="l" rtl="0">
                        <a:lnSpc>
                          <a:spcPct val="107000"/>
                        </a:lnSpc>
                        <a:spcBef>
                          <a:spcPts val="0"/>
                        </a:spcBef>
                        <a:spcAft>
                          <a:spcPts val="0"/>
                        </a:spcAft>
                        <a:buNone/>
                      </a:pPr>
                      <a:r>
                        <a:rPr lang="en-US" sz="1400" u="none" strike="noStrike" cap="none"/>
                        <a:t>Comment</a:t>
                      </a:r>
                      <a:endParaRPr sz="1400" u="none" strike="noStrike" cap="none">
                        <a:latin typeface="Calibri"/>
                        <a:ea typeface="Calibri"/>
                        <a:cs typeface="Calibri"/>
                        <a:sym typeface="Calibri"/>
                      </a:endParaRPr>
                    </a:p>
                  </a:txBody>
                  <a:tcPr marL="61475" marR="61475" marT="0" marB="0" anchor="ctr">
                    <a:lnL w="12700" cap="flat" cmpd="sng">
                      <a:solidFill>
                        <a:schemeClr val="dk1"/>
                      </a:solidFill>
                      <a:prstDash val="solid"/>
                      <a:round/>
                      <a:headEnd type="none" w="sm" len="sm"/>
                      <a:tailEnd type="none" w="sm" len="sm"/>
                    </a:lnL>
                  </a:tcPr>
                </a:tc>
                <a:extLst>
                  <a:ext uri="{0D108BD9-81ED-4DB2-BD59-A6C34878D82A}">
                    <a16:rowId xmlns:a16="http://schemas.microsoft.com/office/drawing/2014/main" val="10000"/>
                  </a:ext>
                </a:extLst>
              </a:tr>
              <a:tr h="1471000">
                <a:tc>
                  <a:txBody>
                    <a:bodyPr/>
                    <a:lstStyle/>
                    <a:p>
                      <a:pPr marL="0" marR="0" lvl="0" indent="0" algn="ctr" rtl="0">
                        <a:lnSpc>
                          <a:spcPct val="107000"/>
                        </a:lnSpc>
                        <a:spcBef>
                          <a:spcPts val="0"/>
                        </a:spcBef>
                        <a:spcAft>
                          <a:spcPts val="0"/>
                        </a:spcAft>
                        <a:buNone/>
                      </a:pPr>
                      <a:r>
                        <a:rPr lang="en-US" sz="1400" u="none" strike="noStrike" cap="none"/>
                        <a:t>TS001</a:t>
                      </a:r>
                      <a:endParaRPr sz="1400" u="none" strike="noStrike" cap="none">
                        <a:latin typeface="Calibri"/>
                        <a:ea typeface="Calibri"/>
                        <a:cs typeface="Calibri"/>
                        <a:sym typeface="Calibri"/>
                      </a:endParaRPr>
                    </a:p>
                  </a:txBody>
                  <a:tcPr marL="61475" marR="61475" marT="0" marB="0" anchor="ctr">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tcPr>
                </a:tc>
                <a:tc>
                  <a:txBody>
                    <a:bodyPr/>
                    <a:lstStyle/>
                    <a:p>
                      <a:pPr marL="0" marR="0" lvl="0" indent="0" algn="ctr" rtl="0">
                        <a:lnSpc>
                          <a:spcPct val="107000"/>
                        </a:lnSpc>
                        <a:spcBef>
                          <a:spcPts val="0"/>
                        </a:spcBef>
                        <a:spcAft>
                          <a:spcPts val="0"/>
                        </a:spcAft>
                        <a:buNone/>
                      </a:pPr>
                      <a:r>
                        <a:rPr lang="en-US" sz="1400" u="none" strike="noStrike" cap="none"/>
                        <a:t>TC001</a:t>
                      </a:r>
                      <a:endParaRPr sz="1400" u="none" strike="noStrike" cap="none">
                        <a:latin typeface="Calibri"/>
                        <a:ea typeface="Calibri"/>
                        <a:cs typeface="Calibri"/>
                        <a:sym typeface="Calibri"/>
                      </a:endParaRPr>
                    </a:p>
                  </a:txBody>
                  <a:tcPr marL="61475" marR="614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tcPr>
                </a:tc>
                <a:tc>
                  <a:txBody>
                    <a:bodyPr/>
                    <a:lstStyle/>
                    <a:p>
                      <a:pPr marL="0" marR="0" lvl="0" indent="0" algn="ctr" rtl="0">
                        <a:lnSpc>
                          <a:spcPct val="107000"/>
                        </a:lnSpc>
                        <a:spcBef>
                          <a:spcPts val="0"/>
                        </a:spcBef>
                        <a:spcAft>
                          <a:spcPts val="0"/>
                        </a:spcAft>
                        <a:buNone/>
                      </a:pPr>
                      <a:r>
                        <a:rPr lang="en-US" sz="1400" u="none" strike="noStrike" cap="none"/>
                        <a:t>Checking login function using valid Login and valid Username</a:t>
                      </a:r>
                      <a:endParaRPr sz="1400" u="none" strike="noStrike" cap="none">
                        <a:latin typeface="Calibri"/>
                        <a:ea typeface="Calibri"/>
                        <a:cs typeface="Calibri"/>
                        <a:sym typeface="Calibri"/>
                      </a:endParaRPr>
                    </a:p>
                  </a:txBody>
                  <a:tcPr marL="61475" marR="614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tcPr>
                </a:tc>
                <a:tc>
                  <a:txBody>
                    <a:bodyPr/>
                    <a:lstStyle/>
                    <a:p>
                      <a:pPr marL="0" marR="0" lvl="0" indent="0" algn="ctr" rtl="0">
                        <a:lnSpc>
                          <a:spcPct val="107000"/>
                        </a:lnSpc>
                        <a:spcBef>
                          <a:spcPts val="0"/>
                        </a:spcBef>
                        <a:spcAft>
                          <a:spcPts val="0"/>
                        </a:spcAft>
                        <a:buNone/>
                      </a:pPr>
                      <a:r>
                        <a:rPr lang="en-US" sz="1400" u="none" strike="noStrike" cap="none"/>
                        <a:t>Test the login functionality of Amazon application to make sure user is allowed to the site using valid user name and password</a:t>
                      </a:r>
                      <a:endParaRPr sz="1400" u="none" strike="noStrike" cap="none">
                        <a:latin typeface="Calibri"/>
                        <a:ea typeface="Calibri"/>
                        <a:cs typeface="Calibri"/>
                        <a:sym typeface="Calibri"/>
                      </a:endParaRPr>
                    </a:p>
                  </a:txBody>
                  <a:tcPr marL="61475" marR="614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tcPr>
                </a:tc>
                <a:tc>
                  <a:txBody>
                    <a:bodyPr/>
                    <a:lstStyle/>
                    <a:p>
                      <a:pPr marL="0" marR="0" lvl="0" indent="0" algn="ctr" rtl="0">
                        <a:lnSpc>
                          <a:spcPct val="107000"/>
                        </a:lnSpc>
                        <a:spcBef>
                          <a:spcPts val="0"/>
                        </a:spcBef>
                        <a:spcAft>
                          <a:spcPts val="0"/>
                        </a:spcAft>
                        <a:buNone/>
                      </a:pPr>
                      <a:r>
                        <a:rPr lang="en-US" sz="1400" u="none" strike="noStrike" cap="none"/>
                        <a:t>1</a:t>
                      </a:r>
                      <a:endParaRPr sz="1400" u="none" strike="noStrike" cap="none">
                        <a:latin typeface="Calibri"/>
                        <a:ea typeface="Calibri"/>
                        <a:cs typeface="Calibri"/>
                        <a:sym typeface="Calibri"/>
                      </a:endParaRPr>
                    </a:p>
                  </a:txBody>
                  <a:tcPr marL="61475" marR="614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tcPr>
                </a:tc>
                <a:tc>
                  <a:txBody>
                    <a:bodyPr/>
                    <a:lstStyle/>
                    <a:p>
                      <a:pPr marL="0" marR="0" lvl="0" indent="0" algn="ctr" rtl="0">
                        <a:lnSpc>
                          <a:spcPct val="107000"/>
                        </a:lnSpc>
                        <a:spcBef>
                          <a:spcPts val="0"/>
                        </a:spcBef>
                        <a:spcAft>
                          <a:spcPts val="0"/>
                        </a:spcAft>
                        <a:buNone/>
                      </a:pPr>
                      <a:r>
                        <a:rPr lang="en-US" sz="1400" u="none" strike="noStrike" cap="none"/>
                        <a:t>Launch the application</a:t>
                      </a:r>
                      <a:endParaRPr sz="1400" u="none" strike="noStrike" cap="none">
                        <a:latin typeface="Calibri"/>
                        <a:ea typeface="Calibri"/>
                        <a:cs typeface="Calibri"/>
                        <a:sym typeface="Calibri"/>
                      </a:endParaRPr>
                    </a:p>
                  </a:txBody>
                  <a:tcPr marL="61475" marR="614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tcPr>
                </a:tc>
                <a:tc>
                  <a:txBody>
                    <a:bodyPr/>
                    <a:lstStyle/>
                    <a:p>
                      <a:pPr marL="0" marR="0" lvl="0" indent="0" algn="ctr" rtl="0">
                        <a:lnSpc>
                          <a:spcPct val="107000"/>
                        </a:lnSpc>
                        <a:spcBef>
                          <a:spcPts val="0"/>
                        </a:spcBef>
                        <a:spcAft>
                          <a:spcPts val="0"/>
                        </a:spcAft>
                        <a:buNone/>
                      </a:pPr>
                      <a:r>
                        <a:rPr lang="en-US" sz="1400" u="none" strike="noStrike" cap="none"/>
                        <a:t>Application launched properly</a:t>
                      </a:r>
                      <a:endParaRPr sz="1400" u="none" strike="noStrike" cap="none">
                        <a:latin typeface="Calibri"/>
                        <a:ea typeface="Calibri"/>
                        <a:cs typeface="Calibri"/>
                        <a:sym typeface="Calibri"/>
                      </a:endParaRPr>
                    </a:p>
                  </a:txBody>
                  <a:tcPr marL="61475" marR="614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tcPr>
                </a:tc>
                <a:tc>
                  <a:txBody>
                    <a:bodyPr/>
                    <a:lstStyle/>
                    <a:p>
                      <a:pPr marL="0" marR="0" lvl="0" indent="0" algn="ctr" rtl="0">
                        <a:lnSpc>
                          <a:spcPct val="107000"/>
                        </a:lnSpc>
                        <a:spcBef>
                          <a:spcPts val="0"/>
                        </a:spcBef>
                        <a:spcAft>
                          <a:spcPts val="0"/>
                        </a:spcAft>
                        <a:buNone/>
                      </a:pPr>
                      <a:r>
                        <a:rPr lang="en-US" sz="1400" u="none" strike="noStrike" cap="none"/>
                        <a:t>Application launched successfully</a:t>
                      </a:r>
                      <a:endParaRPr sz="1400" u="none" strike="noStrike" cap="none">
                        <a:latin typeface="Calibri"/>
                        <a:ea typeface="Calibri"/>
                        <a:cs typeface="Calibri"/>
                        <a:sym typeface="Calibri"/>
                      </a:endParaRPr>
                    </a:p>
                  </a:txBody>
                  <a:tcPr marL="61475" marR="614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tcPr>
                </a:tc>
                <a:tc>
                  <a:txBody>
                    <a:bodyPr/>
                    <a:lstStyle/>
                    <a:p>
                      <a:pPr marL="0" marR="0" lvl="0" indent="0" algn="ctr" rtl="0">
                        <a:lnSpc>
                          <a:spcPct val="107000"/>
                        </a:lnSpc>
                        <a:spcBef>
                          <a:spcPts val="0"/>
                        </a:spcBef>
                        <a:spcAft>
                          <a:spcPts val="0"/>
                        </a:spcAft>
                        <a:buNone/>
                      </a:pPr>
                      <a:r>
                        <a:rPr lang="en-US" sz="1400" u="none" strike="noStrike" cap="none"/>
                        <a:t>Pass</a:t>
                      </a:r>
                      <a:endParaRPr sz="1400" u="none" strike="noStrike" cap="none">
                        <a:latin typeface="Calibri"/>
                        <a:ea typeface="Calibri"/>
                        <a:cs typeface="Calibri"/>
                        <a:sym typeface="Calibri"/>
                      </a:endParaRPr>
                    </a:p>
                  </a:txBody>
                  <a:tcPr marL="61475" marR="614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tcPr>
                </a:tc>
                <a:tc>
                  <a:txBody>
                    <a:bodyPr/>
                    <a:lstStyle/>
                    <a:p>
                      <a:pPr marL="0" marR="0" lvl="0" indent="0" algn="l" rtl="0">
                        <a:lnSpc>
                          <a:spcPct val="107000"/>
                        </a:lnSpc>
                        <a:spcBef>
                          <a:spcPts val="0"/>
                        </a:spcBef>
                        <a:spcAft>
                          <a:spcPts val="0"/>
                        </a:spcAft>
                        <a:buNone/>
                      </a:pPr>
                      <a:r>
                        <a:rPr lang="en-US" sz="1400" u="none" strike="noStrike" cap="none"/>
                        <a:t> </a:t>
                      </a:r>
                      <a:endParaRPr sz="1400" u="none" strike="noStrike" cap="none">
                        <a:latin typeface="Calibri"/>
                        <a:ea typeface="Calibri"/>
                        <a:cs typeface="Calibri"/>
                        <a:sym typeface="Calibri"/>
                      </a:endParaRPr>
                    </a:p>
                  </a:txBody>
                  <a:tcPr marL="61475" marR="61475" marT="0" marB="0" anchor="b">
                    <a:lnL w="12700" cap="flat" cmpd="sng">
                      <a:solidFill>
                        <a:schemeClr val="dk1"/>
                      </a:solidFill>
                      <a:prstDash val="solid"/>
                      <a:round/>
                      <a:headEnd type="none" w="sm" len="sm"/>
                      <a:tailEnd type="none" w="sm" len="sm"/>
                    </a:lnL>
                  </a:tcPr>
                </a:tc>
                <a:extLst>
                  <a:ext uri="{0D108BD9-81ED-4DB2-BD59-A6C34878D82A}">
                    <a16:rowId xmlns:a16="http://schemas.microsoft.com/office/drawing/2014/main" val="10001"/>
                  </a:ext>
                </a:extLst>
              </a:tr>
              <a:tr h="976525">
                <a:tc>
                  <a:txBody>
                    <a:bodyPr/>
                    <a:lstStyle/>
                    <a:p>
                      <a:pPr marL="0" marR="0" lvl="0" indent="0" algn="ctr" rtl="0">
                        <a:lnSpc>
                          <a:spcPct val="107000"/>
                        </a:lnSpc>
                        <a:spcBef>
                          <a:spcPts val="0"/>
                        </a:spcBef>
                        <a:spcAft>
                          <a:spcPts val="0"/>
                        </a:spcAft>
                        <a:buNone/>
                      </a:pPr>
                      <a:r>
                        <a:rPr lang="en-US" sz="1400" u="none" strike="noStrike" cap="none"/>
                        <a:t> </a:t>
                      </a:r>
                      <a:endParaRPr sz="1400" u="none" strike="noStrike" cap="none">
                        <a:latin typeface="Calibri"/>
                        <a:ea typeface="Calibri"/>
                        <a:cs typeface="Calibri"/>
                        <a:sym typeface="Calibri"/>
                      </a:endParaRPr>
                    </a:p>
                  </a:txBody>
                  <a:tcPr marL="61475" marR="61475" marT="0" marB="0" anchor="ctr">
                    <a:lnR w="12700" cap="flat" cmpd="sng">
                      <a:solidFill>
                        <a:schemeClr val="dk1"/>
                      </a:solidFill>
                      <a:prstDash val="solid"/>
                      <a:round/>
                      <a:headEnd type="none" w="sm" len="sm"/>
                      <a:tailEnd type="none" w="sm" len="sm"/>
                    </a:lnR>
                  </a:tcPr>
                </a:tc>
                <a:tc>
                  <a:txBody>
                    <a:bodyPr/>
                    <a:lstStyle/>
                    <a:p>
                      <a:pPr marL="0" marR="0" lvl="0" indent="0" algn="ctr" rtl="0">
                        <a:lnSpc>
                          <a:spcPct val="107000"/>
                        </a:lnSpc>
                        <a:spcBef>
                          <a:spcPts val="0"/>
                        </a:spcBef>
                        <a:spcAft>
                          <a:spcPts val="0"/>
                        </a:spcAft>
                        <a:buNone/>
                      </a:pPr>
                      <a:r>
                        <a:rPr lang="en-US" sz="1400" u="none" strike="noStrike" cap="none"/>
                        <a:t> </a:t>
                      </a:r>
                      <a:endParaRPr sz="1400" u="none" strike="noStrike" cap="none">
                        <a:latin typeface="Calibri"/>
                        <a:ea typeface="Calibri"/>
                        <a:cs typeface="Calibri"/>
                        <a:sym typeface="Calibri"/>
                      </a:endParaRPr>
                    </a:p>
                  </a:txBody>
                  <a:tcPr marL="61475" marR="614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tcPr>
                </a:tc>
                <a:tc>
                  <a:txBody>
                    <a:bodyPr/>
                    <a:lstStyle/>
                    <a:p>
                      <a:pPr marL="0" marR="0" lvl="0" indent="0" algn="ctr" rtl="0">
                        <a:lnSpc>
                          <a:spcPct val="107000"/>
                        </a:lnSpc>
                        <a:spcBef>
                          <a:spcPts val="0"/>
                        </a:spcBef>
                        <a:spcAft>
                          <a:spcPts val="0"/>
                        </a:spcAft>
                        <a:buNone/>
                      </a:pPr>
                      <a:r>
                        <a:rPr lang="en-US" sz="1400" u="none" strike="noStrike" cap="none"/>
                        <a:t> </a:t>
                      </a:r>
                      <a:endParaRPr sz="1400" u="none" strike="noStrike" cap="none">
                        <a:latin typeface="Calibri"/>
                        <a:ea typeface="Calibri"/>
                        <a:cs typeface="Calibri"/>
                        <a:sym typeface="Calibri"/>
                      </a:endParaRPr>
                    </a:p>
                  </a:txBody>
                  <a:tcPr marL="61475" marR="614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tcPr>
                </a:tc>
                <a:tc>
                  <a:txBody>
                    <a:bodyPr/>
                    <a:lstStyle/>
                    <a:p>
                      <a:pPr marL="0" marR="0" lvl="0" indent="0" algn="ctr" rtl="0">
                        <a:lnSpc>
                          <a:spcPct val="107000"/>
                        </a:lnSpc>
                        <a:spcBef>
                          <a:spcPts val="0"/>
                        </a:spcBef>
                        <a:spcAft>
                          <a:spcPts val="0"/>
                        </a:spcAft>
                        <a:buNone/>
                      </a:pPr>
                      <a:r>
                        <a:rPr lang="en-US" sz="1400" u="none" strike="noStrike" cap="none"/>
                        <a:t> </a:t>
                      </a:r>
                      <a:endParaRPr sz="1400" u="none" strike="noStrike" cap="none">
                        <a:latin typeface="Calibri"/>
                        <a:ea typeface="Calibri"/>
                        <a:cs typeface="Calibri"/>
                        <a:sym typeface="Calibri"/>
                      </a:endParaRPr>
                    </a:p>
                  </a:txBody>
                  <a:tcPr marL="61475" marR="614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tcPr>
                </a:tc>
                <a:tc>
                  <a:txBody>
                    <a:bodyPr/>
                    <a:lstStyle/>
                    <a:p>
                      <a:pPr marL="0" marR="0" lvl="0" indent="0" algn="ctr" rtl="0">
                        <a:lnSpc>
                          <a:spcPct val="107000"/>
                        </a:lnSpc>
                        <a:spcBef>
                          <a:spcPts val="0"/>
                        </a:spcBef>
                        <a:spcAft>
                          <a:spcPts val="0"/>
                        </a:spcAft>
                        <a:buNone/>
                      </a:pPr>
                      <a:r>
                        <a:rPr lang="en-US" sz="1400" u="none" strike="noStrike" cap="none"/>
                        <a:t>2</a:t>
                      </a:r>
                      <a:endParaRPr sz="1400" u="none" strike="noStrike" cap="none">
                        <a:latin typeface="Calibri"/>
                        <a:ea typeface="Calibri"/>
                        <a:cs typeface="Calibri"/>
                        <a:sym typeface="Calibri"/>
                      </a:endParaRPr>
                    </a:p>
                  </a:txBody>
                  <a:tcPr marL="61475" marR="614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tcPr>
                </a:tc>
                <a:tc>
                  <a:txBody>
                    <a:bodyPr/>
                    <a:lstStyle/>
                    <a:p>
                      <a:pPr marL="0" marR="0" lvl="0" indent="0" algn="ctr" rtl="0">
                        <a:lnSpc>
                          <a:spcPct val="107000"/>
                        </a:lnSpc>
                        <a:spcBef>
                          <a:spcPts val="0"/>
                        </a:spcBef>
                        <a:spcAft>
                          <a:spcPts val="0"/>
                        </a:spcAft>
                        <a:buNone/>
                      </a:pPr>
                      <a:r>
                        <a:rPr lang="en-US" sz="1400" u="none" strike="noStrike" cap="none"/>
                        <a:t>Navigate to the login Page</a:t>
                      </a:r>
                      <a:endParaRPr sz="1400" u="none" strike="noStrike" cap="none">
                        <a:latin typeface="Calibri"/>
                        <a:ea typeface="Calibri"/>
                        <a:cs typeface="Calibri"/>
                        <a:sym typeface="Calibri"/>
                      </a:endParaRPr>
                    </a:p>
                  </a:txBody>
                  <a:tcPr marL="61475" marR="614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tcPr>
                </a:tc>
                <a:tc>
                  <a:txBody>
                    <a:bodyPr/>
                    <a:lstStyle/>
                    <a:p>
                      <a:pPr marL="0" marR="0" lvl="0" indent="0" algn="ctr" rtl="0">
                        <a:lnSpc>
                          <a:spcPct val="107000"/>
                        </a:lnSpc>
                        <a:spcBef>
                          <a:spcPts val="0"/>
                        </a:spcBef>
                        <a:spcAft>
                          <a:spcPts val="0"/>
                        </a:spcAft>
                        <a:buNone/>
                      </a:pPr>
                      <a:r>
                        <a:rPr lang="en-US" sz="1400" u="none" strike="noStrike" cap="none"/>
                        <a:t>Username and password fields are displayed</a:t>
                      </a:r>
                      <a:endParaRPr sz="1400" u="none" strike="noStrike" cap="none">
                        <a:latin typeface="Calibri"/>
                        <a:ea typeface="Calibri"/>
                        <a:cs typeface="Calibri"/>
                        <a:sym typeface="Calibri"/>
                      </a:endParaRPr>
                    </a:p>
                  </a:txBody>
                  <a:tcPr marL="61475" marR="614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tcPr>
                </a:tc>
                <a:tc>
                  <a:txBody>
                    <a:bodyPr/>
                    <a:lstStyle/>
                    <a:p>
                      <a:pPr marL="0" marR="0" lvl="0" indent="0" algn="ctr" rtl="0">
                        <a:lnSpc>
                          <a:spcPct val="107000"/>
                        </a:lnSpc>
                        <a:spcBef>
                          <a:spcPts val="0"/>
                        </a:spcBef>
                        <a:spcAft>
                          <a:spcPts val="0"/>
                        </a:spcAft>
                        <a:buNone/>
                      </a:pPr>
                      <a:r>
                        <a:rPr lang="en-US" sz="1400" u="none" strike="noStrike" cap="none"/>
                        <a:t>Username and password fields are displayed</a:t>
                      </a:r>
                      <a:endParaRPr sz="1400" u="none" strike="noStrike" cap="none">
                        <a:latin typeface="Calibri"/>
                        <a:ea typeface="Calibri"/>
                        <a:cs typeface="Calibri"/>
                        <a:sym typeface="Calibri"/>
                      </a:endParaRPr>
                    </a:p>
                  </a:txBody>
                  <a:tcPr marL="61475" marR="614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tcPr>
                </a:tc>
                <a:tc>
                  <a:txBody>
                    <a:bodyPr/>
                    <a:lstStyle/>
                    <a:p>
                      <a:pPr marL="0" marR="0" lvl="0" indent="0" algn="ctr" rtl="0">
                        <a:lnSpc>
                          <a:spcPct val="107000"/>
                        </a:lnSpc>
                        <a:spcBef>
                          <a:spcPts val="0"/>
                        </a:spcBef>
                        <a:spcAft>
                          <a:spcPts val="0"/>
                        </a:spcAft>
                        <a:buNone/>
                      </a:pPr>
                      <a:r>
                        <a:rPr lang="en-US" sz="1400" u="none" strike="noStrike" cap="none"/>
                        <a:t>Pass</a:t>
                      </a:r>
                      <a:endParaRPr sz="1400" u="none" strike="noStrike" cap="none">
                        <a:latin typeface="Calibri"/>
                        <a:ea typeface="Calibri"/>
                        <a:cs typeface="Calibri"/>
                        <a:sym typeface="Calibri"/>
                      </a:endParaRPr>
                    </a:p>
                  </a:txBody>
                  <a:tcPr marL="61475" marR="614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tcPr>
                </a:tc>
                <a:tc>
                  <a:txBody>
                    <a:bodyPr/>
                    <a:lstStyle/>
                    <a:p>
                      <a:pPr marL="0" marR="0" lvl="0" indent="0" algn="l" rtl="0">
                        <a:lnSpc>
                          <a:spcPct val="107000"/>
                        </a:lnSpc>
                        <a:spcBef>
                          <a:spcPts val="0"/>
                        </a:spcBef>
                        <a:spcAft>
                          <a:spcPts val="0"/>
                        </a:spcAft>
                        <a:buNone/>
                      </a:pPr>
                      <a:r>
                        <a:rPr lang="en-US" sz="1400" u="none" strike="noStrike" cap="none"/>
                        <a:t> </a:t>
                      </a:r>
                      <a:endParaRPr sz="1400" u="none" strike="noStrike" cap="none">
                        <a:latin typeface="Calibri"/>
                        <a:ea typeface="Calibri"/>
                        <a:cs typeface="Calibri"/>
                        <a:sym typeface="Calibri"/>
                      </a:endParaRPr>
                    </a:p>
                  </a:txBody>
                  <a:tcPr marL="61475" marR="61475" marT="0" marB="0" anchor="b">
                    <a:lnL w="12700" cap="flat" cmpd="sng">
                      <a:solidFill>
                        <a:schemeClr val="dk1"/>
                      </a:solidFill>
                      <a:prstDash val="solid"/>
                      <a:round/>
                      <a:headEnd type="none" w="sm" len="sm"/>
                      <a:tailEnd type="none" w="sm" len="sm"/>
                    </a:lnL>
                  </a:tcPr>
                </a:tc>
                <a:extLst>
                  <a:ext uri="{0D108BD9-81ED-4DB2-BD59-A6C34878D82A}">
                    <a16:rowId xmlns:a16="http://schemas.microsoft.com/office/drawing/2014/main" val="10002"/>
                  </a:ext>
                </a:extLst>
              </a:tr>
              <a:tr h="1223750">
                <a:tc>
                  <a:txBody>
                    <a:bodyPr/>
                    <a:lstStyle/>
                    <a:p>
                      <a:pPr marL="0" marR="0" lvl="0" indent="0" algn="ctr" rtl="0">
                        <a:lnSpc>
                          <a:spcPct val="107000"/>
                        </a:lnSpc>
                        <a:spcBef>
                          <a:spcPts val="0"/>
                        </a:spcBef>
                        <a:spcAft>
                          <a:spcPts val="0"/>
                        </a:spcAft>
                        <a:buNone/>
                      </a:pPr>
                      <a:r>
                        <a:rPr lang="en-US" sz="1400" u="none" strike="noStrike" cap="none"/>
                        <a:t> </a:t>
                      </a:r>
                      <a:endParaRPr sz="1400" u="none" strike="noStrike" cap="none">
                        <a:latin typeface="Calibri"/>
                        <a:ea typeface="Calibri"/>
                        <a:cs typeface="Calibri"/>
                        <a:sym typeface="Calibri"/>
                      </a:endParaRPr>
                    </a:p>
                  </a:txBody>
                  <a:tcPr marL="61475" marR="61475" marT="0" marB="0" anchor="ctr">
                    <a:lnR w="12700" cap="flat" cmpd="sng">
                      <a:solidFill>
                        <a:schemeClr val="dk1"/>
                      </a:solidFill>
                      <a:prstDash val="solid"/>
                      <a:round/>
                      <a:headEnd type="none" w="sm" len="sm"/>
                      <a:tailEnd type="none" w="sm" len="sm"/>
                    </a:lnR>
                  </a:tcPr>
                </a:tc>
                <a:tc>
                  <a:txBody>
                    <a:bodyPr/>
                    <a:lstStyle/>
                    <a:p>
                      <a:pPr marL="0" marR="0" lvl="0" indent="0" algn="ctr" rtl="0">
                        <a:lnSpc>
                          <a:spcPct val="107000"/>
                        </a:lnSpc>
                        <a:spcBef>
                          <a:spcPts val="0"/>
                        </a:spcBef>
                        <a:spcAft>
                          <a:spcPts val="0"/>
                        </a:spcAft>
                        <a:buNone/>
                      </a:pPr>
                      <a:r>
                        <a:rPr lang="en-US" sz="1400" u="none" strike="noStrike" cap="none"/>
                        <a:t> </a:t>
                      </a:r>
                      <a:endParaRPr sz="1400" u="none" strike="noStrike" cap="none">
                        <a:latin typeface="Calibri"/>
                        <a:ea typeface="Calibri"/>
                        <a:cs typeface="Calibri"/>
                        <a:sym typeface="Calibri"/>
                      </a:endParaRPr>
                    </a:p>
                  </a:txBody>
                  <a:tcPr marL="61475" marR="614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tcPr>
                </a:tc>
                <a:tc>
                  <a:txBody>
                    <a:bodyPr/>
                    <a:lstStyle/>
                    <a:p>
                      <a:pPr marL="0" marR="0" lvl="0" indent="0" algn="ctr" rtl="0">
                        <a:lnSpc>
                          <a:spcPct val="107000"/>
                        </a:lnSpc>
                        <a:spcBef>
                          <a:spcPts val="0"/>
                        </a:spcBef>
                        <a:spcAft>
                          <a:spcPts val="0"/>
                        </a:spcAft>
                        <a:buNone/>
                      </a:pPr>
                      <a:r>
                        <a:rPr lang="en-US" sz="1400" u="none" strike="noStrike" cap="none"/>
                        <a:t> </a:t>
                      </a:r>
                      <a:endParaRPr sz="1400" u="none" strike="noStrike" cap="none">
                        <a:latin typeface="Calibri"/>
                        <a:ea typeface="Calibri"/>
                        <a:cs typeface="Calibri"/>
                        <a:sym typeface="Calibri"/>
                      </a:endParaRPr>
                    </a:p>
                  </a:txBody>
                  <a:tcPr marL="61475" marR="614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tcPr>
                </a:tc>
                <a:tc>
                  <a:txBody>
                    <a:bodyPr/>
                    <a:lstStyle/>
                    <a:p>
                      <a:pPr marL="0" marR="0" lvl="0" indent="0" algn="ctr" rtl="0">
                        <a:lnSpc>
                          <a:spcPct val="107000"/>
                        </a:lnSpc>
                        <a:spcBef>
                          <a:spcPts val="0"/>
                        </a:spcBef>
                        <a:spcAft>
                          <a:spcPts val="0"/>
                        </a:spcAft>
                        <a:buNone/>
                      </a:pPr>
                      <a:r>
                        <a:rPr lang="en-US" sz="1400" u="none" strike="noStrike" cap="none"/>
                        <a:t> </a:t>
                      </a:r>
                      <a:endParaRPr sz="1400" u="none" strike="noStrike" cap="none">
                        <a:latin typeface="Calibri"/>
                        <a:ea typeface="Calibri"/>
                        <a:cs typeface="Calibri"/>
                        <a:sym typeface="Calibri"/>
                      </a:endParaRPr>
                    </a:p>
                  </a:txBody>
                  <a:tcPr marL="61475" marR="614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tcPr>
                </a:tc>
                <a:tc>
                  <a:txBody>
                    <a:bodyPr/>
                    <a:lstStyle/>
                    <a:p>
                      <a:pPr marL="0" marR="0" lvl="0" indent="0" algn="ctr" rtl="0">
                        <a:lnSpc>
                          <a:spcPct val="107000"/>
                        </a:lnSpc>
                        <a:spcBef>
                          <a:spcPts val="0"/>
                        </a:spcBef>
                        <a:spcAft>
                          <a:spcPts val="0"/>
                        </a:spcAft>
                        <a:buNone/>
                      </a:pPr>
                      <a:r>
                        <a:rPr lang="en-US" sz="1400" u="none" strike="noStrike" cap="none"/>
                        <a:t>3</a:t>
                      </a:r>
                      <a:endParaRPr sz="1400" u="none" strike="noStrike" cap="none">
                        <a:latin typeface="Calibri"/>
                        <a:ea typeface="Calibri"/>
                        <a:cs typeface="Calibri"/>
                        <a:sym typeface="Calibri"/>
                      </a:endParaRPr>
                    </a:p>
                  </a:txBody>
                  <a:tcPr marL="61475" marR="614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tcPr>
                </a:tc>
                <a:tc>
                  <a:txBody>
                    <a:bodyPr/>
                    <a:lstStyle/>
                    <a:p>
                      <a:pPr marL="0" marR="0" lvl="0" indent="0" algn="ctr" rtl="0">
                        <a:lnSpc>
                          <a:spcPct val="107000"/>
                        </a:lnSpc>
                        <a:spcBef>
                          <a:spcPts val="0"/>
                        </a:spcBef>
                        <a:spcAft>
                          <a:spcPts val="0"/>
                        </a:spcAft>
                        <a:buNone/>
                      </a:pPr>
                      <a:r>
                        <a:rPr lang="en-US" sz="1400" u="none" strike="noStrike" cap="none"/>
                        <a:t>Enter valid username in username field</a:t>
                      </a:r>
                      <a:endParaRPr sz="1400" u="none" strike="noStrike" cap="none">
                        <a:latin typeface="Calibri"/>
                        <a:ea typeface="Calibri"/>
                        <a:cs typeface="Calibri"/>
                        <a:sym typeface="Calibri"/>
                      </a:endParaRPr>
                    </a:p>
                  </a:txBody>
                  <a:tcPr marL="61475" marR="614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tcPr>
                </a:tc>
                <a:tc>
                  <a:txBody>
                    <a:bodyPr/>
                    <a:lstStyle/>
                    <a:p>
                      <a:pPr marL="0" marR="0" lvl="0" indent="0" algn="ctr" rtl="0">
                        <a:lnSpc>
                          <a:spcPct val="107000"/>
                        </a:lnSpc>
                        <a:spcBef>
                          <a:spcPts val="0"/>
                        </a:spcBef>
                        <a:spcAft>
                          <a:spcPts val="0"/>
                        </a:spcAft>
                        <a:buNone/>
                      </a:pPr>
                      <a:r>
                        <a:rPr lang="en-US" sz="1400" u="none" strike="noStrike" cap="none"/>
                        <a:t>Username field accepts input value as valid username</a:t>
                      </a:r>
                      <a:endParaRPr sz="1400" u="none" strike="noStrike" cap="none">
                        <a:latin typeface="Calibri"/>
                        <a:ea typeface="Calibri"/>
                        <a:cs typeface="Calibri"/>
                        <a:sym typeface="Calibri"/>
                      </a:endParaRPr>
                    </a:p>
                  </a:txBody>
                  <a:tcPr marL="61475" marR="614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tcPr>
                </a:tc>
                <a:tc>
                  <a:txBody>
                    <a:bodyPr/>
                    <a:lstStyle/>
                    <a:p>
                      <a:pPr marL="0" marR="0" lvl="0" indent="0" algn="ctr" rtl="0">
                        <a:lnSpc>
                          <a:spcPct val="107000"/>
                        </a:lnSpc>
                        <a:spcBef>
                          <a:spcPts val="0"/>
                        </a:spcBef>
                        <a:spcAft>
                          <a:spcPts val="0"/>
                        </a:spcAft>
                        <a:buNone/>
                      </a:pPr>
                      <a:r>
                        <a:rPr lang="en-US" sz="1400" u="none" strike="noStrike" cap="none"/>
                        <a:t>Username input accepted</a:t>
                      </a:r>
                      <a:endParaRPr sz="1400" u="none" strike="noStrike" cap="none">
                        <a:latin typeface="Calibri"/>
                        <a:ea typeface="Calibri"/>
                        <a:cs typeface="Calibri"/>
                        <a:sym typeface="Calibri"/>
                      </a:endParaRPr>
                    </a:p>
                  </a:txBody>
                  <a:tcPr marL="61475" marR="614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tcPr>
                </a:tc>
                <a:tc>
                  <a:txBody>
                    <a:bodyPr/>
                    <a:lstStyle/>
                    <a:p>
                      <a:pPr marL="0" marR="0" lvl="0" indent="0" algn="ctr" rtl="0">
                        <a:lnSpc>
                          <a:spcPct val="107000"/>
                        </a:lnSpc>
                        <a:spcBef>
                          <a:spcPts val="0"/>
                        </a:spcBef>
                        <a:spcAft>
                          <a:spcPts val="0"/>
                        </a:spcAft>
                        <a:buNone/>
                      </a:pPr>
                      <a:r>
                        <a:rPr lang="en-US" sz="1400" u="none" strike="noStrike" cap="none"/>
                        <a:t>Pass</a:t>
                      </a:r>
                      <a:endParaRPr sz="1400" u="none" strike="noStrike" cap="none">
                        <a:latin typeface="Calibri"/>
                        <a:ea typeface="Calibri"/>
                        <a:cs typeface="Calibri"/>
                        <a:sym typeface="Calibri"/>
                      </a:endParaRPr>
                    </a:p>
                  </a:txBody>
                  <a:tcPr marL="61475" marR="614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tcPr>
                </a:tc>
                <a:tc>
                  <a:txBody>
                    <a:bodyPr/>
                    <a:lstStyle/>
                    <a:p>
                      <a:pPr marL="0" marR="0" lvl="0" indent="0" algn="l" rtl="0">
                        <a:lnSpc>
                          <a:spcPct val="107000"/>
                        </a:lnSpc>
                        <a:spcBef>
                          <a:spcPts val="0"/>
                        </a:spcBef>
                        <a:spcAft>
                          <a:spcPts val="0"/>
                        </a:spcAft>
                        <a:buNone/>
                      </a:pPr>
                      <a:r>
                        <a:rPr lang="en-US" sz="1400" u="none" strike="noStrike" cap="none"/>
                        <a:t> </a:t>
                      </a:r>
                      <a:endParaRPr sz="1400" u="none" strike="noStrike" cap="none">
                        <a:latin typeface="Calibri"/>
                        <a:ea typeface="Calibri"/>
                        <a:cs typeface="Calibri"/>
                        <a:sym typeface="Calibri"/>
                      </a:endParaRPr>
                    </a:p>
                  </a:txBody>
                  <a:tcPr marL="61475" marR="61475" marT="0" marB="0" anchor="b">
                    <a:lnL w="12700" cap="flat" cmpd="sng">
                      <a:solidFill>
                        <a:schemeClr val="dk1"/>
                      </a:solidFill>
                      <a:prstDash val="solid"/>
                      <a:round/>
                      <a:headEnd type="none" w="sm" len="sm"/>
                      <a:tailEnd type="none" w="sm" len="sm"/>
                    </a:lnL>
                  </a:tcPr>
                </a:tc>
                <a:extLst>
                  <a:ext uri="{0D108BD9-81ED-4DB2-BD59-A6C34878D82A}">
                    <a16:rowId xmlns:a16="http://schemas.microsoft.com/office/drawing/2014/main" val="10003"/>
                  </a:ext>
                </a:extLst>
              </a:tr>
              <a:tr h="1223750">
                <a:tc>
                  <a:txBody>
                    <a:bodyPr/>
                    <a:lstStyle/>
                    <a:p>
                      <a:pPr marL="0" marR="0" lvl="0" indent="0" algn="ctr" rtl="0">
                        <a:lnSpc>
                          <a:spcPct val="107000"/>
                        </a:lnSpc>
                        <a:spcBef>
                          <a:spcPts val="0"/>
                        </a:spcBef>
                        <a:spcAft>
                          <a:spcPts val="0"/>
                        </a:spcAft>
                        <a:buNone/>
                      </a:pPr>
                      <a:r>
                        <a:rPr lang="en-US" sz="1400" u="none" strike="noStrike" cap="none"/>
                        <a:t> </a:t>
                      </a:r>
                      <a:endParaRPr sz="1400" u="none" strike="noStrike" cap="none">
                        <a:latin typeface="Calibri"/>
                        <a:ea typeface="Calibri"/>
                        <a:cs typeface="Calibri"/>
                        <a:sym typeface="Calibri"/>
                      </a:endParaRPr>
                    </a:p>
                  </a:txBody>
                  <a:tcPr marL="61475" marR="61475" marT="0" marB="0" anchor="ctr">
                    <a:lnR w="12700" cap="flat" cmpd="sng">
                      <a:solidFill>
                        <a:schemeClr val="dk1"/>
                      </a:solidFill>
                      <a:prstDash val="solid"/>
                      <a:round/>
                      <a:headEnd type="none" w="sm" len="sm"/>
                      <a:tailEnd type="none" w="sm" len="sm"/>
                    </a:lnR>
                  </a:tcPr>
                </a:tc>
                <a:tc>
                  <a:txBody>
                    <a:bodyPr/>
                    <a:lstStyle/>
                    <a:p>
                      <a:pPr marL="0" marR="0" lvl="0" indent="0" algn="ctr" rtl="0">
                        <a:lnSpc>
                          <a:spcPct val="107000"/>
                        </a:lnSpc>
                        <a:spcBef>
                          <a:spcPts val="0"/>
                        </a:spcBef>
                        <a:spcAft>
                          <a:spcPts val="0"/>
                        </a:spcAft>
                        <a:buNone/>
                      </a:pPr>
                      <a:r>
                        <a:rPr lang="en-US" sz="1400" u="none" strike="noStrike" cap="none"/>
                        <a:t> </a:t>
                      </a:r>
                      <a:endParaRPr sz="1400" u="none" strike="noStrike" cap="none">
                        <a:latin typeface="Calibri"/>
                        <a:ea typeface="Calibri"/>
                        <a:cs typeface="Calibri"/>
                        <a:sym typeface="Calibri"/>
                      </a:endParaRPr>
                    </a:p>
                  </a:txBody>
                  <a:tcPr marL="61475" marR="614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tcPr>
                </a:tc>
                <a:tc>
                  <a:txBody>
                    <a:bodyPr/>
                    <a:lstStyle/>
                    <a:p>
                      <a:pPr marL="0" marR="0" lvl="0" indent="0" algn="ctr" rtl="0">
                        <a:lnSpc>
                          <a:spcPct val="107000"/>
                        </a:lnSpc>
                        <a:spcBef>
                          <a:spcPts val="0"/>
                        </a:spcBef>
                        <a:spcAft>
                          <a:spcPts val="0"/>
                        </a:spcAft>
                        <a:buNone/>
                      </a:pPr>
                      <a:r>
                        <a:rPr lang="en-US" sz="1400" u="none" strike="noStrike" cap="none"/>
                        <a:t> </a:t>
                      </a:r>
                      <a:endParaRPr sz="1400" u="none" strike="noStrike" cap="none">
                        <a:latin typeface="Calibri"/>
                        <a:ea typeface="Calibri"/>
                        <a:cs typeface="Calibri"/>
                        <a:sym typeface="Calibri"/>
                      </a:endParaRPr>
                    </a:p>
                  </a:txBody>
                  <a:tcPr marL="61475" marR="614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tcPr>
                </a:tc>
                <a:tc>
                  <a:txBody>
                    <a:bodyPr/>
                    <a:lstStyle/>
                    <a:p>
                      <a:pPr marL="0" marR="0" lvl="0" indent="0" algn="ctr" rtl="0">
                        <a:lnSpc>
                          <a:spcPct val="107000"/>
                        </a:lnSpc>
                        <a:spcBef>
                          <a:spcPts val="0"/>
                        </a:spcBef>
                        <a:spcAft>
                          <a:spcPts val="0"/>
                        </a:spcAft>
                        <a:buNone/>
                      </a:pPr>
                      <a:r>
                        <a:rPr lang="en-US" sz="1400" u="none" strike="noStrike" cap="none"/>
                        <a:t> </a:t>
                      </a:r>
                      <a:endParaRPr sz="1400" u="none" strike="noStrike" cap="none">
                        <a:latin typeface="Calibri"/>
                        <a:ea typeface="Calibri"/>
                        <a:cs typeface="Calibri"/>
                        <a:sym typeface="Calibri"/>
                      </a:endParaRPr>
                    </a:p>
                  </a:txBody>
                  <a:tcPr marL="61475" marR="614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tcPr>
                </a:tc>
                <a:tc>
                  <a:txBody>
                    <a:bodyPr/>
                    <a:lstStyle/>
                    <a:p>
                      <a:pPr marL="0" marR="0" lvl="0" indent="0" algn="ctr" rtl="0">
                        <a:lnSpc>
                          <a:spcPct val="107000"/>
                        </a:lnSpc>
                        <a:spcBef>
                          <a:spcPts val="0"/>
                        </a:spcBef>
                        <a:spcAft>
                          <a:spcPts val="0"/>
                        </a:spcAft>
                        <a:buNone/>
                      </a:pPr>
                      <a:r>
                        <a:rPr lang="en-US" sz="1400" u="none" strike="noStrike" cap="none"/>
                        <a:t>4</a:t>
                      </a:r>
                      <a:endParaRPr sz="1400" u="none" strike="noStrike" cap="none">
                        <a:latin typeface="Calibri"/>
                        <a:ea typeface="Calibri"/>
                        <a:cs typeface="Calibri"/>
                        <a:sym typeface="Calibri"/>
                      </a:endParaRPr>
                    </a:p>
                  </a:txBody>
                  <a:tcPr marL="61475" marR="614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tcPr>
                </a:tc>
                <a:tc>
                  <a:txBody>
                    <a:bodyPr/>
                    <a:lstStyle/>
                    <a:p>
                      <a:pPr marL="0" marR="0" lvl="0" indent="0" algn="ctr" rtl="0">
                        <a:lnSpc>
                          <a:spcPct val="107000"/>
                        </a:lnSpc>
                        <a:spcBef>
                          <a:spcPts val="0"/>
                        </a:spcBef>
                        <a:spcAft>
                          <a:spcPts val="0"/>
                        </a:spcAft>
                        <a:buNone/>
                      </a:pPr>
                      <a:r>
                        <a:rPr lang="en-US" sz="1400" u="none" strike="noStrike" cap="none"/>
                        <a:t>Enter valid password in the password field</a:t>
                      </a:r>
                      <a:endParaRPr sz="1400" u="none" strike="noStrike" cap="none">
                        <a:latin typeface="Calibri"/>
                        <a:ea typeface="Calibri"/>
                        <a:cs typeface="Calibri"/>
                        <a:sym typeface="Calibri"/>
                      </a:endParaRPr>
                    </a:p>
                  </a:txBody>
                  <a:tcPr marL="61475" marR="614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tcPr>
                </a:tc>
                <a:tc>
                  <a:txBody>
                    <a:bodyPr/>
                    <a:lstStyle/>
                    <a:p>
                      <a:pPr marL="0" marR="0" lvl="0" indent="0" algn="ctr" rtl="0">
                        <a:lnSpc>
                          <a:spcPct val="107000"/>
                        </a:lnSpc>
                        <a:spcBef>
                          <a:spcPts val="0"/>
                        </a:spcBef>
                        <a:spcAft>
                          <a:spcPts val="0"/>
                        </a:spcAft>
                        <a:buNone/>
                      </a:pPr>
                      <a:r>
                        <a:rPr lang="en-US" sz="1400" u="none" strike="noStrike" cap="none"/>
                        <a:t>Password field accepts input value as valid Password</a:t>
                      </a:r>
                      <a:endParaRPr sz="1400" u="none" strike="noStrike" cap="none">
                        <a:latin typeface="Calibri"/>
                        <a:ea typeface="Calibri"/>
                        <a:cs typeface="Calibri"/>
                        <a:sym typeface="Calibri"/>
                      </a:endParaRPr>
                    </a:p>
                  </a:txBody>
                  <a:tcPr marL="61475" marR="614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tcPr>
                </a:tc>
                <a:tc>
                  <a:txBody>
                    <a:bodyPr/>
                    <a:lstStyle/>
                    <a:p>
                      <a:pPr marL="0" marR="0" lvl="0" indent="0" algn="ctr" rtl="0">
                        <a:lnSpc>
                          <a:spcPct val="107000"/>
                        </a:lnSpc>
                        <a:spcBef>
                          <a:spcPts val="0"/>
                        </a:spcBef>
                        <a:spcAft>
                          <a:spcPts val="0"/>
                        </a:spcAft>
                        <a:buNone/>
                      </a:pPr>
                      <a:r>
                        <a:rPr lang="en-US" sz="1400" u="none" strike="noStrike" cap="none"/>
                        <a:t>Password input accepted</a:t>
                      </a:r>
                      <a:endParaRPr sz="1400" u="none" strike="noStrike" cap="none">
                        <a:latin typeface="Calibri"/>
                        <a:ea typeface="Calibri"/>
                        <a:cs typeface="Calibri"/>
                        <a:sym typeface="Calibri"/>
                      </a:endParaRPr>
                    </a:p>
                  </a:txBody>
                  <a:tcPr marL="61475" marR="614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tcPr>
                </a:tc>
                <a:tc>
                  <a:txBody>
                    <a:bodyPr/>
                    <a:lstStyle/>
                    <a:p>
                      <a:pPr marL="0" marR="0" lvl="0" indent="0" algn="ctr" rtl="0">
                        <a:lnSpc>
                          <a:spcPct val="107000"/>
                        </a:lnSpc>
                        <a:spcBef>
                          <a:spcPts val="0"/>
                        </a:spcBef>
                        <a:spcAft>
                          <a:spcPts val="0"/>
                        </a:spcAft>
                        <a:buNone/>
                      </a:pPr>
                      <a:r>
                        <a:rPr lang="en-US" sz="1400" u="none" strike="noStrike" cap="none"/>
                        <a:t>Pass</a:t>
                      </a:r>
                      <a:endParaRPr sz="1400" u="none" strike="noStrike" cap="none">
                        <a:latin typeface="Calibri"/>
                        <a:ea typeface="Calibri"/>
                        <a:cs typeface="Calibri"/>
                        <a:sym typeface="Calibri"/>
                      </a:endParaRPr>
                    </a:p>
                  </a:txBody>
                  <a:tcPr marL="61475" marR="614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tcPr>
                </a:tc>
                <a:tc>
                  <a:txBody>
                    <a:bodyPr/>
                    <a:lstStyle/>
                    <a:p>
                      <a:pPr marL="0" marR="0" lvl="0" indent="0" algn="l" rtl="0">
                        <a:lnSpc>
                          <a:spcPct val="107000"/>
                        </a:lnSpc>
                        <a:spcBef>
                          <a:spcPts val="0"/>
                        </a:spcBef>
                        <a:spcAft>
                          <a:spcPts val="0"/>
                        </a:spcAft>
                        <a:buNone/>
                      </a:pPr>
                      <a:r>
                        <a:rPr lang="en-US" sz="1400" u="none" strike="noStrike" cap="none"/>
                        <a:t> </a:t>
                      </a:r>
                      <a:endParaRPr sz="1400" u="none" strike="noStrike" cap="none">
                        <a:latin typeface="Calibri"/>
                        <a:ea typeface="Calibri"/>
                        <a:cs typeface="Calibri"/>
                        <a:sym typeface="Calibri"/>
                      </a:endParaRPr>
                    </a:p>
                  </a:txBody>
                  <a:tcPr marL="61475" marR="61475" marT="0" marB="0" anchor="b">
                    <a:lnL w="12700" cap="flat" cmpd="sng">
                      <a:solidFill>
                        <a:schemeClr val="dk1"/>
                      </a:solidFill>
                      <a:prstDash val="solid"/>
                      <a:round/>
                      <a:headEnd type="none" w="sm" len="sm"/>
                      <a:tailEnd type="none" w="sm" len="sm"/>
                    </a:lnL>
                  </a:tcPr>
                </a:tc>
                <a:extLst>
                  <a:ext uri="{0D108BD9-81ED-4DB2-BD59-A6C34878D82A}">
                    <a16:rowId xmlns:a16="http://schemas.microsoft.com/office/drawing/2014/main" val="10004"/>
                  </a:ext>
                </a:extLst>
              </a:tr>
              <a:tr h="1471000">
                <a:tc>
                  <a:txBody>
                    <a:bodyPr/>
                    <a:lstStyle/>
                    <a:p>
                      <a:pPr marL="0" marR="0" lvl="0" indent="0" algn="ctr" rtl="0">
                        <a:lnSpc>
                          <a:spcPct val="107000"/>
                        </a:lnSpc>
                        <a:spcBef>
                          <a:spcPts val="0"/>
                        </a:spcBef>
                        <a:spcAft>
                          <a:spcPts val="0"/>
                        </a:spcAft>
                        <a:buNone/>
                      </a:pPr>
                      <a:r>
                        <a:rPr lang="en-US" sz="1400" u="none" strike="noStrike" cap="none"/>
                        <a:t> </a:t>
                      </a:r>
                      <a:endParaRPr sz="1400" u="none" strike="noStrike" cap="none">
                        <a:latin typeface="Calibri"/>
                        <a:ea typeface="Calibri"/>
                        <a:cs typeface="Calibri"/>
                        <a:sym typeface="Calibri"/>
                      </a:endParaRPr>
                    </a:p>
                  </a:txBody>
                  <a:tcPr marL="61475" marR="61475" marT="0" marB="0" anchor="ctr">
                    <a:lnR w="12700" cap="flat" cmpd="sng">
                      <a:solidFill>
                        <a:schemeClr val="dk1"/>
                      </a:solidFill>
                      <a:prstDash val="solid"/>
                      <a:round/>
                      <a:headEnd type="none" w="sm" len="sm"/>
                      <a:tailEnd type="none" w="sm" len="sm"/>
                    </a:lnR>
                  </a:tcPr>
                </a:tc>
                <a:tc>
                  <a:txBody>
                    <a:bodyPr/>
                    <a:lstStyle/>
                    <a:p>
                      <a:pPr marL="0" marR="0" lvl="0" indent="0" algn="ctr" rtl="0">
                        <a:lnSpc>
                          <a:spcPct val="107000"/>
                        </a:lnSpc>
                        <a:spcBef>
                          <a:spcPts val="0"/>
                        </a:spcBef>
                        <a:spcAft>
                          <a:spcPts val="0"/>
                        </a:spcAft>
                        <a:buNone/>
                      </a:pPr>
                      <a:r>
                        <a:rPr lang="en-US" sz="1400" u="none" strike="noStrike" cap="none"/>
                        <a:t> </a:t>
                      </a:r>
                      <a:endParaRPr sz="1400" u="none" strike="noStrike" cap="none">
                        <a:latin typeface="Calibri"/>
                        <a:ea typeface="Calibri"/>
                        <a:cs typeface="Calibri"/>
                        <a:sym typeface="Calibri"/>
                      </a:endParaRPr>
                    </a:p>
                  </a:txBody>
                  <a:tcPr marL="61475" marR="614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tcPr>
                </a:tc>
                <a:tc>
                  <a:txBody>
                    <a:bodyPr/>
                    <a:lstStyle/>
                    <a:p>
                      <a:pPr marL="0" marR="0" lvl="0" indent="0" algn="ctr" rtl="0">
                        <a:lnSpc>
                          <a:spcPct val="107000"/>
                        </a:lnSpc>
                        <a:spcBef>
                          <a:spcPts val="0"/>
                        </a:spcBef>
                        <a:spcAft>
                          <a:spcPts val="0"/>
                        </a:spcAft>
                        <a:buNone/>
                      </a:pPr>
                      <a:r>
                        <a:rPr lang="en-US" sz="1400" u="none" strike="noStrike" cap="none"/>
                        <a:t> </a:t>
                      </a:r>
                      <a:endParaRPr sz="1400" u="none" strike="noStrike" cap="none">
                        <a:latin typeface="Calibri"/>
                        <a:ea typeface="Calibri"/>
                        <a:cs typeface="Calibri"/>
                        <a:sym typeface="Calibri"/>
                      </a:endParaRPr>
                    </a:p>
                  </a:txBody>
                  <a:tcPr marL="61475" marR="614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tcPr>
                </a:tc>
                <a:tc>
                  <a:txBody>
                    <a:bodyPr/>
                    <a:lstStyle/>
                    <a:p>
                      <a:pPr marL="0" marR="0" lvl="0" indent="0" algn="ctr" rtl="0">
                        <a:lnSpc>
                          <a:spcPct val="107000"/>
                        </a:lnSpc>
                        <a:spcBef>
                          <a:spcPts val="0"/>
                        </a:spcBef>
                        <a:spcAft>
                          <a:spcPts val="0"/>
                        </a:spcAft>
                        <a:buNone/>
                      </a:pPr>
                      <a:r>
                        <a:rPr lang="en-US" sz="1400" u="none" strike="noStrike" cap="none"/>
                        <a:t> </a:t>
                      </a:r>
                      <a:endParaRPr sz="1400" u="none" strike="noStrike" cap="none">
                        <a:latin typeface="Calibri"/>
                        <a:ea typeface="Calibri"/>
                        <a:cs typeface="Calibri"/>
                        <a:sym typeface="Calibri"/>
                      </a:endParaRPr>
                    </a:p>
                  </a:txBody>
                  <a:tcPr marL="61475" marR="614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tcPr>
                </a:tc>
                <a:tc>
                  <a:txBody>
                    <a:bodyPr/>
                    <a:lstStyle/>
                    <a:p>
                      <a:pPr marL="0" marR="0" lvl="0" indent="0" algn="ctr" rtl="0">
                        <a:lnSpc>
                          <a:spcPct val="107000"/>
                        </a:lnSpc>
                        <a:spcBef>
                          <a:spcPts val="0"/>
                        </a:spcBef>
                        <a:spcAft>
                          <a:spcPts val="0"/>
                        </a:spcAft>
                        <a:buNone/>
                      </a:pPr>
                      <a:r>
                        <a:rPr lang="en-US" sz="1400" u="none" strike="noStrike" cap="none"/>
                        <a:t>5</a:t>
                      </a:r>
                      <a:endParaRPr sz="1400" u="none" strike="noStrike" cap="none">
                        <a:latin typeface="Calibri"/>
                        <a:ea typeface="Calibri"/>
                        <a:cs typeface="Calibri"/>
                        <a:sym typeface="Calibri"/>
                      </a:endParaRPr>
                    </a:p>
                  </a:txBody>
                  <a:tcPr marL="61475" marR="614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tcPr>
                </a:tc>
                <a:tc>
                  <a:txBody>
                    <a:bodyPr/>
                    <a:lstStyle/>
                    <a:p>
                      <a:pPr marL="0" marR="0" lvl="0" indent="0" algn="ctr" rtl="0">
                        <a:lnSpc>
                          <a:spcPct val="107000"/>
                        </a:lnSpc>
                        <a:spcBef>
                          <a:spcPts val="0"/>
                        </a:spcBef>
                        <a:spcAft>
                          <a:spcPts val="0"/>
                        </a:spcAft>
                        <a:buNone/>
                      </a:pPr>
                      <a:r>
                        <a:rPr lang="en-US" sz="1400" u="none" strike="noStrike" cap="none"/>
                        <a:t>Click on Login Button</a:t>
                      </a:r>
                      <a:endParaRPr sz="1400" u="none" strike="noStrike" cap="none">
                        <a:latin typeface="Calibri"/>
                        <a:ea typeface="Calibri"/>
                        <a:cs typeface="Calibri"/>
                        <a:sym typeface="Calibri"/>
                      </a:endParaRPr>
                    </a:p>
                  </a:txBody>
                  <a:tcPr marL="61475" marR="614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tcPr>
                </a:tc>
                <a:tc>
                  <a:txBody>
                    <a:bodyPr/>
                    <a:lstStyle/>
                    <a:p>
                      <a:pPr marL="0" marR="0" lvl="0" indent="0" algn="ctr" rtl="0">
                        <a:lnSpc>
                          <a:spcPct val="107000"/>
                        </a:lnSpc>
                        <a:spcBef>
                          <a:spcPts val="0"/>
                        </a:spcBef>
                        <a:spcAft>
                          <a:spcPts val="0"/>
                        </a:spcAft>
                        <a:buNone/>
                      </a:pPr>
                      <a:r>
                        <a:rPr lang="en-US" sz="1400" u="none" strike="noStrike" cap="none"/>
                        <a:t>Navigated to HomePage and shows name of the user in homepage</a:t>
                      </a:r>
                      <a:endParaRPr sz="1400" u="none" strike="noStrike" cap="none">
                        <a:latin typeface="Calibri"/>
                        <a:ea typeface="Calibri"/>
                        <a:cs typeface="Calibri"/>
                        <a:sym typeface="Calibri"/>
                      </a:endParaRPr>
                    </a:p>
                  </a:txBody>
                  <a:tcPr marL="61475" marR="614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tcPr>
                </a:tc>
                <a:tc>
                  <a:txBody>
                    <a:bodyPr/>
                    <a:lstStyle/>
                    <a:p>
                      <a:pPr marL="0" marR="0" lvl="0" indent="0" algn="ctr" rtl="0">
                        <a:lnSpc>
                          <a:spcPct val="107000"/>
                        </a:lnSpc>
                        <a:spcBef>
                          <a:spcPts val="0"/>
                        </a:spcBef>
                        <a:spcAft>
                          <a:spcPts val="0"/>
                        </a:spcAft>
                        <a:buNone/>
                      </a:pPr>
                      <a:r>
                        <a:rPr lang="en-US" sz="1400" u="none" strike="noStrike" cap="none"/>
                        <a:t>Name of the user is displayed in the homepage</a:t>
                      </a:r>
                      <a:endParaRPr sz="1400" u="none" strike="noStrike" cap="none">
                        <a:latin typeface="Calibri"/>
                        <a:ea typeface="Calibri"/>
                        <a:cs typeface="Calibri"/>
                        <a:sym typeface="Calibri"/>
                      </a:endParaRPr>
                    </a:p>
                  </a:txBody>
                  <a:tcPr marL="61475" marR="614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tcPr>
                </a:tc>
                <a:tc>
                  <a:txBody>
                    <a:bodyPr/>
                    <a:lstStyle/>
                    <a:p>
                      <a:pPr marL="0" marR="0" lvl="0" indent="0" algn="ctr" rtl="0">
                        <a:lnSpc>
                          <a:spcPct val="107000"/>
                        </a:lnSpc>
                        <a:spcBef>
                          <a:spcPts val="0"/>
                        </a:spcBef>
                        <a:spcAft>
                          <a:spcPts val="0"/>
                        </a:spcAft>
                        <a:buNone/>
                      </a:pPr>
                      <a:r>
                        <a:rPr lang="en-US" sz="1400" u="none" strike="noStrike" cap="none"/>
                        <a:t>Pass</a:t>
                      </a:r>
                      <a:endParaRPr sz="1400" u="none" strike="noStrike" cap="none">
                        <a:latin typeface="Calibri"/>
                        <a:ea typeface="Calibri"/>
                        <a:cs typeface="Calibri"/>
                        <a:sym typeface="Calibri"/>
                      </a:endParaRPr>
                    </a:p>
                  </a:txBody>
                  <a:tcPr marL="61475" marR="614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tcPr>
                </a:tc>
                <a:tc>
                  <a:txBody>
                    <a:bodyPr/>
                    <a:lstStyle/>
                    <a:p>
                      <a:pPr marL="0" marR="0" lvl="0" indent="0" algn="l" rtl="0">
                        <a:lnSpc>
                          <a:spcPct val="107000"/>
                        </a:lnSpc>
                        <a:spcBef>
                          <a:spcPts val="0"/>
                        </a:spcBef>
                        <a:spcAft>
                          <a:spcPts val="0"/>
                        </a:spcAft>
                        <a:buNone/>
                      </a:pPr>
                      <a:r>
                        <a:rPr lang="en-US" sz="1400" u="none" strike="noStrike" cap="none"/>
                        <a:t> </a:t>
                      </a:r>
                      <a:endParaRPr sz="1400" u="none" strike="noStrike" cap="none">
                        <a:latin typeface="Calibri"/>
                        <a:ea typeface="Calibri"/>
                        <a:cs typeface="Calibri"/>
                        <a:sym typeface="Calibri"/>
                      </a:endParaRPr>
                    </a:p>
                  </a:txBody>
                  <a:tcPr marL="61475" marR="61475" marT="0" marB="0" anchor="b">
                    <a:lnL w="12700" cap="flat" cmpd="sng">
                      <a:solidFill>
                        <a:schemeClr val="dk1"/>
                      </a:solidFill>
                      <a:prstDash val="solid"/>
                      <a:round/>
                      <a:headEnd type="none" w="sm" len="sm"/>
                      <a:tailEnd type="none" w="sm" len="sm"/>
                    </a:lnL>
                  </a:tcPr>
                </a:tc>
                <a:extLst>
                  <a:ext uri="{0D108BD9-81ED-4DB2-BD59-A6C34878D82A}">
                    <a16:rowId xmlns:a16="http://schemas.microsoft.com/office/drawing/2014/main" val="10005"/>
                  </a:ext>
                </a:extLst>
              </a:tr>
            </a:tbl>
          </a:graphicData>
        </a:graphic>
      </p:graphicFrame>
      <p:sp>
        <p:nvSpPr>
          <p:cNvPr id="562" name="Google Shape;562;p64"/>
          <p:cNvSpPr/>
          <p:nvPr/>
        </p:nvSpPr>
        <p:spPr>
          <a:xfrm>
            <a:off x="883578" y="1166642"/>
            <a:ext cx="12705476" cy="508046"/>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563" name="Google Shape;563;p64"/>
          <p:cNvSpPr/>
          <p:nvPr/>
        </p:nvSpPr>
        <p:spPr>
          <a:xfrm rot="-1274389">
            <a:off x="998386" y="4233196"/>
            <a:ext cx="3270447"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b="0" cap="none">
                <a:solidFill>
                  <a:srgbClr val="F8D0CB"/>
                </a:solidFill>
                <a:latin typeface="Trebuchet MS"/>
                <a:ea typeface="Trebuchet MS"/>
                <a:cs typeface="Trebuchet MS"/>
                <a:sym typeface="Trebuchet MS"/>
              </a:rPr>
              <a:t>Important</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567"/>
        <p:cNvGrpSpPr/>
        <p:nvPr/>
      </p:nvGrpSpPr>
      <p:grpSpPr>
        <a:xfrm>
          <a:off x="0" y="0"/>
          <a:ext cx="0" cy="0"/>
          <a:chOff x="0" y="0"/>
          <a:chExt cx="0" cy="0"/>
        </a:xfrm>
      </p:grpSpPr>
      <p:sp>
        <p:nvSpPr>
          <p:cNvPr id="568" name="Google Shape;568;p65"/>
          <p:cNvSpPr txBox="1">
            <a:spLocks noGrp="1"/>
          </p:cNvSpPr>
          <p:nvPr>
            <p:ph type="title"/>
          </p:nvPr>
        </p:nvSpPr>
        <p:spPr>
          <a:xfrm>
            <a:off x="677334" y="609600"/>
            <a:ext cx="8596668" cy="78232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C00000"/>
              </a:buClr>
              <a:buSzPts val="3600"/>
              <a:buFont typeface="Trebuchet MS"/>
              <a:buNone/>
            </a:pPr>
            <a:r>
              <a:rPr lang="en-US">
                <a:solidFill>
                  <a:srgbClr val="C00000"/>
                </a:solidFill>
              </a:rPr>
              <a:t>Negative Test case:</a:t>
            </a:r>
            <a:endParaRPr/>
          </a:p>
        </p:txBody>
      </p:sp>
      <p:pic>
        <p:nvPicPr>
          <p:cNvPr id="569" name="Google Shape;569;p65"/>
          <p:cNvPicPr preferRelativeResize="0"/>
          <p:nvPr/>
        </p:nvPicPr>
        <p:blipFill rotWithShape="1">
          <a:blip r:embed="rId3">
            <a:alphaModFix/>
          </a:blip>
          <a:srcRect/>
          <a:stretch/>
        </p:blipFill>
        <p:spPr>
          <a:xfrm>
            <a:off x="0" y="1686560"/>
            <a:ext cx="9928740" cy="5171440"/>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573"/>
        <p:cNvGrpSpPr/>
        <p:nvPr/>
      </p:nvGrpSpPr>
      <p:grpSpPr>
        <a:xfrm>
          <a:off x="0" y="0"/>
          <a:ext cx="0" cy="0"/>
          <a:chOff x="0" y="0"/>
          <a:chExt cx="0" cy="0"/>
        </a:xfrm>
      </p:grpSpPr>
      <p:sp>
        <p:nvSpPr>
          <p:cNvPr id="574" name="Google Shape;574;p66"/>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C00000"/>
              </a:buClr>
              <a:buSzPts val="3600"/>
              <a:buFont typeface="Trebuchet MS"/>
              <a:buNone/>
            </a:pPr>
            <a:r>
              <a:rPr lang="en-US">
                <a:solidFill>
                  <a:srgbClr val="C00000"/>
                </a:solidFill>
              </a:rPr>
              <a:t>Verification vs Validation</a:t>
            </a:r>
            <a:endParaRPr/>
          </a:p>
        </p:txBody>
      </p:sp>
      <p:sp>
        <p:nvSpPr>
          <p:cNvPr id="575" name="Google Shape;575;p66"/>
          <p:cNvSpPr txBox="1">
            <a:spLocks noGrp="1"/>
          </p:cNvSpPr>
          <p:nvPr>
            <p:ph type="body" idx="1"/>
          </p:nvPr>
        </p:nvSpPr>
        <p:spPr>
          <a:xfrm>
            <a:off x="677334" y="1808481"/>
            <a:ext cx="10020258" cy="4232882"/>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n-US"/>
              <a:t>Verification:</a:t>
            </a:r>
            <a:endParaRPr/>
          </a:p>
          <a:p>
            <a:pPr marL="0" lvl="0" indent="0" algn="l" rtl="0">
              <a:spcBef>
                <a:spcPts val="1000"/>
              </a:spcBef>
              <a:spcAft>
                <a:spcPts val="0"/>
              </a:spcAft>
              <a:buSzPts val="1440"/>
              <a:buNone/>
            </a:pPr>
            <a:r>
              <a:rPr lang="en-US"/>
              <a:t>	The verifying process includes checking documents, design, code, and program.</a:t>
            </a:r>
            <a:endParaRPr/>
          </a:p>
          <a:p>
            <a:pPr marL="0" lvl="0" indent="0" algn="l" rtl="0">
              <a:spcBef>
                <a:spcPts val="1000"/>
              </a:spcBef>
              <a:spcAft>
                <a:spcPts val="0"/>
              </a:spcAft>
              <a:buSzPts val="1440"/>
              <a:buNone/>
            </a:pPr>
            <a:r>
              <a:rPr lang="en-US"/>
              <a:t>	(Ex: Spelling mistake)</a:t>
            </a:r>
            <a:endParaRPr/>
          </a:p>
          <a:p>
            <a:pPr marL="342900" lvl="0" indent="-200660" algn="l" rtl="0">
              <a:spcBef>
                <a:spcPts val="1000"/>
              </a:spcBef>
              <a:spcAft>
                <a:spcPts val="0"/>
              </a:spcAft>
              <a:buSzPts val="2240"/>
              <a:buNone/>
            </a:pPr>
            <a:endParaRPr sz="2800"/>
          </a:p>
          <a:p>
            <a:pPr marL="342900" lvl="0" indent="-342900" algn="l" rtl="0">
              <a:spcBef>
                <a:spcPts val="1000"/>
              </a:spcBef>
              <a:spcAft>
                <a:spcPts val="0"/>
              </a:spcAft>
              <a:buSzPts val="1920"/>
              <a:buChar char="►"/>
            </a:pPr>
            <a:r>
              <a:rPr lang="en-US" sz="2400" b="1" u="sng"/>
              <a:t>Validation</a:t>
            </a:r>
            <a:r>
              <a:rPr lang="en-US"/>
              <a:t>:</a:t>
            </a:r>
            <a:endParaRPr/>
          </a:p>
          <a:p>
            <a:pPr marL="0" lvl="0" indent="0" algn="l" rtl="0">
              <a:spcBef>
                <a:spcPts val="1000"/>
              </a:spcBef>
              <a:spcAft>
                <a:spcPts val="0"/>
              </a:spcAft>
              <a:buSzPts val="1440"/>
              <a:buNone/>
            </a:pPr>
            <a:r>
              <a:rPr lang="en-US"/>
              <a:t>	It is a dynamic mechanism of Software testing and validate the actual Product.</a:t>
            </a:r>
            <a:endParaRPr/>
          </a:p>
          <a:p>
            <a:pPr marL="0" lvl="0" indent="0" algn="l" rtl="0">
              <a:spcBef>
                <a:spcPts val="1000"/>
              </a:spcBef>
              <a:spcAft>
                <a:spcPts val="0"/>
              </a:spcAft>
              <a:buSzPts val="1440"/>
              <a:buNone/>
            </a:pPr>
            <a:r>
              <a:rPr lang="en-US"/>
              <a:t>	(Ex: </a:t>
            </a:r>
            <a:r>
              <a:rPr lang="en-US" b="1"/>
              <a:t>Actual </a:t>
            </a:r>
            <a:r>
              <a:rPr lang="en-US"/>
              <a:t>meets</a:t>
            </a:r>
            <a:r>
              <a:rPr lang="en-US" b="1"/>
              <a:t> Expected</a:t>
            </a:r>
            <a:r>
              <a:rPr lang="en-US"/>
              <a:t>)</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sp>
        <p:nvSpPr>
          <p:cNvPr id="580" name="Google Shape;580;p67"/>
          <p:cNvSpPr txBox="1">
            <a:spLocks noGrp="1"/>
          </p:cNvSpPr>
          <p:nvPr>
            <p:ph type="title"/>
          </p:nvPr>
        </p:nvSpPr>
        <p:spPr>
          <a:xfrm>
            <a:off x="677334" y="609600"/>
            <a:ext cx="8596668" cy="905164"/>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3F7818"/>
              </a:buClr>
              <a:buSzPts val="3600"/>
              <a:buFont typeface="Trebuchet MS"/>
              <a:buNone/>
            </a:pPr>
            <a:r>
              <a:rPr lang="en-US">
                <a:solidFill>
                  <a:srgbClr val="3F7818"/>
                </a:solidFill>
              </a:rPr>
              <a:t>Entry</a:t>
            </a:r>
            <a:r>
              <a:rPr lang="en-US">
                <a:solidFill>
                  <a:srgbClr val="FF0000"/>
                </a:solidFill>
              </a:rPr>
              <a:t> </a:t>
            </a:r>
            <a:r>
              <a:rPr lang="en-US">
                <a:solidFill>
                  <a:srgbClr val="002060"/>
                </a:solidFill>
              </a:rPr>
              <a:t>Criteria</a:t>
            </a:r>
            <a:r>
              <a:rPr lang="en-US">
                <a:solidFill>
                  <a:srgbClr val="FF0000"/>
                </a:solidFill>
              </a:rPr>
              <a:t> :</a:t>
            </a:r>
            <a:endParaRPr>
              <a:solidFill>
                <a:srgbClr val="FF0000"/>
              </a:solidFill>
            </a:endParaRPr>
          </a:p>
        </p:txBody>
      </p:sp>
      <p:sp>
        <p:nvSpPr>
          <p:cNvPr id="581" name="Google Shape;581;p67"/>
          <p:cNvSpPr txBox="1">
            <a:spLocks noGrp="1"/>
          </p:cNvSpPr>
          <p:nvPr>
            <p:ph type="body" idx="1"/>
          </p:nvPr>
        </p:nvSpPr>
        <p:spPr>
          <a:xfrm>
            <a:off x="677334" y="1514764"/>
            <a:ext cx="8596668" cy="5246254"/>
          </a:xfrm>
          <a:prstGeom prst="rect">
            <a:avLst/>
          </a:prstGeom>
          <a:noFill/>
          <a:ln>
            <a:noFill/>
          </a:ln>
        </p:spPr>
        <p:txBody>
          <a:bodyPr spcFirstLastPara="1" wrap="square" lIns="91425" tIns="45700" rIns="91425" bIns="45700" anchor="t" anchorCtr="0">
            <a:normAutofit lnSpcReduction="10000"/>
          </a:bodyPr>
          <a:lstStyle/>
          <a:p>
            <a:pPr marL="342900" lvl="0" indent="-342900" algn="l" rtl="0">
              <a:lnSpc>
                <a:spcPct val="150000"/>
              </a:lnSpc>
              <a:spcBef>
                <a:spcPts val="0"/>
              </a:spcBef>
              <a:spcAft>
                <a:spcPts val="0"/>
              </a:spcAft>
              <a:buSzPts val="1440"/>
              <a:buChar char="►"/>
            </a:pPr>
            <a:r>
              <a:rPr lang="en-US"/>
              <a:t>Test environment availability</a:t>
            </a:r>
            <a:endParaRPr/>
          </a:p>
          <a:p>
            <a:pPr marL="342900" lvl="0" indent="-342900" algn="l" rtl="0">
              <a:lnSpc>
                <a:spcPct val="150000"/>
              </a:lnSpc>
              <a:spcBef>
                <a:spcPts val="1000"/>
              </a:spcBef>
              <a:spcAft>
                <a:spcPts val="0"/>
              </a:spcAft>
              <a:buSzPts val="1440"/>
              <a:buChar char="►"/>
            </a:pPr>
            <a:r>
              <a:rPr lang="en-US"/>
              <a:t>Test scope definition and finalization</a:t>
            </a:r>
            <a:endParaRPr/>
          </a:p>
          <a:p>
            <a:pPr marL="342900" lvl="0" indent="-342900" algn="l" rtl="0">
              <a:lnSpc>
                <a:spcPct val="150000"/>
              </a:lnSpc>
              <a:spcBef>
                <a:spcPts val="1000"/>
              </a:spcBef>
              <a:spcAft>
                <a:spcPts val="0"/>
              </a:spcAft>
              <a:buSzPts val="1440"/>
              <a:buChar char="►"/>
            </a:pPr>
            <a:r>
              <a:rPr lang="en-US"/>
              <a:t>Types of testing defined &amp; finalized</a:t>
            </a:r>
            <a:endParaRPr/>
          </a:p>
          <a:p>
            <a:pPr marL="342900" lvl="0" indent="-342900" algn="l" rtl="0">
              <a:lnSpc>
                <a:spcPct val="150000"/>
              </a:lnSpc>
              <a:spcBef>
                <a:spcPts val="1000"/>
              </a:spcBef>
              <a:spcAft>
                <a:spcPts val="0"/>
              </a:spcAft>
              <a:buSzPts val="1440"/>
              <a:buChar char="►"/>
            </a:pPr>
            <a:r>
              <a:rPr lang="en-US"/>
              <a:t>Test cycles &amp; schedule is planned &amp; Signed off</a:t>
            </a:r>
            <a:endParaRPr/>
          </a:p>
          <a:p>
            <a:pPr marL="342900" lvl="0" indent="-342900" algn="l" rtl="0">
              <a:lnSpc>
                <a:spcPct val="150000"/>
              </a:lnSpc>
              <a:spcBef>
                <a:spcPts val="1000"/>
              </a:spcBef>
              <a:spcAft>
                <a:spcPts val="0"/>
              </a:spcAft>
              <a:buSzPts val="1440"/>
              <a:buChar char="►"/>
            </a:pPr>
            <a:r>
              <a:rPr lang="en-US"/>
              <a:t>test resources available</a:t>
            </a:r>
            <a:endParaRPr/>
          </a:p>
          <a:p>
            <a:pPr marL="342900" lvl="0" indent="-342900" algn="l" rtl="0">
              <a:lnSpc>
                <a:spcPct val="150000"/>
              </a:lnSpc>
              <a:spcBef>
                <a:spcPts val="1000"/>
              </a:spcBef>
              <a:spcAft>
                <a:spcPts val="0"/>
              </a:spcAft>
              <a:buSzPts val="1440"/>
              <a:buChar char="►"/>
            </a:pPr>
            <a:r>
              <a:rPr lang="en-US"/>
              <a:t>Software under test knowledge is available</a:t>
            </a:r>
            <a:endParaRPr/>
          </a:p>
          <a:p>
            <a:pPr marL="342900" lvl="0" indent="-342900" algn="l" rtl="0">
              <a:lnSpc>
                <a:spcPct val="150000"/>
              </a:lnSpc>
              <a:spcBef>
                <a:spcPts val="1000"/>
              </a:spcBef>
              <a:spcAft>
                <a:spcPts val="0"/>
              </a:spcAft>
              <a:buSzPts val="1440"/>
              <a:buChar char="►"/>
            </a:pPr>
            <a:r>
              <a:rPr lang="en-US"/>
              <a:t>Stakeholders are identified and involved</a:t>
            </a:r>
            <a:endParaRPr/>
          </a:p>
          <a:p>
            <a:pPr marL="342900" lvl="0" indent="-342900" algn="l" rtl="0">
              <a:lnSpc>
                <a:spcPct val="150000"/>
              </a:lnSpc>
              <a:spcBef>
                <a:spcPts val="1000"/>
              </a:spcBef>
              <a:spcAft>
                <a:spcPts val="0"/>
              </a:spcAft>
              <a:buSzPts val="1440"/>
              <a:buChar char="►"/>
            </a:pPr>
            <a:r>
              <a:rPr lang="en-US"/>
              <a:t>Code is deployed in test environment</a:t>
            </a:r>
            <a:endParaRPr/>
          </a:p>
          <a:p>
            <a:pPr marL="342900" lvl="0" indent="-342900" algn="l" rtl="0">
              <a:lnSpc>
                <a:spcPct val="150000"/>
              </a:lnSpc>
              <a:spcBef>
                <a:spcPts val="1000"/>
              </a:spcBef>
              <a:spcAft>
                <a:spcPts val="0"/>
              </a:spcAft>
              <a:buSzPts val="1440"/>
              <a:buChar char="►"/>
            </a:pPr>
            <a:r>
              <a:rPr lang="en-US"/>
              <a:t>Test data is available in the test environment.</a:t>
            </a:r>
            <a:endParaRPr/>
          </a:p>
          <a:p>
            <a:pPr marL="342900" lvl="0" indent="-342900" algn="l" rtl="0">
              <a:lnSpc>
                <a:spcPct val="150000"/>
              </a:lnSpc>
              <a:spcBef>
                <a:spcPts val="1000"/>
              </a:spcBef>
              <a:spcAft>
                <a:spcPts val="0"/>
              </a:spcAft>
              <a:buSzPts val="1440"/>
              <a:buChar char="►"/>
            </a:pPr>
            <a:r>
              <a:rPr lang="en-US"/>
              <a:t>Exit criterias are signed off</a:t>
            </a:r>
            <a:endParaRPr/>
          </a:p>
          <a:p>
            <a:pPr marL="342900" lvl="0" indent="-251459" algn="l" rtl="0">
              <a:lnSpc>
                <a:spcPct val="150000"/>
              </a:lnSpc>
              <a:spcBef>
                <a:spcPts val="1000"/>
              </a:spcBef>
              <a:spcAft>
                <a:spcPts val="0"/>
              </a:spcAft>
              <a:buSzPts val="1440"/>
              <a:buNone/>
            </a:pPr>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585"/>
        <p:cNvGrpSpPr/>
        <p:nvPr/>
      </p:nvGrpSpPr>
      <p:grpSpPr>
        <a:xfrm>
          <a:off x="0" y="0"/>
          <a:ext cx="0" cy="0"/>
          <a:chOff x="0" y="0"/>
          <a:chExt cx="0" cy="0"/>
        </a:xfrm>
      </p:grpSpPr>
      <p:sp>
        <p:nvSpPr>
          <p:cNvPr id="586" name="Google Shape;586;p68"/>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FF0000"/>
              </a:buClr>
              <a:buSzPts val="3600"/>
              <a:buFont typeface="Trebuchet MS"/>
              <a:buNone/>
            </a:pPr>
            <a:r>
              <a:rPr lang="en-US">
                <a:solidFill>
                  <a:srgbClr val="FF0000"/>
                </a:solidFill>
              </a:rPr>
              <a:t>Exit </a:t>
            </a:r>
            <a:r>
              <a:rPr lang="en-US">
                <a:solidFill>
                  <a:srgbClr val="002060"/>
                </a:solidFill>
              </a:rPr>
              <a:t>Criteria</a:t>
            </a:r>
            <a:r>
              <a:rPr lang="en-US">
                <a:solidFill>
                  <a:srgbClr val="FF0000"/>
                </a:solidFill>
              </a:rPr>
              <a:t>:</a:t>
            </a:r>
            <a:endParaRPr>
              <a:solidFill>
                <a:srgbClr val="FF0000"/>
              </a:solidFill>
            </a:endParaRPr>
          </a:p>
        </p:txBody>
      </p:sp>
      <p:sp>
        <p:nvSpPr>
          <p:cNvPr id="587" name="Google Shape;587;p68"/>
          <p:cNvSpPr txBox="1">
            <a:spLocks noGrp="1"/>
          </p:cNvSpPr>
          <p:nvPr>
            <p:ph type="body" idx="1"/>
          </p:nvPr>
        </p:nvSpPr>
        <p:spPr>
          <a:xfrm>
            <a:off x="677334" y="1450109"/>
            <a:ext cx="9889066" cy="5218546"/>
          </a:xfrm>
          <a:prstGeom prst="rect">
            <a:avLst/>
          </a:prstGeom>
          <a:noFill/>
          <a:ln>
            <a:noFill/>
          </a:ln>
        </p:spPr>
        <p:txBody>
          <a:bodyPr spcFirstLastPara="1" wrap="square" lIns="91425" tIns="45700" rIns="91425" bIns="45700" anchor="t" anchorCtr="0">
            <a:normAutofit lnSpcReduction="10000"/>
          </a:bodyPr>
          <a:lstStyle/>
          <a:p>
            <a:pPr marL="0" lvl="0" indent="0" algn="l" rtl="0">
              <a:spcBef>
                <a:spcPts val="0"/>
              </a:spcBef>
              <a:spcAft>
                <a:spcPts val="0"/>
              </a:spcAft>
              <a:buSzPts val="1440"/>
              <a:buNone/>
            </a:pPr>
            <a:r>
              <a:rPr lang="en-US" b="1"/>
              <a:t>The following exit criteria should be considered for completion of a testing phase:</a:t>
            </a:r>
            <a:endParaRPr/>
          </a:p>
          <a:p>
            <a:pPr marL="0" lvl="0" indent="0" algn="l" rtl="0">
              <a:spcBef>
                <a:spcPts val="1000"/>
              </a:spcBef>
              <a:spcAft>
                <a:spcPts val="0"/>
              </a:spcAft>
              <a:buNone/>
            </a:pPr>
            <a:endParaRPr sz="100" b="1"/>
          </a:p>
          <a:p>
            <a:pPr marL="342900" lvl="0" indent="-342900" algn="l" rtl="0">
              <a:lnSpc>
                <a:spcPct val="150000"/>
              </a:lnSpc>
              <a:spcBef>
                <a:spcPts val="1000"/>
              </a:spcBef>
              <a:spcAft>
                <a:spcPts val="0"/>
              </a:spcAft>
              <a:buSzPts val="1440"/>
              <a:buChar char="►"/>
            </a:pPr>
            <a:r>
              <a:rPr lang="en-US"/>
              <a:t>Ensuring all critical Test Cases are passed</a:t>
            </a:r>
            <a:endParaRPr/>
          </a:p>
          <a:p>
            <a:pPr marL="342900" lvl="0" indent="-342900" algn="l" rtl="0">
              <a:lnSpc>
                <a:spcPct val="150000"/>
              </a:lnSpc>
              <a:spcBef>
                <a:spcPts val="1000"/>
              </a:spcBef>
              <a:spcAft>
                <a:spcPts val="0"/>
              </a:spcAft>
              <a:buSzPts val="1440"/>
              <a:buChar char="►"/>
            </a:pPr>
            <a:r>
              <a:rPr lang="en-US"/>
              <a:t>Achieving complete Functional Coverage.</a:t>
            </a:r>
            <a:endParaRPr/>
          </a:p>
          <a:p>
            <a:pPr marL="342900" lvl="0" indent="-342900" algn="l" rtl="0">
              <a:lnSpc>
                <a:spcPct val="150000"/>
              </a:lnSpc>
              <a:spcBef>
                <a:spcPts val="1000"/>
              </a:spcBef>
              <a:spcAft>
                <a:spcPts val="0"/>
              </a:spcAft>
              <a:buSzPts val="1440"/>
              <a:buChar char="►"/>
            </a:pPr>
            <a:r>
              <a:rPr lang="en-US"/>
              <a:t>Identifying and fixing all the high-priority defects</a:t>
            </a:r>
            <a:endParaRPr/>
          </a:p>
          <a:p>
            <a:pPr marL="342900" lvl="0" indent="-342900" algn="l" rtl="0">
              <a:lnSpc>
                <a:spcPct val="150000"/>
              </a:lnSpc>
              <a:spcBef>
                <a:spcPts val="1000"/>
              </a:spcBef>
              <a:spcAft>
                <a:spcPts val="0"/>
              </a:spcAft>
              <a:buSzPts val="1440"/>
              <a:buChar char="►"/>
            </a:pPr>
            <a:r>
              <a:rPr lang="en-US"/>
              <a:t>Deadlines meet or budget depleted.</a:t>
            </a:r>
            <a:endParaRPr/>
          </a:p>
          <a:p>
            <a:pPr marL="342900" lvl="0" indent="-342900" algn="l" rtl="0">
              <a:lnSpc>
                <a:spcPct val="150000"/>
              </a:lnSpc>
              <a:spcBef>
                <a:spcPts val="1000"/>
              </a:spcBef>
              <a:spcAft>
                <a:spcPts val="0"/>
              </a:spcAft>
              <a:buSzPts val="1440"/>
              <a:buChar char="►"/>
            </a:pPr>
            <a:r>
              <a:rPr lang="en-US"/>
              <a:t>Desired and sufficient coverage of the requirements and functionalities under the test.</a:t>
            </a:r>
            <a:endParaRPr/>
          </a:p>
          <a:p>
            <a:pPr marL="342900" lvl="0" indent="-342900" algn="l" rtl="0">
              <a:lnSpc>
                <a:spcPct val="150000"/>
              </a:lnSpc>
              <a:spcBef>
                <a:spcPts val="1000"/>
              </a:spcBef>
              <a:spcAft>
                <a:spcPts val="0"/>
              </a:spcAft>
              <a:buSzPts val="1440"/>
              <a:buChar char="►"/>
            </a:pPr>
            <a:r>
              <a:rPr lang="en-US"/>
              <a:t>All the identified defects are corrected and closed.</a:t>
            </a:r>
            <a:endParaRPr/>
          </a:p>
          <a:p>
            <a:pPr marL="342900" lvl="0" indent="-342900" algn="l" rtl="0">
              <a:lnSpc>
                <a:spcPct val="160000"/>
              </a:lnSpc>
              <a:spcBef>
                <a:spcPts val="1000"/>
              </a:spcBef>
              <a:spcAft>
                <a:spcPts val="0"/>
              </a:spcAft>
              <a:buSzPts val="1440"/>
              <a:buChar char="►"/>
            </a:pPr>
            <a:r>
              <a:rPr lang="en-US"/>
              <a:t>No high priority or severity or critical bug has been left out.</a:t>
            </a:r>
            <a:endParaRPr/>
          </a:p>
          <a:p>
            <a:pPr marL="342900" lvl="0" indent="-342900" algn="l" rtl="0">
              <a:lnSpc>
                <a:spcPct val="160000"/>
              </a:lnSpc>
              <a:spcBef>
                <a:spcPts val="1000"/>
              </a:spcBef>
              <a:spcAft>
                <a:spcPts val="0"/>
              </a:spcAft>
              <a:buSzPts val="1440"/>
              <a:buChar char="►"/>
            </a:pPr>
            <a:r>
              <a:rPr lang="en-US"/>
              <a:t>Testing de-scoped due to any reason.</a:t>
            </a:r>
            <a:endParaRPr/>
          </a:p>
          <a:p>
            <a:pPr marL="342900" lvl="0" indent="-342900" algn="l" rtl="0">
              <a:lnSpc>
                <a:spcPct val="160000"/>
              </a:lnSpc>
              <a:spcBef>
                <a:spcPts val="1000"/>
              </a:spcBef>
              <a:spcAft>
                <a:spcPts val="0"/>
              </a:spcAft>
              <a:buSzPts val="1440"/>
              <a:buChar char="►"/>
            </a:pPr>
            <a:r>
              <a:rPr lang="en-US"/>
              <a:t>Sign-off received from all stakeholders</a:t>
            </a:r>
            <a:endParaRPr/>
          </a:p>
          <a:p>
            <a:pPr marL="342900" lvl="0" indent="-251459" algn="l" rtl="0">
              <a:lnSpc>
                <a:spcPct val="150000"/>
              </a:lnSpc>
              <a:spcBef>
                <a:spcPts val="1000"/>
              </a:spcBef>
              <a:spcAft>
                <a:spcPts val="0"/>
              </a:spcAft>
              <a:buSzPts val="1440"/>
              <a:buNone/>
            </a:pPr>
            <a:endParaRPr/>
          </a:p>
          <a:p>
            <a:pPr marL="342900" lvl="0" indent="-251459" algn="l" rtl="0">
              <a:spcBef>
                <a:spcPts val="1000"/>
              </a:spcBef>
              <a:spcAft>
                <a:spcPts val="0"/>
              </a:spcAft>
              <a:buSzPts val="1440"/>
              <a:buNone/>
            </a:pPr>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591"/>
        <p:cNvGrpSpPr/>
        <p:nvPr/>
      </p:nvGrpSpPr>
      <p:grpSpPr>
        <a:xfrm>
          <a:off x="0" y="0"/>
          <a:ext cx="0" cy="0"/>
          <a:chOff x="0" y="0"/>
          <a:chExt cx="0" cy="0"/>
        </a:xfrm>
      </p:grpSpPr>
      <p:sp>
        <p:nvSpPr>
          <p:cNvPr id="592" name="Google Shape;592;p69"/>
          <p:cNvSpPr txBox="1">
            <a:spLocks noGrp="1"/>
          </p:cNvSpPr>
          <p:nvPr>
            <p:ph type="title"/>
          </p:nvPr>
        </p:nvSpPr>
        <p:spPr>
          <a:xfrm>
            <a:off x="677334" y="609600"/>
            <a:ext cx="8596668" cy="7620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002060"/>
              </a:buClr>
              <a:buSzPts val="3600"/>
              <a:buFont typeface="Trebuchet MS"/>
              <a:buNone/>
            </a:pPr>
            <a:r>
              <a:rPr lang="en-US">
                <a:solidFill>
                  <a:srgbClr val="002060"/>
                </a:solidFill>
              </a:rPr>
              <a:t>Testing can be stopped when: 1</a:t>
            </a:r>
            <a:endParaRPr>
              <a:solidFill>
                <a:srgbClr val="002060"/>
              </a:solidFill>
            </a:endParaRPr>
          </a:p>
        </p:txBody>
      </p:sp>
      <p:sp>
        <p:nvSpPr>
          <p:cNvPr id="593" name="Google Shape;593;p69"/>
          <p:cNvSpPr txBox="1">
            <a:spLocks noGrp="1"/>
          </p:cNvSpPr>
          <p:nvPr>
            <p:ph type="body" idx="1"/>
          </p:nvPr>
        </p:nvSpPr>
        <p:spPr>
          <a:xfrm>
            <a:off x="677334" y="1371599"/>
            <a:ext cx="8596668" cy="5158509"/>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1440"/>
              <a:buNone/>
            </a:pPr>
            <a:r>
              <a:rPr lang="en-US" b="1" u="sng"/>
              <a:t>Requirements</a:t>
            </a:r>
            <a:r>
              <a:rPr lang="en-US" b="1"/>
              <a:t>:</a:t>
            </a:r>
            <a:endParaRPr/>
          </a:p>
          <a:p>
            <a:pPr marL="342900" lvl="0" indent="-342900" algn="l" rtl="0">
              <a:spcBef>
                <a:spcPts val="1000"/>
              </a:spcBef>
              <a:spcAft>
                <a:spcPts val="0"/>
              </a:spcAft>
              <a:buSzPts val="1440"/>
              <a:buChar char="►"/>
            </a:pPr>
            <a:r>
              <a:rPr lang="en-US"/>
              <a:t>100% Requirements coverage is achieved.</a:t>
            </a:r>
            <a:endParaRPr/>
          </a:p>
          <a:p>
            <a:pPr marL="342900" lvl="0" indent="-289560" algn="l" rtl="0">
              <a:spcBef>
                <a:spcPts val="1000"/>
              </a:spcBef>
              <a:spcAft>
                <a:spcPts val="0"/>
              </a:spcAft>
              <a:buSzPts val="840"/>
              <a:buNone/>
            </a:pPr>
            <a:endParaRPr sz="1050"/>
          </a:p>
          <a:p>
            <a:pPr marL="0" lvl="0" indent="0" algn="l" rtl="0">
              <a:spcBef>
                <a:spcPts val="1000"/>
              </a:spcBef>
              <a:spcAft>
                <a:spcPts val="0"/>
              </a:spcAft>
              <a:buSzPts val="1440"/>
              <a:buNone/>
            </a:pPr>
            <a:r>
              <a:rPr lang="en-US" b="1" u="sng"/>
              <a:t>Defects</a:t>
            </a:r>
            <a:r>
              <a:rPr lang="en-US" b="1"/>
              <a:t>:</a:t>
            </a:r>
            <a:endParaRPr/>
          </a:p>
          <a:p>
            <a:pPr marL="342900" lvl="0" indent="-342900" algn="l" rtl="0">
              <a:spcBef>
                <a:spcPts val="1000"/>
              </a:spcBef>
              <a:spcAft>
                <a:spcPts val="0"/>
              </a:spcAft>
              <a:buSzPts val="1440"/>
              <a:buChar char="►"/>
            </a:pPr>
            <a:r>
              <a:rPr lang="en-US"/>
              <a:t>Defined / Desired Defect count is reached.</a:t>
            </a:r>
            <a:endParaRPr/>
          </a:p>
          <a:p>
            <a:pPr marL="342900" lvl="0" indent="-342900" algn="l" rtl="0">
              <a:spcBef>
                <a:spcPts val="1000"/>
              </a:spcBef>
              <a:spcAft>
                <a:spcPts val="0"/>
              </a:spcAft>
              <a:buSzPts val="1440"/>
              <a:buChar char="►"/>
            </a:pPr>
            <a:r>
              <a:rPr lang="en-US"/>
              <a:t>All Show Stopper defects or Blockers are fixed and No known Critical / Severity 1 defect is in Open Status.</a:t>
            </a:r>
            <a:endParaRPr/>
          </a:p>
          <a:p>
            <a:pPr marL="342900" lvl="0" indent="-342900" algn="l" rtl="0">
              <a:spcBef>
                <a:spcPts val="1000"/>
              </a:spcBef>
              <a:spcAft>
                <a:spcPts val="0"/>
              </a:spcAft>
              <a:buSzPts val="1440"/>
              <a:buChar char="►"/>
            </a:pPr>
            <a:r>
              <a:rPr lang="en-US"/>
              <a:t>All High Priority defects are identified and fixed.</a:t>
            </a:r>
            <a:endParaRPr/>
          </a:p>
          <a:p>
            <a:pPr marL="342900" lvl="0" indent="-342900" algn="l" rtl="0">
              <a:spcBef>
                <a:spcPts val="1000"/>
              </a:spcBef>
              <a:spcAft>
                <a:spcPts val="0"/>
              </a:spcAft>
              <a:buSzPts val="1440"/>
              <a:buChar char="►"/>
            </a:pPr>
            <a:r>
              <a:rPr lang="en-US"/>
              <a:t>Defect Rate falls below defined acceptable rate.</a:t>
            </a:r>
            <a:endParaRPr/>
          </a:p>
          <a:p>
            <a:pPr marL="342900" lvl="0" indent="-342900" algn="l" rtl="0">
              <a:spcBef>
                <a:spcPts val="1000"/>
              </a:spcBef>
              <a:spcAft>
                <a:spcPts val="0"/>
              </a:spcAft>
              <a:buSzPts val="1440"/>
              <a:buChar char="►"/>
            </a:pPr>
            <a:r>
              <a:rPr lang="en-US"/>
              <a:t>Very few Medium Priority defects are open and have a workaround in place.</a:t>
            </a:r>
            <a:endParaRPr/>
          </a:p>
          <a:p>
            <a:pPr marL="342900" lvl="0" indent="-342900" algn="l" rtl="0">
              <a:spcBef>
                <a:spcPts val="1000"/>
              </a:spcBef>
              <a:spcAft>
                <a:spcPts val="0"/>
              </a:spcAft>
              <a:buSzPts val="1440"/>
              <a:buChar char="►"/>
            </a:pPr>
            <a:r>
              <a:rPr lang="en-US"/>
              <a:t>Very few low priority open defects that do not impact software usage.</a:t>
            </a:r>
            <a:endParaRPr/>
          </a:p>
          <a:p>
            <a:pPr marL="342900" lvl="0" indent="-342900" algn="l" rtl="0">
              <a:spcBef>
                <a:spcPts val="1000"/>
              </a:spcBef>
              <a:spcAft>
                <a:spcPts val="0"/>
              </a:spcAft>
              <a:buSzPts val="1440"/>
              <a:buChar char="►"/>
            </a:pPr>
            <a:r>
              <a:rPr lang="en-US"/>
              <a:t>All High Priority defects are re-tested and closed and corresponding Regression scenarios are successfully executed.</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597"/>
        <p:cNvGrpSpPr/>
        <p:nvPr/>
      </p:nvGrpSpPr>
      <p:grpSpPr>
        <a:xfrm>
          <a:off x="0" y="0"/>
          <a:ext cx="0" cy="0"/>
          <a:chOff x="0" y="0"/>
          <a:chExt cx="0" cy="0"/>
        </a:xfrm>
      </p:grpSpPr>
      <p:sp>
        <p:nvSpPr>
          <p:cNvPr id="598" name="Google Shape;598;p70"/>
          <p:cNvSpPr txBox="1">
            <a:spLocks noGrp="1"/>
          </p:cNvSpPr>
          <p:nvPr>
            <p:ph type="title"/>
          </p:nvPr>
        </p:nvSpPr>
        <p:spPr>
          <a:xfrm>
            <a:off x="677334" y="609600"/>
            <a:ext cx="8596668" cy="868218"/>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002060"/>
              </a:buClr>
              <a:buSzPts val="3600"/>
              <a:buFont typeface="Trebuchet MS"/>
              <a:buNone/>
            </a:pPr>
            <a:r>
              <a:rPr lang="en-US">
                <a:solidFill>
                  <a:srgbClr val="002060"/>
                </a:solidFill>
              </a:rPr>
              <a:t>Testing can be stopped when: 2</a:t>
            </a:r>
            <a:endParaRPr>
              <a:solidFill>
                <a:srgbClr val="002060"/>
              </a:solidFill>
            </a:endParaRPr>
          </a:p>
        </p:txBody>
      </p:sp>
      <p:sp>
        <p:nvSpPr>
          <p:cNvPr id="599" name="Google Shape;599;p70"/>
          <p:cNvSpPr txBox="1">
            <a:spLocks noGrp="1"/>
          </p:cNvSpPr>
          <p:nvPr>
            <p:ph type="body" idx="1"/>
          </p:nvPr>
        </p:nvSpPr>
        <p:spPr>
          <a:xfrm>
            <a:off x="677334" y="1477818"/>
            <a:ext cx="8596668" cy="4876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1440"/>
              <a:buNone/>
            </a:pPr>
            <a:r>
              <a:rPr lang="en-US" b="1" u="sng"/>
              <a:t>Test Coverage:</a:t>
            </a:r>
            <a:endParaRPr u="sng"/>
          </a:p>
          <a:p>
            <a:pPr marL="342900" lvl="0" indent="-342900" algn="l" rtl="0">
              <a:spcBef>
                <a:spcPts val="1000"/>
              </a:spcBef>
              <a:spcAft>
                <a:spcPts val="0"/>
              </a:spcAft>
              <a:buSzPts val="1440"/>
              <a:buChar char="►"/>
            </a:pPr>
            <a:r>
              <a:rPr lang="en-US"/>
              <a:t>Test Coverage should be 95% achieved.</a:t>
            </a:r>
            <a:endParaRPr/>
          </a:p>
          <a:p>
            <a:pPr marL="342900" lvl="0" indent="-342900" algn="l" rtl="0">
              <a:spcBef>
                <a:spcPts val="1000"/>
              </a:spcBef>
              <a:spcAft>
                <a:spcPts val="0"/>
              </a:spcAft>
              <a:buSzPts val="1440"/>
              <a:buChar char="►"/>
            </a:pPr>
            <a:r>
              <a:rPr lang="en-US"/>
              <a:t>Test case Pass Rate should be 95%. This can be calculated by formula</a:t>
            </a:r>
            <a:endParaRPr/>
          </a:p>
          <a:p>
            <a:pPr marL="742950" lvl="1" indent="-285750" algn="l" rtl="0">
              <a:spcBef>
                <a:spcPts val="1000"/>
              </a:spcBef>
              <a:spcAft>
                <a:spcPts val="0"/>
              </a:spcAft>
              <a:buSzPts val="1280"/>
              <a:buChar char="►"/>
            </a:pPr>
            <a:r>
              <a:rPr lang="en-US"/>
              <a:t>( Total No of TCs Passed / Total number of TCs ) * 100.</a:t>
            </a:r>
            <a:endParaRPr/>
          </a:p>
          <a:p>
            <a:pPr marL="342900" lvl="0" indent="-342900" algn="l" rtl="0">
              <a:spcBef>
                <a:spcPts val="1000"/>
              </a:spcBef>
              <a:spcAft>
                <a:spcPts val="0"/>
              </a:spcAft>
              <a:buSzPts val="1440"/>
              <a:buChar char="►"/>
            </a:pPr>
            <a:r>
              <a:rPr lang="en-US"/>
              <a:t>All critical Test cases are passed.</a:t>
            </a:r>
            <a:endParaRPr/>
          </a:p>
          <a:p>
            <a:pPr marL="342900" lvl="0" indent="-342900" algn="l" rtl="0">
              <a:spcBef>
                <a:spcPts val="1000"/>
              </a:spcBef>
              <a:spcAft>
                <a:spcPts val="0"/>
              </a:spcAft>
              <a:buSzPts val="1440"/>
              <a:buChar char="►"/>
            </a:pPr>
            <a:r>
              <a:rPr lang="en-US"/>
              <a:t>5% Test cases can be failed but the Failed Test cases are of low priority.</a:t>
            </a:r>
            <a:endParaRPr/>
          </a:p>
          <a:p>
            <a:pPr marL="342900" lvl="0" indent="-342900" algn="l" rtl="0">
              <a:spcBef>
                <a:spcPts val="1000"/>
              </a:spcBef>
              <a:spcAft>
                <a:spcPts val="0"/>
              </a:spcAft>
              <a:buSzPts val="1440"/>
              <a:buChar char="►"/>
            </a:pPr>
            <a:r>
              <a:rPr lang="en-US"/>
              <a:t>Complete Functional Coverage is achieved.</a:t>
            </a:r>
            <a:endParaRPr/>
          </a:p>
          <a:p>
            <a:pPr marL="342900" lvl="0" indent="-342900" algn="l" rtl="0">
              <a:spcBef>
                <a:spcPts val="1000"/>
              </a:spcBef>
              <a:spcAft>
                <a:spcPts val="0"/>
              </a:spcAft>
              <a:buSzPts val="1440"/>
              <a:buChar char="►"/>
            </a:pPr>
            <a:r>
              <a:rPr lang="en-US"/>
              <a:t>All major functional / business flows are executed successfully with various inputs and are working fine.</a:t>
            </a:r>
            <a:endParaRPr/>
          </a:p>
          <a:p>
            <a:pPr marL="0" lvl="0" indent="0" algn="l" rtl="0">
              <a:spcBef>
                <a:spcPts val="1000"/>
              </a:spcBef>
              <a:spcAft>
                <a:spcPts val="0"/>
              </a:spcAft>
              <a:buSzPts val="1440"/>
              <a:buNone/>
            </a:pPr>
            <a:endParaRPr/>
          </a:p>
          <a:p>
            <a:pPr marL="0" lvl="0" indent="0" algn="l" rtl="0">
              <a:spcBef>
                <a:spcPts val="1000"/>
              </a:spcBef>
              <a:spcAft>
                <a:spcPts val="0"/>
              </a:spcAft>
              <a:buSzPts val="1440"/>
              <a:buNone/>
            </a:pPr>
            <a:r>
              <a:rPr lang="en-US" b="1" u="sng"/>
              <a:t>Deadlines</a:t>
            </a:r>
            <a:r>
              <a:rPr lang="en-US" b="1"/>
              <a:t>:</a:t>
            </a:r>
            <a:endParaRPr/>
          </a:p>
          <a:p>
            <a:pPr marL="342900" lvl="0" indent="-342900" algn="l" rtl="0">
              <a:spcBef>
                <a:spcPts val="1000"/>
              </a:spcBef>
              <a:spcAft>
                <a:spcPts val="0"/>
              </a:spcAft>
              <a:buSzPts val="1440"/>
              <a:buChar char="►"/>
            </a:pPr>
            <a:r>
              <a:rPr lang="en-US"/>
              <a:t>Project Deadline or Test Finish deadline is reached.</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603"/>
        <p:cNvGrpSpPr/>
        <p:nvPr/>
      </p:nvGrpSpPr>
      <p:grpSpPr>
        <a:xfrm>
          <a:off x="0" y="0"/>
          <a:ext cx="0" cy="0"/>
          <a:chOff x="0" y="0"/>
          <a:chExt cx="0" cy="0"/>
        </a:xfrm>
      </p:grpSpPr>
      <p:sp>
        <p:nvSpPr>
          <p:cNvPr id="604" name="Google Shape;604;p71"/>
          <p:cNvSpPr txBox="1">
            <a:spLocks noGrp="1"/>
          </p:cNvSpPr>
          <p:nvPr>
            <p:ph type="title"/>
          </p:nvPr>
        </p:nvSpPr>
        <p:spPr>
          <a:xfrm>
            <a:off x="677334" y="609600"/>
            <a:ext cx="8596668" cy="840509"/>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002060"/>
              </a:buClr>
              <a:buSzPts val="3600"/>
              <a:buFont typeface="Trebuchet MS"/>
              <a:buNone/>
            </a:pPr>
            <a:r>
              <a:rPr lang="en-US">
                <a:solidFill>
                  <a:srgbClr val="002060"/>
                </a:solidFill>
              </a:rPr>
              <a:t>Testing can be stopped when: 3</a:t>
            </a:r>
            <a:endParaRPr>
              <a:solidFill>
                <a:srgbClr val="002060"/>
              </a:solidFill>
            </a:endParaRPr>
          </a:p>
        </p:txBody>
      </p:sp>
      <p:sp>
        <p:nvSpPr>
          <p:cNvPr id="605" name="Google Shape;605;p71"/>
          <p:cNvSpPr txBox="1">
            <a:spLocks noGrp="1"/>
          </p:cNvSpPr>
          <p:nvPr>
            <p:ph type="body" idx="1"/>
          </p:nvPr>
        </p:nvSpPr>
        <p:spPr>
          <a:xfrm>
            <a:off x="760461" y="1587935"/>
            <a:ext cx="8596668" cy="3880773"/>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1440"/>
              <a:buNone/>
            </a:pPr>
            <a:r>
              <a:rPr lang="en-US" b="1" u="sng"/>
              <a:t>Test Documents:</a:t>
            </a:r>
            <a:endParaRPr u="sng"/>
          </a:p>
          <a:p>
            <a:pPr marL="342900" lvl="0" indent="-342900" algn="l" rtl="0">
              <a:spcBef>
                <a:spcPts val="1000"/>
              </a:spcBef>
              <a:spcAft>
                <a:spcPts val="0"/>
              </a:spcAft>
              <a:buSzPts val="1440"/>
              <a:buChar char="►"/>
            </a:pPr>
            <a:r>
              <a:rPr lang="en-US"/>
              <a:t>All Test Documents / deliverables (Example – </a:t>
            </a:r>
            <a:r>
              <a:rPr lang="en-US" u="sng">
                <a:solidFill>
                  <a:schemeClr val="hlink"/>
                </a:solidFill>
                <a:hlinkClick r:id="rId3"/>
              </a:rPr>
              <a:t>Test Summary Report</a:t>
            </a:r>
            <a:r>
              <a:rPr lang="en-US"/>
              <a:t>) are prepared, reviewed and published across.</a:t>
            </a:r>
            <a:endParaRPr/>
          </a:p>
          <a:p>
            <a:pPr marL="0" lvl="0" indent="0" algn="l" rtl="0">
              <a:spcBef>
                <a:spcPts val="1000"/>
              </a:spcBef>
              <a:spcAft>
                <a:spcPts val="0"/>
              </a:spcAft>
              <a:buSzPts val="1440"/>
              <a:buNone/>
            </a:pPr>
            <a:endParaRPr/>
          </a:p>
          <a:p>
            <a:pPr marL="0" lvl="0" indent="0" algn="l" rtl="0">
              <a:spcBef>
                <a:spcPts val="1000"/>
              </a:spcBef>
              <a:spcAft>
                <a:spcPts val="0"/>
              </a:spcAft>
              <a:buSzPts val="1440"/>
              <a:buNone/>
            </a:pPr>
            <a:r>
              <a:rPr lang="en-US" b="1" u="sng"/>
              <a:t>Budget</a:t>
            </a:r>
            <a:r>
              <a:rPr lang="en-US" b="1"/>
              <a:t>:</a:t>
            </a:r>
            <a:endParaRPr/>
          </a:p>
          <a:p>
            <a:pPr marL="342900" lvl="0" indent="-342900" algn="l" rtl="0">
              <a:spcBef>
                <a:spcPts val="1000"/>
              </a:spcBef>
              <a:spcAft>
                <a:spcPts val="0"/>
              </a:spcAft>
              <a:buSzPts val="1440"/>
              <a:buChar char="►"/>
            </a:pPr>
            <a:r>
              <a:rPr lang="en-US"/>
              <a:t>Complete Testing Budget is exhausted.</a:t>
            </a:r>
            <a:endParaRPr/>
          </a:p>
          <a:p>
            <a:pPr marL="0" lvl="0" indent="0" algn="l" rtl="0">
              <a:spcBef>
                <a:spcPts val="1000"/>
              </a:spcBef>
              <a:spcAft>
                <a:spcPts val="0"/>
              </a:spcAft>
              <a:buSzPts val="1440"/>
              <a:buNone/>
            </a:pPr>
            <a:endParaRPr/>
          </a:p>
          <a:p>
            <a:pPr marL="0" lvl="0" indent="0" algn="l" rtl="0">
              <a:spcBef>
                <a:spcPts val="1000"/>
              </a:spcBef>
              <a:spcAft>
                <a:spcPts val="0"/>
              </a:spcAft>
              <a:buSzPts val="1440"/>
              <a:buNone/>
            </a:pPr>
            <a:r>
              <a:rPr lang="en-US" b="1" u="sng"/>
              <a:t>“Go / No Go” Meetings:</a:t>
            </a:r>
            <a:endParaRPr u="sng"/>
          </a:p>
          <a:p>
            <a:pPr marL="342900" lvl="0" indent="-342900" algn="l" rtl="0">
              <a:spcBef>
                <a:spcPts val="1000"/>
              </a:spcBef>
              <a:spcAft>
                <a:spcPts val="0"/>
              </a:spcAft>
              <a:buSzPts val="1440"/>
              <a:buChar char="►"/>
            </a:pPr>
            <a:r>
              <a:rPr lang="en-US"/>
              <a:t>“</a:t>
            </a:r>
            <a:r>
              <a:rPr lang="en-US" u="sng">
                <a:solidFill>
                  <a:schemeClr val="hlink"/>
                </a:solidFill>
                <a:hlinkClick r:id="rId4"/>
              </a:rPr>
              <a:t>Go / No Go</a:t>
            </a:r>
            <a:r>
              <a:rPr lang="en-US"/>
              <a:t>” </a:t>
            </a:r>
            <a:r>
              <a:rPr lang="en-US" u="sng">
                <a:solidFill>
                  <a:schemeClr val="hlink"/>
                </a:solidFill>
                <a:hlinkClick r:id="rId5"/>
              </a:rPr>
              <a:t>meeting</a:t>
            </a:r>
            <a:r>
              <a:rPr lang="en-US"/>
              <a:t> has been conducted with stakeholders and a decision is made whether the project should go to production or not.</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609"/>
        <p:cNvGrpSpPr/>
        <p:nvPr/>
      </p:nvGrpSpPr>
      <p:grpSpPr>
        <a:xfrm>
          <a:off x="0" y="0"/>
          <a:ext cx="0" cy="0"/>
          <a:chOff x="0" y="0"/>
          <a:chExt cx="0" cy="0"/>
        </a:xfrm>
      </p:grpSpPr>
      <p:sp>
        <p:nvSpPr>
          <p:cNvPr id="610" name="Google Shape;610;p72"/>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C00000"/>
              </a:buClr>
              <a:buSzPts val="3600"/>
              <a:buFont typeface="Trebuchet MS"/>
              <a:buNone/>
            </a:pPr>
            <a:r>
              <a:rPr lang="en-US">
                <a:solidFill>
                  <a:srgbClr val="C00000"/>
                </a:solidFill>
              </a:rPr>
              <a:t>Sample Test Cases</a:t>
            </a:r>
            <a:endParaRPr>
              <a:solidFill>
                <a:srgbClr val="C00000"/>
              </a:solidFill>
            </a:endParaRPr>
          </a:p>
        </p:txBody>
      </p:sp>
      <p:sp>
        <p:nvSpPr>
          <p:cNvPr id="611" name="Google Shape;611;p72"/>
          <p:cNvSpPr txBox="1">
            <a:spLocks noGrp="1"/>
          </p:cNvSpPr>
          <p:nvPr>
            <p:ph type="body" idx="1"/>
          </p:nvPr>
        </p:nvSpPr>
        <p:spPr>
          <a:xfrm>
            <a:off x="2845724" y="1615644"/>
            <a:ext cx="3322320" cy="3880773"/>
          </a:xfrm>
          <a:prstGeom prst="rect">
            <a:avLst/>
          </a:prstGeom>
          <a:noFill/>
          <a:ln>
            <a:noFill/>
          </a:ln>
        </p:spPr>
        <p:txBody>
          <a:bodyPr spcFirstLastPara="1" wrap="square" lIns="91425" tIns="45700" rIns="91425" bIns="45700" anchor="t" anchorCtr="0">
            <a:normAutofit/>
          </a:bodyPr>
          <a:lstStyle/>
          <a:p>
            <a:pPr marL="0" lvl="0" indent="0" algn="l" rtl="0">
              <a:lnSpc>
                <a:spcPct val="250000"/>
              </a:lnSpc>
              <a:spcBef>
                <a:spcPts val="0"/>
              </a:spcBef>
              <a:spcAft>
                <a:spcPts val="0"/>
              </a:spcAft>
              <a:buSzPts val="1440"/>
              <a:buNone/>
            </a:pPr>
            <a:r>
              <a:rPr lang="en-US"/>
              <a:t>1. OTP</a:t>
            </a:r>
            <a:endParaRPr/>
          </a:p>
          <a:p>
            <a:pPr marL="0" lvl="0" indent="0" algn="l" rtl="0">
              <a:lnSpc>
                <a:spcPct val="250000"/>
              </a:lnSpc>
              <a:spcBef>
                <a:spcPts val="1000"/>
              </a:spcBef>
              <a:spcAft>
                <a:spcPts val="0"/>
              </a:spcAft>
              <a:buSzPts val="1440"/>
              <a:buNone/>
            </a:pPr>
            <a:r>
              <a:rPr lang="en-US"/>
              <a:t>2. ATM</a:t>
            </a:r>
            <a:endParaRPr/>
          </a:p>
          <a:p>
            <a:pPr marL="0" lvl="0" indent="0" algn="l" rtl="0">
              <a:lnSpc>
                <a:spcPct val="250000"/>
              </a:lnSpc>
              <a:spcBef>
                <a:spcPts val="1000"/>
              </a:spcBef>
              <a:spcAft>
                <a:spcPts val="0"/>
              </a:spcAft>
              <a:buSzPts val="1440"/>
              <a:buNone/>
            </a:pPr>
            <a:r>
              <a:rPr lang="en-US"/>
              <a:t>3. Add to Cart</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615"/>
        <p:cNvGrpSpPr/>
        <p:nvPr/>
      </p:nvGrpSpPr>
      <p:grpSpPr>
        <a:xfrm>
          <a:off x="0" y="0"/>
          <a:ext cx="0" cy="0"/>
          <a:chOff x="0" y="0"/>
          <a:chExt cx="0" cy="0"/>
        </a:xfrm>
      </p:grpSpPr>
      <p:sp>
        <p:nvSpPr>
          <p:cNvPr id="616" name="Google Shape;616;p73"/>
          <p:cNvSpPr txBox="1">
            <a:spLocks noGrp="1"/>
          </p:cNvSpPr>
          <p:nvPr>
            <p:ph type="body" idx="1"/>
          </p:nvPr>
        </p:nvSpPr>
        <p:spPr>
          <a:xfrm>
            <a:off x="677334" y="221673"/>
            <a:ext cx="10147684" cy="6511636"/>
          </a:xfrm>
          <a:prstGeom prst="rect">
            <a:avLst/>
          </a:prstGeom>
          <a:noFill/>
          <a:ln>
            <a:noFill/>
          </a:ln>
        </p:spPr>
        <p:txBody>
          <a:bodyPr spcFirstLastPara="1" wrap="square" lIns="91425" tIns="45700" rIns="91425" bIns="45700" anchor="t" anchorCtr="0">
            <a:normAutofit fontScale="92500" lnSpcReduction="10000"/>
          </a:bodyPr>
          <a:lstStyle/>
          <a:p>
            <a:pPr marL="0" lvl="0" indent="0" algn="l" rtl="0">
              <a:spcBef>
                <a:spcPts val="0"/>
              </a:spcBef>
              <a:spcAft>
                <a:spcPts val="0"/>
              </a:spcAft>
              <a:buSzPct val="79999"/>
              <a:buNone/>
            </a:pPr>
            <a:r>
              <a:rPr lang="en-US" b="1" u="sng"/>
              <a:t>Scenarios to Test OTP (One-Time Password)</a:t>
            </a:r>
            <a:endParaRPr/>
          </a:p>
          <a:p>
            <a:pPr marL="0" lvl="0" indent="0" algn="l" rtl="0">
              <a:spcBef>
                <a:spcPts val="1000"/>
              </a:spcBef>
              <a:spcAft>
                <a:spcPts val="0"/>
              </a:spcAft>
              <a:buSzPct val="80000"/>
              <a:buNone/>
            </a:pPr>
            <a:endParaRPr sz="1100" b="1"/>
          </a:p>
          <a:p>
            <a:pPr marL="0" lvl="0" indent="0" algn="l" rtl="0">
              <a:spcBef>
                <a:spcPts val="1000"/>
              </a:spcBef>
              <a:spcAft>
                <a:spcPts val="0"/>
              </a:spcAft>
              <a:buSzPct val="79999"/>
              <a:buNone/>
            </a:pPr>
            <a:r>
              <a:rPr lang="en-US"/>
              <a:t>1) OTP should be generated within time period.</a:t>
            </a:r>
            <a:endParaRPr/>
          </a:p>
          <a:p>
            <a:pPr marL="0" lvl="0" indent="0" algn="l" rtl="0">
              <a:spcBef>
                <a:spcPts val="1000"/>
              </a:spcBef>
              <a:spcAft>
                <a:spcPts val="0"/>
              </a:spcAft>
              <a:buSzPct val="79999"/>
              <a:buNone/>
            </a:pPr>
            <a:r>
              <a:rPr lang="en-US"/>
              <a:t>2) Limitations of number of OTP generation for single authentication.</a:t>
            </a:r>
            <a:endParaRPr/>
          </a:p>
          <a:p>
            <a:pPr marL="0" lvl="0" indent="0" algn="l" rtl="0">
              <a:spcBef>
                <a:spcPts val="1000"/>
              </a:spcBef>
              <a:spcAft>
                <a:spcPts val="0"/>
              </a:spcAft>
              <a:buSzPct val="79999"/>
              <a:buNone/>
            </a:pPr>
            <a:r>
              <a:rPr lang="en-US"/>
              <a:t>3) It is received only on registered Mobile Number / E-mail Address.</a:t>
            </a:r>
            <a:endParaRPr/>
          </a:p>
          <a:p>
            <a:pPr marL="0" lvl="0" indent="0" algn="l" rtl="0">
              <a:spcBef>
                <a:spcPts val="1000"/>
              </a:spcBef>
              <a:spcAft>
                <a:spcPts val="0"/>
              </a:spcAft>
              <a:buSzPct val="79999"/>
              <a:buNone/>
            </a:pPr>
            <a:r>
              <a:rPr lang="en-US"/>
              <a:t>4) Network delay for expiry of One-Time Password.</a:t>
            </a:r>
            <a:endParaRPr/>
          </a:p>
          <a:p>
            <a:pPr marL="0" lvl="0" indent="0" algn="l" rtl="0">
              <a:spcBef>
                <a:spcPts val="1000"/>
              </a:spcBef>
              <a:spcAft>
                <a:spcPts val="0"/>
              </a:spcAft>
              <a:buSzPct val="79999"/>
              <a:buNone/>
            </a:pPr>
            <a:r>
              <a:rPr lang="en-US"/>
              <a:t>5) Verify that once expired, it should not be used for any authentication.</a:t>
            </a:r>
            <a:endParaRPr/>
          </a:p>
          <a:p>
            <a:pPr marL="0" lvl="0" indent="0" algn="l" rtl="0">
              <a:spcBef>
                <a:spcPts val="1000"/>
              </a:spcBef>
              <a:spcAft>
                <a:spcPts val="0"/>
              </a:spcAft>
              <a:buSzPct val="79999"/>
              <a:buNone/>
            </a:pPr>
            <a:r>
              <a:rPr lang="en-US"/>
              <a:t>6) Verify that once used, it should not be allowed to use again.</a:t>
            </a:r>
            <a:endParaRPr/>
          </a:p>
          <a:p>
            <a:pPr marL="0" lvl="0" indent="0" algn="l" rtl="0">
              <a:spcBef>
                <a:spcPts val="1000"/>
              </a:spcBef>
              <a:spcAft>
                <a:spcPts val="0"/>
              </a:spcAft>
              <a:buSzPct val="79999"/>
              <a:buNone/>
            </a:pPr>
            <a:r>
              <a:rPr lang="en-US"/>
              <a:t>7) Verify that resend OTP functionality is working properly.</a:t>
            </a:r>
            <a:endParaRPr/>
          </a:p>
          <a:p>
            <a:pPr marL="0" lvl="0" indent="0" algn="l" rtl="0">
              <a:spcBef>
                <a:spcPts val="1000"/>
              </a:spcBef>
              <a:spcAft>
                <a:spcPts val="0"/>
              </a:spcAft>
              <a:buSzPct val="79999"/>
              <a:buNone/>
            </a:pPr>
            <a:r>
              <a:rPr lang="en-US"/>
              <a:t>8) Verify that once user resent the OTP, the old one should be of no use.</a:t>
            </a:r>
            <a:endParaRPr/>
          </a:p>
          <a:p>
            <a:pPr marL="0" lvl="0" indent="0" algn="l" rtl="0">
              <a:spcBef>
                <a:spcPts val="1000"/>
              </a:spcBef>
              <a:spcAft>
                <a:spcPts val="0"/>
              </a:spcAft>
              <a:buSzPct val="79999"/>
              <a:buNone/>
            </a:pPr>
            <a:r>
              <a:rPr lang="en-US"/>
              <a:t>9) Availability of Help and Documentation Link for OTP usage.</a:t>
            </a:r>
            <a:endParaRPr/>
          </a:p>
          <a:p>
            <a:pPr marL="0" lvl="0" indent="0" algn="l" rtl="0">
              <a:spcBef>
                <a:spcPts val="1000"/>
              </a:spcBef>
              <a:spcAft>
                <a:spcPts val="0"/>
              </a:spcAft>
              <a:buSzPct val="79999"/>
              <a:buNone/>
            </a:pPr>
            <a:r>
              <a:rPr lang="en-US"/>
              <a:t>10) Verify for Case Sensitiveness.</a:t>
            </a:r>
            <a:endParaRPr/>
          </a:p>
          <a:p>
            <a:pPr marL="0" lvl="0" indent="0" algn="l" rtl="0">
              <a:spcBef>
                <a:spcPts val="1000"/>
              </a:spcBef>
              <a:spcAft>
                <a:spcPts val="0"/>
              </a:spcAft>
              <a:buSzPct val="79999"/>
              <a:buNone/>
            </a:pPr>
            <a:r>
              <a:rPr lang="en-US"/>
              <a:t>11) Check for types of characters OTP supports: Only Digits, Only Alphabets, Alphanumeric.</a:t>
            </a:r>
            <a:endParaRPr/>
          </a:p>
          <a:p>
            <a:pPr marL="0" lvl="0" indent="0" algn="l" rtl="0">
              <a:spcBef>
                <a:spcPts val="1000"/>
              </a:spcBef>
              <a:spcAft>
                <a:spcPts val="0"/>
              </a:spcAft>
              <a:buSzPct val="79999"/>
              <a:buNone/>
            </a:pPr>
            <a:r>
              <a:rPr lang="en-US"/>
              <a:t>12) How many times user can provide invalid OTP?</a:t>
            </a:r>
            <a:endParaRPr/>
          </a:p>
          <a:p>
            <a:pPr marL="0" lvl="0" indent="0" algn="l" rtl="0">
              <a:spcBef>
                <a:spcPts val="1000"/>
              </a:spcBef>
              <a:spcAft>
                <a:spcPts val="0"/>
              </a:spcAft>
              <a:buSzPct val="79999"/>
              <a:buNone/>
            </a:pPr>
            <a:r>
              <a:rPr lang="en-US"/>
              <a:t>13) After multiple invalid try, verify that system temporarily blocks the account.</a:t>
            </a:r>
            <a:endParaRPr/>
          </a:p>
          <a:p>
            <a:pPr marL="0" lvl="0" indent="0" algn="l" rtl="0">
              <a:spcBef>
                <a:spcPts val="1000"/>
              </a:spcBef>
              <a:spcAft>
                <a:spcPts val="0"/>
              </a:spcAft>
              <a:buSzPct val="79999"/>
              <a:buNone/>
            </a:pPr>
            <a:r>
              <a:rPr lang="en-US"/>
              <a:t>14) Verify that after temporary blocking of account, system does not send the one-time password.</a:t>
            </a:r>
            <a:endParaRPr/>
          </a:p>
          <a:p>
            <a:pPr marL="0" lvl="0" indent="0" algn="l" rtl="0">
              <a:spcBef>
                <a:spcPts val="1000"/>
              </a:spcBef>
              <a:spcAft>
                <a:spcPts val="0"/>
              </a:spcAft>
              <a:buSzPct val="79999"/>
              <a:buNone/>
            </a:pPr>
            <a:r>
              <a:rPr lang="en-US"/>
              <a:t>15) Provide an invalid Phone Number or E-Mail address and submit the OTP. Check the validation.</a:t>
            </a:r>
            <a:endParaRPr/>
          </a:p>
          <a:p>
            <a:pPr marL="0" lvl="0" indent="0" algn="l" rtl="0">
              <a:spcBef>
                <a:spcPts val="1000"/>
              </a:spcBef>
              <a:spcAft>
                <a:spcPts val="0"/>
              </a:spcAft>
              <a:buSzPct val="79999"/>
              <a:buNone/>
            </a:pPr>
            <a:r>
              <a:rPr lang="en-US"/>
              <a:t>16) Are the one-time password patterns are predictable?</a:t>
            </a:r>
            <a:endParaRPr/>
          </a:p>
          <a:p>
            <a:pPr marL="342900" lvl="0" indent="-258318" algn="l" rtl="0">
              <a:spcBef>
                <a:spcPts val="1000"/>
              </a:spcBef>
              <a:spcAft>
                <a:spcPts val="0"/>
              </a:spcAft>
              <a:buSzPct val="79999"/>
              <a:buNone/>
            </a:pPr>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Shape 620"/>
        <p:cNvGrpSpPr/>
        <p:nvPr/>
      </p:nvGrpSpPr>
      <p:grpSpPr>
        <a:xfrm>
          <a:off x="0" y="0"/>
          <a:ext cx="0" cy="0"/>
          <a:chOff x="0" y="0"/>
          <a:chExt cx="0" cy="0"/>
        </a:xfrm>
      </p:grpSpPr>
      <p:sp>
        <p:nvSpPr>
          <p:cNvPr id="621" name="Google Shape;621;p74"/>
          <p:cNvSpPr txBox="1">
            <a:spLocks noGrp="1"/>
          </p:cNvSpPr>
          <p:nvPr>
            <p:ph type="body" idx="1"/>
          </p:nvPr>
        </p:nvSpPr>
        <p:spPr>
          <a:xfrm>
            <a:off x="120073" y="175491"/>
            <a:ext cx="11868727" cy="6539345"/>
          </a:xfrm>
          <a:prstGeom prst="rect">
            <a:avLst/>
          </a:prstGeom>
          <a:noFill/>
          <a:ln>
            <a:noFill/>
          </a:ln>
        </p:spPr>
        <p:txBody>
          <a:bodyPr spcFirstLastPara="1" wrap="square" lIns="91425" tIns="45700" rIns="91425" bIns="45700" anchor="t" anchorCtr="0">
            <a:normAutofit fontScale="85000" lnSpcReduction="10000"/>
          </a:bodyPr>
          <a:lstStyle/>
          <a:p>
            <a:pPr marL="0" lvl="0" indent="0" algn="l" rtl="0">
              <a:spcBef>
                <a:spcPts val="0"/>
              </a:spcBef>
              <a:spcAft>
                <a:spcPts val="0"/>
              </a:spcAft>
              <a:buSzPct val="79999"/>
              <a:buNone/>
            </a:pPr>
            <a:r>
              <a:rPr lang="en-US" sz="2600" b="1"/>
              <a:t>Test Cases for ATM</a:t>
            </a:r>
            <a:endParaRPr/>
          </a:p>
          <a:p>
            <a:pPr marL="0" lvl="0" indent="0" algn="l" rtl="0">
              <a:spcBef>
                <a:spcPts val="1000"/>
              </a:spcBef>
              <a:spcAft>
                <a:spcPts val="0"/>
              </a:spcAft>
              <a:buSzPct val="79999"/>
              <a:buNone/>
            </a:pPr>
            <a:r>
              <a:rPr lang="en-US" b="1"/>
              <a:t>Given below are the various test cases for ATM.</a:t>
            </a:r>
            <a:endParaRPr/>
          </a:p>
          <a:p>
            <a:pPr marL="0" lvl="0" indent="0" algn="l" rtl="0">
              <a:spcBef>
                <a:spcPts val="1000"/>
              </a:spcBef>
              <a:spcAft>
                <a:spcPts val="0"/>
              </a:spcAft>
              <a:buSzPct val="79999"/>
              <a:buNone/>
            </a:pPr>
            <a:r>
              <a:rPr lang="en-US" b="1"/>
              <a:t>1)</a:t>
            </a:r>
            <a:r>
              <a:rPr lang="en-US"/>
              <a:t> Verify if the card reader is working correctly. A screen should ask you to insert the pin after inserting the valid card.</a:t>
            </a:r>
            <a:endParaRPr/>
          </a:p>
          <a:p>
            <a:pPr marL="0" lvl="0" indent="0" algn="l" rtl="0">
              <a:spcBef>
                <a:spcPts val="1000"/>
              </a:spcBef>
              <a:spcAft>
                <a:spcPts val="0"/>
              </a:spcAft>
              <a:buSzPct val="79999"/>
              <a:buNone/>
            </a:pPr>
            <a:r>
              <a:rPr lang="en-US" b="1"/>
              <a:t>2)</a:t>
            </a:r>
            <a:r>
              <a:rPr lang="en-US"/>
              <a:t> Verify if the cash dispenser is working as expected.</a:t>
            </a:r>
            <a:endParaRPr/>
          </a:p>
          <a:p>
            <a:pPr marL="0" lvl="0" indent="0" algn="l" rtl="0">
              <a:spcBef>
                <a:spcPts val="1000"/>
              </a:spcBef>
              <a:spcAft>
                <a:spcPts val="0"/>
              </a:spcAft>
              <a:buSzPct val="79999"/>
              <a:buNone/>
            </a:pPr>
            <a:r>
              <a:rPr lang="en-US" b="1"/>
              <a:t>3)</a:t>
            </a:r>
            <a:r>
              <a:rPr lang="en-US"/>
              <a:t> Verify if the receipt printer is working correctly. Which means it can print the data on the paper and the paper comes out properly.</a:t>
            </a:r>
            <a:endParaRPr/>
          </a:p>
          <a:p>
            <a:pPr marL="0" lvl="0" indent="0" algn="l" rtl="0">
              <a:spcBef>
                <a:spcPts val="1000"/>
              </a:spcBef>
              <a:spcAft>
                <a:spcPts val="0"/>
              </a:spcAft>
              <a:buSzPct val="79999"/>
              <a:buNone/>
            </a:pPr>
            <a:r>
              <a:rPr lang="en-US" b="1"/>
              <a:t>4)</a:t>
            </a:r>
            <a:r>
              <a:rPr lang="en-US"/>
              <a:t> Verify if the Screen buttons are working correctly. </a:t>
            </a:r>
            <a:r>
              <a:rPr lang="en-US" b="1"/>
              <a:t>For touch screen:</a:t>
            </a:r>
            <a:r>
              <a:rPr lang="en-US"/>
              <a:t> Verify if it is operational and working as per the expectations.</a:t>
            </a:r>
            <a:endParaRPr/>
          </a:p>
          <a:p>
            <a:pPr marL="0" lvl="0" indent="0" algn="l" rtl="0">
              <a:spcBef>
                <a:spcPts val="1000"/>
              </a:spcBef>
              <a:spcAft>
                <a:spcPts val="0"/>
              </a:spcAft>
              <a:buSzPct val="79999"/>
              <a:buNone/>
            </a:pPr>
            <a:r>
              <a:rPr lang="en-US" b="1"/>
              <a:t>5)</a:t>
            </a:r>
            <a:r>
              <a:rPr lang="en-US"/>
              <a:t> Verify if the text on the screen button is visible clearly.</a:t>
            </a:r>
            <a:endParaRPr/>
          </a:p>
          <a:p>
            <a:pPr marL="0" lvl="0" indent="0" algn="l" rtl="0">
              <a:spcBef>
                <a:spcPts val="1000"/>
              </a:spcBef>
              <a:spcAft>
                <a:spcPts val="0"/>
              </a:spcAft>
              <a:buSzPct val="79999"/>
              <a:buNone/>
            </a:pPr>
            <a:r>
              <a:rPr lang="en-US" b="1"/>
              <a:t>6)</a:t>
            </a:r>
            <a:r>
              <a:rPr lang="en-US"/>
              <a:t> Verify the font of the text on the screen buttons.</a:t>
            </a:r>
            <a:endParaRPr/>
          </a:p>
          <a:p>
            <a:pPr marL="0" lvl="0" indent="0" algn="l" rtl="0">
              <a:spcBef>
                <a:spcPts val="1000"/>
              </a:spcBef>
              <a:spcAft>
                <a:spcPts val="0"/>
              </a:spcAft>
              <a:buSzPct val="79999"/>
              <a:buNone/>
            </a:pPr>
            <a:r>
              <a:rPr lang="en-US" b="1"/>
              <a:t>7)</a:t>
            </a:r>
            <a:r>
              <a:rPr lang="en-US"/>
              <a:t> Verify each number button on the Keypad.</a:t>
            </a:r>
            <a:endParaRPr/>
          </a:p>
          <a:p>
            <a:pPr marL="0" lvl="0" indent="0" algn="l" rtl="0">
              <a:spcBef>
                <a:spcPts val="1000"/>
              </a:spcBef>
              <a:spcAft>
                <a:spcPts val="0"/>
              </a:spcAft>
              <a:buSzPct val="79999"/>
              <a:buNone/>
            </a:pPr>
            <a:r>
              <a:rPr lang="en-US" b="1"/>
              <a:t>8)</a:t>
            </a:r>
            <a:r>
              <a:rPr lang="en-US"/>
              <a:t> Verify the functionality of the Cancel button on the Keypad.</a:t>
            </a:r>
            <a:endParaRPr/>
          </a:p>
          <a:p>
            <a:pPr marL="0" lvl="0" indent="0" algn="l" rtl="0">
              <a:spcBef>
                <a:spcPts val="1000"/>
              </a:spcBef>
              <a:spcAft>
                <a:spcPts val="0"/>
              </a:spcAft>
              <a:buSzPct val="79999"/>
              <a:buNone/>
            </a:pPr>
            <a:r>
              <a:rPr lang="en-US" b="1"/>
              <a:t>9)</a:t>
            </a:r>
            <a:r>
              <a:rPr lang="en-US"/>
              <a:t> Verify the text color of the keypad buttons. The numbers should be visible clearly.</a:t>
            </a:r>
            <a:endParaRPr/>
          </a:p>
          <a:p>
            <a:pPr marL="0" lvl="0" indent="0" algn="l" rtl="0">
              <a:spcBef>
                <a:spcPts val="1000"/>
              </a:spcBef>
              <a:spcAft>
                <a:spcPts val="0"/>
              </a:spcAft>
              <a:buSzPct val="79999"/>
              <a:buNone/>
            </a:pPr>
            <a:r>
              <a:rPr lang="en-US" b="1"/>
              <a:t>10)</a:t>
            </a:r>
            <a:r>
              <a:rPr lang="en-US"/>
              <a:t> Verify the text color and font of the data on the screen. The user should be able to read it clearly.</a:t>
            </a:r>
            <a:endParaRPr/>
          </a:p>
          <a:p>
            <a:pPr marL="0" lvl="0" indent="0" algn="l" rtl="0">
              <a:spcBef>
                <a:spcPts val="1000"/>
              </a:spcBef>
              <a:spcAft>
                <a:spcPts val="0"/>
              </a:spcAft>
              <a:buSzPct val="79999"/>
              <a:buNone/>
            </a:pPr>
            <a:r>
              <a:rPr lang="en-US" b="1"/>
              <a:t>11)</a:t>
            </a:r>
            <a:r>
              <a:rPr lang="en-US"/>
              <a:t> Verify the language selection option. If the messages or data are displayed in the selected language.</a:t>
            </a:r>
            <a:endParaRPr/>
          </a:p>
          <a:p>
            <a:pPr marL="0" lvl="0" indent="0" algn="l" rtl="0">
              <a:spcBef>
                <a:spcPts val="1000"/>
              </a:spcBef>
              <a:spcAft>
                <a:spcPts val="0"/>
              </a:spcAft>
              <a:buSzPct val="79999"/>
              <a:buNone/>
            </a:pPr>
            <a:r>
              <a:rPr lang="en-US" b="1"/>
              <a:t>12)</a:t>
            </a:r>
            <a:r>
              <a:rPr lang="en-US"/>
              <a:t> Insert the card, the correct pin, and print the receipt for available balance.</a:t>
            </a:r>
            <a:endParaRPr/>
          </a:p>
          <a:p>
            <a:pPr marL="0" lvl="0" indent="0" algn="l" rtl="0">
              <a:spcBef>
                <a:spcPts val="1000"/>
              </a:spcBef>
              <a:spcAft>
                <a:spcPts val="0"/>
              </a:spcAft>
              <a:buSzPct val="79999"/>
              <a:buNone/>
            </a:pPr>
            <a:r>
              <a:rPr lang="en-US" b="1"/>
              <a:t>13)</a:t>
            </a:r>
            <a:r>
              <a:rPr lang="en-US"/>
              <a:t> Verify the receipt printing functionality after a valid transaction. Whether the printed data is correct or not.</a:t>
            </a:r>
            <a:endParaRPr/>
          </a:p>
          <a:p>
            <a:pPr marL="0" lvl="0" indent="0" algn="l" rtl="0">
              <a:spcBef>
                <a:spcPts val="1000"/>
              </a:spcBef>
              <a:spcAft>
                <a:spcPts val="0"/>
              </a:spcAft>
              <a:buSzPct val="79999"/>
              <a:buNone/>
            </a:pPr>
            <a:r>
              <a:rPr lang="en-US" b="1"/>
              <a:t>14)</a:t>
            </a:r>
            <a:r>
              <a:rPr lang="en-US"/>
              <a:t> Verify how much time the system takes to log out.</a:t>
            </a:r>
            <a:endParaRPr/>
          </a:p>
          <a:p>
            <a:pPr marL="0" lvl="0" indent="0" algn="l" rtl="0">
              <a:spcBef>
                <a:spcPts val="1000"/>
              </a:spcBef>
              <a:spcAft>
                <a:spcPts val="0"/>
              </a:spcAft>
              <a:buSzPct val="79999"/>
              <a:buNone/>
            </a:pPr>
            <a:r>
              <a:rPr lang="en-US" b="1"/>
              <a:t>15)</a:t>
            </a:r>
            <a:r>
              <a:rPr lang="en-US"/>
              <a:t> Verify the timeout session functionality.</a:t>
            </a:r>
            <a:endParaRPr/>
          </a:p>
          <a:p>
            <a:pPr marL="0" lvl="0" indent="0" algn="l" rtl="0">
              <a:spcBef>
                <a:spcPts val="1000"/>
              </a:spcBef>
              <a:spcAft>
                <a:spcPts val="0"/>
              </a:spcAft>
              <a:buSzPct val="79999"/>
              <a:buNone/>
            </a:pPr>
            <a:r>
              <a:rPr lang="en-US" b="1"/>
              <a:t>16)</a:t>
            </a:r>
            <a:r>
              <a:rPr lang="en-US"/>
              <a:t> Verify the deposit slot functionality depending on its capability (Cash or cheque or both) by inserting a valid cheque.</a:t>
            </a:r>
            <a:endParaRPr/>
          </a:p>
          <a:p>
            <a:pPr marL="0" lvl="0" indent="0" algn="l" rtl="0">
              <a:spcBef>
                <a:spcPts val="1000"/>
              </a:spcBef>
              <a:spcAft>
                <a:spcPts val="0"/>
              </a:spcAft>
              <a:buSzPct val="79999"/>
              <a:buNone/>
            </a:pPr>
            <a:r>
              <a:rPr lang="en-US" b="1"/>
              <a:t>17)</a:t>
            </a:r>
            <a:r>
              <a:rPr lang="en-US"/>
              <a:t> Verify using different cards (Cards of different banks).</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625"/>
        <p:cNvGrpSpPr/>
        <p:nvPr/>
      </p:nvGrpSpPr>
      <p:grpSpPr>
        <a:xfrm>
          <a:off x="0" y="0"/>
          <a:ext cx="0" cy="0"/>
          <a:chOff x="0" y="0"/>
          <a:chExt cx="0" cy="0"/>
        </a:xfrm>
      </p:grpSpPr>
      <p:sp>
        <p:nvSpPr>
          <p:cNvPr id="626" name="Google Shape;626;p75"/>
          <p:cNvSpPr txBox="1">
            <a:spLocks noGrp="1"/>
          </p:cNvSpPr>
          <p:nvPr>
            <p:ph type="body" idx="1"/>
          </p:nvPr>
        </p:nvSpPr>
        <p:spPr>
          <a:xfrm>
            <a:off x="677334" y="619760"/>
            <a:ext cx="8596668" cy="6076604"/>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1440"/>
              <a:buNone/>
            </a:pPr>
            <a:r>
              <a:rPr lang="en-US"/>
              <a:t>Verifying the Message</a:t>
            </a:r>
            <a:endParaRPr/>
          </a:p>
          <a:p>
            <a:pPr marL="0" lvl="0" indent="0" algn="l" rtl="0">
              <a:spcBef>
                <a:spcPts val="1000"/>
              </a:spcBef>
              <a:spcAft>
                <a:spcPts val="0"/>
              </a:spcAft>
              <a:buSzPts val="1440"/>
              <a:buNone/>
            </a:pPr>
            <a:r>
              <a:rPr lang="en-US" b="1"/>
              <a:t>18)</a:t>
            </a:r>
            <a:r>
              <a:rPr lang="en-US"/>
              <a:t> Insert the card and an incorrect PIN to verify the message.</a:t>
            </a:r>
            <a:endParaRPr/>
          </a:p>
          <a:p>
            <a:pPr marL="0" lvl="0" indent="0" algn="l" rtl="0">
              <a:spcBef>
                <a:spcPts val="1000"/>
              </a:spcBef>
              <a:spcAft>
                <a:spcPts val="0"/>
              </a:spcAft>
              <a:buSzPts val="1440"/>
              <a:buNone/>
            </a:pPr>
            <a:r>
              <a:rPr lang="en-US" b="1"/>
              <a:t>19)</a:t>
            </a:r>
            <a:r>
              <a:rPr lang="en-US"/>
              <a:t> Verify the message when there is no cash in the ATM.</a:t>
            </a:r>
            <a:endParaRPr/>
          </a:p>
          <a:p>
            <a:pPr marL="0" lvl="0" indent="0" algn="l" rtl="0">
              <a:spcBef>
                <a:spcPts val="1000"/>
              </a:spcBef>
              <a:spcAft>
                <a:spcPts val="0"/>
              </a:spcAft>
              <a:buSzPts val="1440"/>
              <a:buNone/>
            </a:pPr>
            <a:r>
              <a:rPr lang="en-US" b="1"/>
              <a:t>20)</a:t>
            </a:r>
            <a:r>
              <a:rPr lang="en-US"/>
              <a:t> Verify the messages after a transaction.</a:t>
            </a:r>
            <a:endParaRPr/>
          </a:p>
          <a:p>
            <a:pPr marL="0" lvl="0" indent="0" algn="l" rtl="0">
              <a:spcBef>
                <a:spcPts val="1000"/>
              </a:spcBef>
              <a:spcAft>
                <a:spcPts val="0"/>
              </a:spcAft>
              <a:buSzPts val="1440"/>
              <a:buNone/>
            </a:pPr>
            <a:r>
              <a:rPr lang="en-US" b="1"/>
              <a:t>21)</a:t>
            </a:r>
            <a:r>
              <a:rPr lang="en-US"/>
              <a:t> Verify if a user will get a correct message if a card is inserted incorrectly.</a:t>
            </a:r>
            <a:endParaRPr/>
          </a:p>
          <a:p>
            <a:pPr marL="342900" lvl="0" indent="-251459" algn="l" rtl="0">
              <a:spcBef>
                <a:spcPts val="1000"/>
              </a:spcBef>
              <a:spcAft>
                <a:spcPts val="0"/>
              </a:spcAft>
              <a:buSzPts val="1440"/>
              <a:buNone/>
            </a:pPr>
            <a:endParaRPr/>
          </a:p>
          <a:p>
            <a:pPr marL="0" lvl="0" indent="0" algn="l" rtl="0">
              <a:spcBef>
                <a:spcPts val="1000"/>
              </a:spcBef>
              <a:spcAft>
                <a:spcPts val="0"/>
              </a:spcAft>
              <a:buSzPts val="1440"/>
              <a:buNone/>
            </a:pPr>
            <a:r>
              <a:rPr lang="en-US" b="1"/>
              <a:t>Messages for each and every scenario should be verified.</a:t>
            </a:r>
            <a:endParaRPr/>
          </a:p>
          <a:p>
            <a:pPr marL="0" lvl="0" indent="0" algn="l" rtl="0">
              <a:spcBef>
                <a:spcPts val="1000"/>
              </a:spcBef>
              <a:spcAft>
                <a:spcPts val="0"/>
              </a:spcAft>
              <a:buSzPts val="1440"/>
              <a:buNone/>
            </a:pPr>
            <a:r>
              <a:rPr lang="en-US"/>
              <a:t>Cash Withdrawal</a:t>
            </a:r>
            <a:endParaRPr/>
          </a:p>
          <a:p>
            <a:pPr marL="0" lvl="0" indent="0" algn="l" rtl="0">
              <a:spcBef>
                <a:spcPts val="1000"/>
              </a:spcBef>
              <a:spcAft>
                <a:spcPts val="0"/>
              </a:spcAft>
              <a:buSzPts val="1440"/>
              <a:buNone/>
            </a:pPr>
            <a:r>
              <a:rPr lang="en-US" b="1"/>
              <a:t>22)</a:t>
            </a:r>
            <a:r>
              <a:rPr lang="en-US"/>
              <a:t> Verify the cash withdrawal functionality by inserting some valid amount.</a:t>
            </a:r>
            <a:endParaRPr/>
          </a:p>
          <a:p>
            <a:pPr marL="0" lvl="0" indent="0" algn="l" rtl="0">
              <a:spcBef>
                <a:spcPts val="1000"/>
              </a:spcBef>
              <a:spcAft>
                <a:spcPts val="0"/>
              </a:spcAft>
              <a:buSzPts val="1440"/>
              <a:buNone/>
            </a:pPr>
            <a:r>
              <a:rPr lang="en-US" b="1"/>
              <a:t>23)</a:t>
            </a:r>
            <a:r>
              <a:rPr lang="en-US"/>
              <a:t> Verify if a user can perform only one cash withdrawal transaction per PIN insert.</a:t>
            </a:r>
            <a:endParaRPr/>
          </a:p>
          <a:p>
            <a:pPr marL="0" lvl="0" indent="0" algn="l" rtl="0">
              <a:spcBef>
                <a:spcPts val="1000"/>
              </a:spcBef>
              <a:spcAft>
                <a:spcPts val="0"/>
              </a:spcAft>
              <a:buSzPts val="1440"/>
              <a:buNone/>
            </a:pPr>
            <a:r>
              <a:rPr lang="en-US" b="1"/>
              <a:t>24)</a:t>
            </a:r>
            <a:r>
              <a:rPr lang="en-US"/>
              <a:t> Verify the different combinations of operation and check if there will be a power loss in the middle of the operation.</a:t>
            </a:r>
            <a:endParaRPr/>
          </a:p>
          <a:p>
            <a:pPr marL="342900" lvl="0" indent="-251459" algn="l" rtl="0">
              <a:spcBef>
                <a:spcPts val="1000"/>
              </a:spcBef>
              <a:spcAft>
                <a:spcPts val="0"/>
              </a:spcAft>
              <a:buSzPts val="1440"/>
              <a:buNone/>
            </a:pPr>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630"/>
        <p:cNvGrpSpPr/>
        <p:nvPr/>
      </p:nvGrpSpPr>
      <p:grpSpPr>
        <a:xfrm>
          <a:off x="0" y="0"/>
          <a:ext cx="0" cy="0"/>
          <a:chOff x="0" y="0"/>
          <a:chExt cx="0" cy="0"/>
        </a:xfrm>
      </p:grpSpPr>
      <p:sp>
        <p:nvSpPr>
          <p:cNvPr id="631" name="Google Shape;631;p76"/>
          <p:cNvSpPr txBox="1">
            <a:spLocks noGrp="1"/>
          </p:cNvSpPr>
          <p:nvPr>
            <p:ph type="body" idx="1"/>
          </p:nvPr>
        </p:nvSpPr>
        <p:spPr>
          <a:xfrm>
            <a:off x="677334" y="803565"/>
            <a:ext cx="8596668" cy="5237798"/>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1440"/>
              <a:buNone/>
            </a:pPr>
            <a:r>
              <a:rPr lang="en-US"/>
              <a:t>Negative Test cases</a:t>
            </a:r>
            <a:endParaRPr/>
          </a:p>
          <a:p>
            <a:pPr marL="0" lvl="0" indent="0" algn="l" rtl="0">
              <a:spcBef>
                <a:spcPts val="1000"/>
              </a:spcBef>
              <a:spcAft>
                <a:spcPts val="0"/>
              </a:spcAft>
              <a:buSzPts val="1440"/>
              <a:buNone/>
            </a:pPr>
            <a:r>
              <a:rPr lang="en-US" b="1"/>
              <a:t>25)</a:t>
            </a:r>
            <a:r>
              <a:rPr lang="en-US"/>
              <a:t> Verify the functionality by entering a wrong pin number for 3 or more times.</a:t>
            </a:r>
            <a:endParaRPr/>
          </a:p>
          <a:p>
            <a:pPr marL="0" lvl="0" indent="0" algn="l" rtl="0">
              <a:spcBef>
                <a:spcPts val="1000"/>
              </a:spcBef>
              <a:spcAft>
                <a:spcPts val="0"/>
              </a:spcAft>
              <a:buSzPts val="1440"/>
              <a:buNone/>
            </a:pPr>
            <a:r>
              <a:rPr lang="en-US" b="1"/>
              <a:t>26)</a:t>
            </a:r>
            <a:r>
              <a:rPr lang="en-US"/>
              <a:t> Verify the card reader functionality by inserting an expired card.</a:t>
            </a:r>
            <a:endParaRPr/>
          </a:p>
          <a:p>
            <a:pPr marL="0" lvl="0" indent="0" algn="l" rtl="0">
              <a:spcBef>
                <a:spcPts val="1000"/>
              </a:spcBef>
              <a:spcAft>
                <a:spcPts val="0"/>
              </a:spcAft>
              <a:buSzPts val="1440"/>
              <a:buNone/>
            </a:pPr>
            <a:r>
              <a:rPr lang="en-US" b="1"/>
              <a:t>27)</a:t>
            </a:r>
            <a:r>
              <a:rPr lang="en-US"/>
              <a:t> Verify the deposit slot functionality by inserting an invalid cheque.</a:t>
            </a:r>
            <a:endParaRPr/>
          </a:p>
          <a:p>
            <a:pPr marL="0" lvl="0" indent="0" algn="l" rtl="0">
              <a:spcBef>
                <a:spcPts val="1000"/>
              </a:spcBef>
              <a:spcAft>
                <a:spcPts val="0"/>
              </a:spcAft>
              <a:buSzPts val="1440"/>
              <a:buNone/>
            </a:pPr>
            <a:r>
              <a:rPr lang="en-US" b="1"/>
              <a:t>28)</a:t>
            </a:r>
            <a:r>
              <a:rPr lang="en-US"/>
              <a:t> Verify the cash withdrawal functionality by inserting invalid numbers like 10, 20, 50 etc.</a:t>
            </a:r>
            <a:endParaRPr/>
          </a:p>
          <a:p>
            <a:pPr marL="0" lvl="0" indent="0" algn="l" rtl="0">
              <a:spcBef>
                <a:spcPts val="1000"/>
              </a:spcBef>
              <a:spcAft>
                <a:spcPts val="0"/>
              </a:spcAft>
              <a:buSzPts val="1440"/>
              <a:buNone/>
            </a:pPr>
            <a:r>
              <a:rPr lang="en-US" b="1"/>
              <a:t>29)</a:t>
            </a:r>
            <a:r>
              <a:rPr lang="en-US"/>
              <a:t> Verify the cash withdrawal functionality by entering an amount greater than the per day limit,</a:t>
            </a:r>
            <a:endParaRPr/>
          </a:p>
          <a:p>
            <a:pPr marL="0" lvl="0" indent="0" algn="l" rtl="0">
              <a:spcBef>
                <a:spcPts val="1000"/>
              </a:spcBef>
              <a:spcAft>
                <a:spcPts val="0"/>
              </a:spcAft>
              <a:buSzPts val="1440"/>
              <a:buNone/>
            </a:pPr>
            <a:r>
              <a:rPr lang="en-US" b="1"/>
              <a:t>30)</a:t>
            </a:r>
            <a:r>
              <a:rPr lang="en-US"/>
              <a:t> Verify the cash withdrawal functionality by entering an amount greater than per transaction limit.</a:t>
            </a:r>
            <a:endParaRPr/>
          </a:p>
          <a:p>
            <a:pPr marL="0" lvl="0" indent="0" algn="l" rtl="0">
              <a:spcBef>
                <a:spcPts val="1000"/>
              </a:spcBef>
              <a:spcAft>
                <a:spcPts val="0"/>
              </a:spcAft>
              <a:buSzPts val="1440"/>
              <a:buNone/>
            </a:pPr>
            <a:r>
              <a:rPr lang="en-US" b="1"/>
              <a:t>31)</a:t>
            </a:r>
            <a:r>
              <a:rPr lang="en-US"/>
              <a:t> Verify the cash withdrawal functionality by entering an amount greater than the available balance in the account.</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635"/>
        <p:cNvGrpSpPr/>
        <p:nvPr/>
      </p:nvGrpSpPr>
      <p:grpSpPr>
        <a:xfrm>
          <a:off x="0" y="0"/>
          <a:ext cx="0" cy="0"/>
          <a:chOff x="0" y="0"/>
          <a:chExt cx="0" cy="0"/>
        </a:xfrm>
      </p:grpSpPr>
      <p:sp>
        <p:nvSpPr>
          <p:cNvPr id="636" name="Google Shape;636;p77"/>
          <p:cNvSpPr txBox="1">
            <a:spLocks noGrp="1"/>
          </p:cNvSpPr>
          <p:nvPr>
            <p:ph type="title"/>
          </p:nvPr>
        </p:nvSpPr>
        <p:spPr>
          <a:xfrm>
            <a:off x="677334" y="243840"/>
            <a:ext cx="8596668" cy="79248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333333"/>
              </a:buClr>
              <a:buSzPts val="3600"/>
              <a:buFont typeface="Roboto"/>
              <a:buNone/>
            </a:pPr>
            <a:r>
              <a:rPr lang="en-US" b="0" i="0">
                <a:solidFill>
                  <a:srgbClr val="333333"/>
                </a:solidFill>
                <a:latin typeface="Roboto"/>
                <a:ea typeface="Roboto"/>
                <a:cs typeface="Roboto"/>
                <a:sym typeface="Roboto"/>
              </a:rPr>
              <a:t>E-commerce Websites: Shopping cart</a:t>
            </a:r>
            <a:endParaRPr/>
          </a:p>
        </p:txBody>
      </p:sp>
      <p:sp>
        <p:nvSpPr>
          <p:cNvPr id="637" name="Google Shape;637;p77"/>
          <p:cNvSpPr txBox="1">
            <a:spLocks noGrp="1"/>
          </p:cNvSpPr>
          <p:nvPr>
            <p:ph type="body" idx="1"/>
          </p:nvPr>
        </p:nvSpPr>
        <p:spPr>
          <a:xfrm>
            <a:off x="677334" y="955040"/>
            <a:ext cx="8596668" cy="5781039"/>
          </a:xfrm>
          <a:prstGeom prst="rect">
            <a:avLst/>
          </a:prstGeom>
          <a:noFill/>
          <a:ln>
            <a:noFill/>
          </a:ln>
        </p:spPr>
        <p:txBody>
          <a:bodyPr spcFirstLastPara="1" wrap="square" lIns="91425" tIns="45700" rIns="91425" bIns="45700" anchor="t" anchorCtr="0">
            <a:normAutofit fontScale="77500" lnSpcReduction="20000"/>
          </a:bodyPr>
          <a:lstStyle/>
          <a:p>
            <a:pPr marL="342900" lvl="0" indent="-342900" algn="l" rtl="0">
              <a:spcBef>
                <a:spcPts val="0"/>
              </a:spcBef>
              <a:spcAft>
                <a:spcPts val="0"/>
              </a:spcAft>
              <a:buSzPct val="79999"/>
              <a:buChar char="►"/>
            </a:pPr>
            <a:r>
              <a:rPr lang="en-US"/>
              <a:t>Add one item to the cart and verify.</a:t>
            </a:r>
            <a:endParaRPr/>
          </a:p>
          <a:p>
            <a:pPr marL="342900" lvl="0" indent="-342900" algn="l" rtl="0">
              <a:spcBef>
                <a:spcPts val="1000"/>
              </a:spcBef>
              <a:spcAft>
                <a:spcPts val="0"/>
              </a:spcAft>
              <a:buSzPct val="79999"/>
              <a:buChar char="►"/>
            </a:pPr>
            <a:r>
              <a:rPr lang="en-US"/>
              <a:t>Increase the quantity of the item from the cart and verify.</a:t>
            </a:r>
            <a:endParaRPr/>
          </a:p>
          <a:p>
            <a:pPr marL="342900" lvl="0" indent="-342900" algn="l" rtl="0">
              <a:spcBef>
                <a:spcPts val="1000"/>
              </a:spcBef>
              <a:spcAft>
                <a:spcPts val="0"/>
              </a:spcAft>
              <a:buSzPct val="79999"/>
              <a:buChar char="►"/>
            </a:pPr>
            <a:r>
              <a:rPr lang="en-US"/>
              <a:t>Add the same item multiple times and verify.</a:t>
            </a:r>
            <a:endParaRPr/>
          </a:p>
          <a:p>
            <a:pPr marL="342900" lvl="0" indent="-342900" algn="l" rtl="0">
              <a:spcBef>
                <a:spcPts val="1000"/>
              </a:spcBef>
              <a:spcAft>
                <a:spcPts val="0"/>
              </a:spcAft>
              <a:buSzPct val="79999"/>
              <a:buChar char="►"/>
            </a:pPr>
            <a:r>
              <a:rPr lang="en-US"/>
              <a:t>Add multiple items of different types and verify.</a:t>
            </a:r>
            <a:endParaRPr/>
          </a:p>
          <a:p>
            <a:pPr marL="342900" lvl="0" indent="-342900" algn="l" rtl="0">
              <a:spcBef>
                <a:spcPts val="1000"/>
              </a:spcBef>
              <a:spcAft>
                <a:spcPts val="0"/>
              </a:spcAft>
              <a:buSzPct val="79999"/>
              <a:buChar char="►"/>
            </a:pPr>
            <a:r>
              <a:rPr lang="en-US"/>
              <a:t>Remove some items from the cart and verify.</a:t>
            </a:r>
            <a:endParaRPr/>
          </a:p>
          <a:p>
            <a:pPr marL="342900" lvl="0" indent="-342900" algn="l" rtl="0">
              <a:spcBef>
                <a:spcPts val="1000"/>
              </a:spcBef>
              <a:spcAft>
                <a:spcPts val="0"/>
              </a:spcAft>
              <a:buSzPct val="79999"/>
              <a:buChar char="►"/>
            </a:pPr>
            <a:r>
              <a:rPr lang="en-US"/>
              <a:t>Remove all items from the cart and then verify.</a:t>
            </a:r>
            <a:endParaRPr/>
          </a:p>
          <a:p>
            <a:pPr marL="342900" lvl="0" indent="-342900" algn="l" rtl="0">
              <a:spcBef>
                <a:spcPts val="1000"/>
              </a:spcBef>
              <a:spcAft>
                <a:spcPts val="0"/>
              </a:spcAft>
              <a:buSzPct val="79999"/>
              <a:buChar char="►"/>
            </a:pPr>
            <a:r>
              <a:rPr lang="en-US"/>
              <a:t>Click on an item in the cart and verify that the user is redirected to the product detail page.</a:t>
            </a:r>
            <a:endParaRPr/>
          </a:p>
          <a:p>
            <a:pPr marL="342900" lvl="0" indent="-342900" algn="l" rtl="0">
              <a:spcBef>
                <a:spcPts val="1000"/>
              </a:spcBef>
              <a:spcAft>
                <a:spcPts val="0"/>
              </a:spcAft>
              <a:buSzPct val="79999"/>
              <a:buChar char="►"/>
            </a:pPr>
            <a:r>
              <a:rPr lang="en-US"/>
              <a:t>Check that the price of the cart is discounted when we apply a valid coupon.</a:t>
            </a:r>
            <a:endParaRPr/>
          </a:p>
          <a:p>
            <a:pPr marL="342900" lvl="0" indent="-342900" algn="l" rtl="0">
              <a:spcBef>
                <a:spcPts val="1000"/>
              </a:spcBef>
              <a:spcAft>
                <a:spcPts val="0"/>
              </a:spcAft>
              <a:buSzPct val="79999"/>
              <a:buChar char="►"/>
            </a:pPr>
            <a:r>
              <a:rPr lang="en-US"/>
              <a:t>Check that the price of the cart is not discounted when we apply an invalid coupon.</a:t>
            </a:r>
            <a:endParaRPr/>
          </a:p>
          <a:p>
            <a:pPr marL="342900" lvl="0" indent="-342900" algn="l" rtl="0">
              <a:spcBef>
                <a:spcPts val="1000"/>
              </a:spcBef>
              <a:spcAft>
                <a:spcPts val="0"/>
              </a:spcAft>
              <a:buSzPct val="79999"/>
              <a:buChar char="►"/>
            </a:pPr>
            <a:r>
              <a:rPr lang="en-US"/>
              <a:t>Add item(s) to the cart, close the browser and reopen the same site.</a:t>
            </a:r>
            <a:endParaRPr/>
          </a:p>
          <a:p>
            <a:pPr marL="342900" lvl="0" indent="-342900" algn="l" rtl="0">
              <a:spcBef>
                <a:spcPts val="1000"/>
              </a:spcBef>
              <a:spcAft>
                <a:spcPts val="0"/>
              </a:spcAft>
              <a:buSzPct val="79999"/>
              <a:buChar char="►"/>
            </a:pPr>
            <a:r>
              <a:rPr lang="en-US"/>
              <a:t>Add item(s) to the cart, close the browser and reopen the same site.</a:t>
            </a:r>
            <a:endParaRPr/>
          </a:p>
          <a:p>
            <a:pPr marL="342900" lvl="0" indent="-342900" algn="l" rtl="0">
              <a:spcBef>
                <a:spcPts val="1000"/>
              </a:spcBef>
              <a:spcAft>
                <a:spcPts val="0"/>
              </a:spcAft>
              <a:buSzPct val="79999"/>
              <a:buChar char="►"/>
            </a:pPr>
            <a:r>
              <a:rPr lang="en-US"/>
              <a:t>Verify the product QTY field when the product is out of stock.</a:t>
            </a:r>
            <a:endParaRPr/>
          </a:p>
          <a:p>
            <a:pPr marL="342900" lvl="0" indent="-342900" algn="l" rtl="0">
              <a:spcBef>
                <a:spcPts val="1000"/>
              </a:spcBef>
              <a:spcAft>
                <a:spcPts val="0"/>
              </a:spcAft>
              <a:buSzPct val="79999"/>
              <a:buChar char="►"/>
            </a:pPr>
            <a:r>
              <a:rPr lang="en-US"/>
              <a:t>Verify that the user is able to add a text note for all products.</a:t>
            </a:r>
            <a:endParaRPr/>
          </a:p>
          <a:p>
            <a:pPr marL="342900" lvl="0" indent="-342900" algn="l" rtl="0">
              <a:spcBef>
                <a:spcPts val="1000"/>
              </a:spcBef>
              <a:spcAft>
                <a:spcPts val="0"/>
              </a:spcAft>
              <a:buSzPct val="79999"/>
              <a:buChar char="►"/>
            </a:pPr>
            <a:r>
              <a:rPr lang="en-US"/>
              <a:t>Verify that the user is able to add any or all products to his wishlist by clicking on the wishlist link.</a:t>
            </a:r>
            <a:endParaRPr/>
          </a:p>
          <a:p>
            <a:pPr marL="342900" lvl="0" indent="-342900" algn="l" rtl="0">
              <a:spcBef>
                <a:spcPts val="1000"/>
              </a:spcBef>
              <a:spcAft>
                <a:spcPts val="0"/>
              </a:spcAft>
              <a:buSzPct val="79999"/>
              <a:buChar char="►"/>
            </a:pPr>
            <a:r>
              <a:rPr lang="en-US"/>
              <a:t>Verify that the user is able to mark his order as a gift.</a:t>
            </a:r>
            <a:endParaRPr/>
          </a:p>
          <a:p>
            <a:pPr marL="342900" lvl="0" indent="-342900" algn="l" rtl="0">
              <a:spcBef>
                <a:spcPts val="1000"/>
              </a:spcBef>
              <a:spcAft>
                <a:spcPts val="0"/>
              </a:spcAft>
              <a:buSzPct val="79999"/>
              <a:buChar char="►"/>
            </a:pPr>
            <a:r>
              <a:rPr lang="en-US"/>
              <a:t>Verify that the user is able to add any a gift message.</a:t>
            </a:r>
            <a:endParaRPr/>
          </a:p>
          <a:p>
            <a:pPr marL="342900" lvl="0" indent="-342900" algn="l" rtl="0">
              <a:spcBef>
                <a:spcPts val="1000"/>
              </a:spcBef>
              <a:spcAft>
                <a:spcPts val="0"/>
              </a:spcAft>
              <a:buSzPct val="79999"/>
              <a:buChar char="►"/>
            </a:pPr>
            <a:r>
              <a:rPr lang="en-US"/>
              <a:t>Verify that the user is redirected to the checkout page after clicking on the checkout button.</a:t>
            </a:r>
            <a:endParaRPr/>
          </a:p>
          <a:p>
            <a:pPr marL="342900" lvl="0" indent="-342900" algn="l" rtl="0">
              <a:spcBef>
                <a:spcPts val="1000"/>
              </a:spcBef>
              <a:spcAft>
                <a:spcPts val="0"/>
              </a:spcAft>
              <a:buSzPct val="79999"/>
              <a:buChar char="►"/>
            </a:pPr>
            <a:r>
              <a:rPr lang="en-US"/>
              <a:t>Verify the cart total when the exclusive tax is enabled from the admin end.</a:t>
            </a:r>
            <a:endParaRPr/>
          </a:p>
          <a:p>
            <a:pPr marL="342900" lvl="0" indent="-342900" algn="l" rtl="0">
              <a:spcBef>
                <a:spcPts val="1000"/>
              </a:spcBef>
              <a:spcAft>
                <a:spcPts val="0"/>
              </a:spcAft>
              <a:buSzPct val="79999"/>
              <a:buChar char="►"/>
            </a:pPr>
            <a:r>
              <a:rPr lang="en-US"/>
              <a:t>Verify the cart total when the inclusive tax is enabled from the admin end.</a:t>
            </a:r>
            <a:endParaRPr/>
          </a:p>
          <a:p>
            <a:pPr marL="342900" lvl="0" indent="-272034" algn="l" rtl="0">
              <a:spcBef>
                <a:spcPts val="1000"/>
              </a:spcBef>
              <a:spcAft>
                <a:spcPts val="0"/>
              </a:spcAft>
              <a:buSzPct val="79999"/>
              <a:buNone/>
            </a:pPr>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Shape 641"/>
        <p:cNvGrpSpPr/>
        <p:nvPr/>
      </p:nvGrpSpPr>
      <p:grpSpPr>
        <a:xfrm>
          <a:off x="0" y="0"/>
          <a:ext cx="0" cy="0"/>
          <a:chOff x="0" y="0"/>
          <a:chExt cx="0" cy="0"/>
        </a:xfrm>
      </p:grpSpPr>
      <p:sp>
        <p:nvSpPr>
          <p:cNvPr id="642" name="Google Shape;642;p78"/>
          <p:cNvSpPr txBox="1">
            <a:spLocks noGrp="1"/>
          </p:cNvSpPr>
          <p:nvPr>
            <p:ph type="title"/>
          </p:nvPr>
        </p:nvSpPr>
        <p:spPr>
          <a:xfrm>
            <a:off x="748454" y="50801"/>
            <a:ext cx="8596668" cy="833119"/>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333333"/>
              </a:buClr>
              <a:buSzPts val="3600"/>
              <a:buFont typeface="Roboto"/>
              <a:buNone/>
            </a:pPr>
            <a:r>
              <a:rPr lang="en-US">
                <a:solidFill>
                  <a:srgbClr val="333333"/>
                </a:solidFill>
                <a:latin typeface="Roboto"/>
                <a:ea typeface="Roboto"/>
                <a:cs typeface="Roboto"/>
                <a:sym typeface="Roboto"/>
              </a:rPr>
              <a:t>Checkout flow</a:t>
            </a:r>
            <a:endParaRPr/>
          </a:p>
        </p:txBody>
      </p:sp>
      <p:sp>
        <p:nvSpPr>
          <p:cNvPr id="643" name="Google Shape;643;p78"/>
          <p:cNvSpPr txBox="1">
            <a:spLocks noGrp="1"/>
          </p:cNvSpPr>
          <p:nvPr>
            <p:ph type="body" idx="2"/>
          </p:nvPr>
        </p:nvSpPr>
        <p:spPr>
          <a:xfrm>
            <a:off x="132081" y="782321"/>
            <a:ext cx="5791200" cy="5892799"/>
          </a:xfrm>
          <a:prstGeom prst="rect">
            <a:avLst/>
          </a:prstGeom>
          <a:noFill/>
          <a:ln>
            <a:noFill/>
          </a:ln>
        </p:spPr>
        <p:txBody>
          <a:bodyPr spcFirstLastPara="1" wrap="square" lIns="91425" tIns="45700" rIns="91425" bIns="45700" anchor="t" anchorCtr="0">
            <a:normAutofit fontScale="77500" lnSpcReduction="20000"/>
          </a:bodyPr>
          <a:lstStyle/>
          <a:p>
            <a:pPr marL="342900" lvl="0" indent="-342900" algn="l" rtl="0">
              <a:spcBef>
                <a:spcPts val="0"/>
              </a:spcBef>
              <a:spcAft>
                <a:spcPts val="0"/>
              </a:spcAft>
              <a:buSzPct val="79999"/>
              <a:buChar char="►"/>
            </a:pPr>
            <a:r>
              <a:rPr lang="en-US"/>
              <a:t>Ensure that user can access the Checkout Page only after adding the product to the cart.</a:t>
            </a:r>
            <a:endParaRPr/>
          </a:p>
          <a:p>
            <a:pPr marL="342900" lvl="0" indent="-342900" algn="l" rtl="0">
              <a:spcBef>
                <a:spcPts val="1000"/>
              </a:spcBef>
              <a:spcAft>
                <a:spcPts val="0"/>
              </a:spcAft>
              <a:buSzPct val="79999"/>
              <a:buChar char="►"/>
            </a:pPr>
            <a:r>
              <a:rPr lang="en-US"/>
              <a:t>Ensure that Checkout Address Page consists of all the details of the product such as Name, Quantity, Amount, etc.</a:t>
            </a:r>
            <a:endParaRPr/>
          </a:p>
          <a:p>
            <a:pPr marL="342900" lvl="0" indent="-342900" algn="l" rtl="0">
              <a:spcBef>
                <a:spcPts val="1000"/>
              </a:spcBef>
              <a:spcAft>
                <a:spcPts val="0"/>
              </a:spcAft>
              <a:buSzPct val="79999"/>
              <a:buChar char="►"/>
            </a:pPr>
            <a:r>
              <a:rPr lang="en-US"/>
              <a:t>Ensure that only registered users are allowed to access the Checkout Address Page.</a:t>
            </a:r>
            <a:endParaRPr/>
          </a:p>
          <a:p>
            <a:pPr marL="342900" lvl="0" indent="-342900" algn="l" rtl="0">
              <a:spcBef>
                <a:spcPts val="1000"/>
              </a:spcBef>
              <a:spcAft>
                <a:spcPts val="0"/>
              </a:spcAft>
              <a:buSzPct val="79999"/>
              <a:buChar char="►"/>
            </a:pPr>
            <a:r>
              <a:rPr lang="en-US"/>
              <a:t>Ensure that Name, Street Address, City, State, Country, Postal code is the mandatory field in the Checkout Address page (Shipping Address).</a:t>
            </a:r>
            <a:endParaRPr/>
          </a:p>
          <a:p>
            <a:pPr marL="342900" lvl="0" indent="-342900" algn="l" rtl="0">
              <a:spcBef>
                <a:spcPts val="1000"/>
              </a:spcBef>
              <a:spcAft>
                <a:spcPts val="0"/>
              </a:spcAft>
              <a:buSzPct val="79999"/>
              <a:buChar char="►"/>
            </a:pPr>
            <a:r>
              <a:rPr lang="en-US"/>
              <a:t>Ensure that Name, Street Address, City, State, Country, Postal code is the mandatory field in the Checkout Address page (Billing Address).</a:t>
            </a:r>
            <a:endParaRPr/>
          </a:p>
          <a:p>
            <a:pPr marL="342900" lvl="0" indent="-342900" algn="l" rtl="0">
              <a:spcBef>
                <a:spcPts val="1000"/>
              </a:spcBef>
              <a:spcAft>
                <a:spcPts val="0"/>
              </a:spcAft>
              <a:buSzPct val="79999"/>
              <a:buChar char="►"/>
            </a:pPr>
            <a:r>
              <a:rPr lang="en-US"/>
              <a:t>Ensure that error message is displayed when the user enters invalid input in all the mandatory field in the checkout address page.</a:t>
            </a:r>
            <a:endParaRPr/>
          </a:p>
          <a:p>
            <a:pPr marL="342900" lvl="0" indent="-342900" algn="l" rtl="0">
              <a:spcBef>
                <a:spcPts val="1000"/>
              </a:spcBef>
              <a:spcAft>
                <a:spcPts val="0"/>
              </a:spcAft>
              <a:buSzPct val="79999"/>
              <a:buChar char="►"/>
            </a:pPr>
            <a:r>
              <a:rPr lang="en-US"/>
              <a:t>Ensure that Back to cart link is available so that user can modify the cart content if needed.</a:t>
            </a:r>
            <a:endParaRPr/>
          </a:p>
          <a:p>
            <a:pPr marL="342900" lvl="0" indent="-342900" algn="l" rtl="0">
              <a:spcBef>
                <a:spcPts val="1000"/>
              </a:spcBef>
              <a:spcAft>
                <a:spcPts val="0"/>
              </a:spcAft>
              <a:buSzPct val="79999"/>
              <a:buChar char="►"/>
            </a:pPr>
            <a:r>
              <a:rPr lang="en-US"/>
              <a:t>Ensure that user is redirected to Checkout payment page only after entering valid mandatory details in the checkout Address page.</a:t>
            </a:r>
            <a:endParaRPr/>
          </a:p>
          <a:p>
            <a:pPr marL="342900" lvl="0" indent="-342900" algn="l" rtl="0">
              <a:spcBef>
                <a:spcPts val="1000"/>
              </a:spcBef>
              <a:spcAft>
                <a:spcPts val="0"/>
              </a:spcAft>
              <a:buSzPct val="79999"/>
              <a:buChar char="►"/>
            </a:pPr>
            <a:r>
              <a:rPr lang="en-US"/>
              <a:t>Ensure that error message is displayed when the user leaves any one of the mandatory fields in the checkout Address page.</a:t>
            </a:r>
            <a:endParaRPr/>
          </a:p>
          <a:p>
            <a:pPr marL="342900" lvl="0" indent="-342900" algn="l" rtl="0">
              <a:spcBef>
                <a:spcPts val="1000"/>
              </a:spcBef>
              <a:spcAft>
                <a:spcPts val="0"/>
              </a:spcAft>
              <a:buSzPct val="79999"/>
              <a:buChar char="►"/>
            </a:pPr>
            <a:r>
              <a:rPr lang="en-US"/>
              <a:t>Ensure that Next Button and Cancel Button are available in the Checkout Address Page.</a:t>
            </a:r>
            <a:endParaRPr/>
          </a:p>
          <a:p>
            <a:pPr marL="342900" lvl="0" indent="-342900" algn="l" rtl="0">
              <a:spcBef>
                <a:spcPts val="1000"/>
              </a:spcBef>
              <a:spcAft>
                <a:spcPts val="0"/>
              </a:spcAft>
              <a:buSzPct val="79999"/>
              <a:buChar char="►"/>
            </a:pPr>
            <a:r>
              <a:rPr lang="en-US"/>
              <a:t>Check that a user is able to apply a valid coupon.</a:t>
            </a:r>
            <a:endParaRPr/>
          </a:p>
        </p:txBody>
      </p:sp>
      <p:sp>
        <p:nvSpPr>
          <p:cNvPr id="644" name="Google Shape;644;p78"/>
          <p:cNvSpPr txBox="1">
            <a:spLocks noGrp="1"/>
          </p:cNvSpPr>
          <p:nvPr>
            <p:ph type="body" idx="4"/>
          </p:nvPr>
        </p:nvSpPr>
        <p:spPr>
          <a:xfrm>
            <a:off x="6297424" y="782321"/>
            <a:ext cx="5752336" cy="5892799"/>
          </a:xfrm>
          <a:prstGeom prst="rect">
            <a:avLst/>
          </a:prstGeom>
          <a:noFill/>
          <a:ln>
            <a:noFill/>
          </a:ln>
        </p:spPr>
        <p:txBody>
          <a:bodyPr spcFirstLastPara="1" wrap="square" lIns="91425" tIns="45700" rIns="91425" bIns="45700" anchor="t" anchorCtr="0">
            <a:normAutofit fontScale="77500" lnSpcReduction="20000"/>
          </a:bodyPr>
          <a:lstStyle/>
          <a:p>
            <a:pPr marL="342900" lvl="0" indent="-342900" algn="l" rtl="0">
              <a:spcBef>
                <a:spcPts val="0"/>
              </a:spcBef>
              <a:spcAft>
                <a:spcPts val="0"/>
              </a:spcAft>
              <a:buSzPct val="79999"/>
              <a:buChar char="►"/>
            </a:pPr>
            <a:r>
              <a:rPr lang="en-US"/>
              <a:t>Verify the error message for the invalid coupon.</a:t>
            </a:r>
            <a:endParaRPr/>
          </a:p>
          <a:p>
            <a:pPr marL="342900" lvl="0" indent="-342900" algn="l" rtl="0">
              <a:spcBef>
                <a:spcPts val="1000"/>
              </a:spcBef>
              <a:spcAft>
                <a:spcPts val="0"/>
              </a:spcAft>
              <a:buSzPct val="79999"/>
              <a:buChar char="►"/>
            </a:pPr>
            <a:r>
              <a:rPr lang="en-US"/>
              <a:t>Check that user is able to make his order as a gift.</a:t>
            </a:r>
            <a:endParaRPr/>
          </a:p>
          <a:p>
            <a:pPr marL="342900" lvl="0" indent="-342900" algn="l" rtl="0">
              <a:spcBef>
                <a:spcPts val="1000"/>
              </a:spcBef>
              <a:spcAft>
                <a:spcPts val="0"/>
              </a:spcAft>
              <a:buSzPct val="79999"/>
              <a:buChar char="►"/>
            </a:pPr>
            <a:r>
              <a:rPr lang="en-US"/>
              <a:t>Ensure that the user is able to add any gift message.</a:t>
            </a:r>
            <a:endParaRPr/>
          </a:p>
          <a:p>
            <a:pPr marL="342900" lvl="0" indent="-342900" algn="l" rtl="0">
              <a:spcBef>
                <a:spcPts val="1000"/>
              </a:spcBef>
              <a:spcAft>
                <a:spcPts val="0"/>
              </a:spcAft>
              <a:buSzPct val="79999"/>
              <a:buChar char="►"/>
            </a:pPr>
            <a:r>
              <a:rPr lang="en-US"/>
              <a:t>Check order price when gift and wrapping charges are applicable.</a:t>
            </a:r>
            <a:endParaRPr/>
          </a:p>
          <a:p>
            <a:pPr marL="342900" lvl="0" indent="-342900" algn="l" rtl="0">
              <a:spcBef>
                <a:spcPts val="1000"/>
              </a:spcBef>
              <a:spcAft>
                <a:spcPts val="0"/>
              </a:spcAft>
              <a:buSzPct val="79999"/>
              <a:buChar char="►"/>
            </a:pPr>
            <a:r>
              <a:rPr lang="en-US"/>
              <a:t>Check the shipping price.</a:t>
            </a:r>
            <a:endParaRPr/>
          </a:p>
          <a:p>
            <a:pPr marL="342900" lvl="0" indent="-342900" algn="l" rtl="0">
              <a:spcBef>
                <a:spcPts val="1000"/>
              </a:spcBef>
              <a:spcAft>
                <a:spcPts val="0"/>
              </a:spcAft>
              <a:buSzPct val="79999"/>
              <a:buChar char="►"/>
            </a:pPr>
            <a:r>
              <a:rPr lang="en-US"/>
              <a:t>Check the shipping price tax.</a:t>
            </a:r>
            <a:endParaRPr/>
          </a:p>
          <a:p>
            <a:pPr marL="342900" lvl="0" indent="-342900" algn="l" rtl="0">
              <a:spcBef>
                <a:spcPts val="1000"/>
              </a:spcBef>
              <a:spcAft>
                <a:spcPts val="0"/>
              </a:spcAft>
              <a:buSzPct val="79999"/>
              <a:buChar char="►"/>
            </a:pPr>
            <a:r>
              <a:rPr lang="en-US"/>
              <a:t>Check the payment options.</a:t>
            </a:r>
            <a:endParaRPr/>
          </a:p>
          <a:p>
            <a:pPr marL="342900" lvl="0" indent="-342900" algn="l" rtl="0">
              <a:spcBef>
                <a:spcPts val="1000"/>
              </a:spcBef>
              <a:spcAft>
                <a:spcPts val="0"/>
              </a:spcAft>
              <a:buSzPct val="79999"/>
              <a:buChar char="►"/>
            </a:pPr>
            <a:r>
              <a:rPr lang="en-US"/>
              <a:t>Ensure that Name on Card, Card Number, Expiration date, CWW2 are mandatory fields in the Payment Page.</a:t>
            </a:r>
            <a:endParaRPr/>
          </a:p>
          <a:p>
            <a:pPr marL="342900" lvl="0" indent="-342900" algn="l" rtl="0">
              <a:spcBef>
                <a:spcPts val="1000"/>
              </a:spcBef>
              <a:spcAft>
                <a:spcPts val="0"/>
              </a:spcAft>
              <a:buSzPct val="79999"/>
              <a:buChar char="►"/>
            </a:pPr>
            <a:r>
              <a:rPr lang="en-US"/>
              <a:t>Ensure that error message is displayed when the user enters invalid input in all the mandatory field on the Payment Page.</a:t>
            </a:r>
            <a:endParaRPr/>
          </a:p>
          <a:p>
            <a:pPr marL="342900" lvl="0" indent="-342900" algn="l" rtl="0">
              <a:spcBef>
                <a:spcPts val="1000"/>
              </a:spcBef>
              <a:spcAft>
                <a:spcPts val="0"/>
              </a:spcAft>
              <a:buSzPct val="79999"/>
              <a:buChar char="►"/>
            </a:pPr>
            <a:r>
              <a:rPr lang="en-US"/>
              <a:t>Ensure that error message is displayed when the user leaves any one of the mandatory fields in the Payment Page.</a:t>
            </a:r>
            <a:endParaRPr/>
          </a:p>
          <a:p>
            <a:pPr marL="342900" lvl="0" indent="-342900" algn="l" rtl="0">
              <a:spcBef>
                <a:spcPts val="1000"/>
              </a:spcBef>
              <a:spcAft>
                <a:spcPts val="0"/>
              </a:spcAft>
              <a:buSzPct val="79999"/>
              <a:buChar char="►"/>
            </a:pPr>
            <a:r>
              <a:rPr lang="en-US"/>
              <a:t>Ensure that the user is redirected to the third party (Vender) page.</a:t>
            </a:r>
            <a:endParaRPr/>
          </a:p>
          <a:p>
            <a:pPr marL="342900" lvl="0" indent="-342900" algn="l" rtl="0">
              <a:spcBef>
                <a:spcPts val="1000"/>
              </a:spcBef>
              <a:spcAft>
                <a:spcPts val="0"/>
              </a:spcAft>
              <a:buSzPct val="79999"/>
              <a:buChar char="►"/>
            </a:pPr>
            <a:r>
              <a:rPr lang="en-US"/>
              <a:t>Ensure that the user is redirected to the third party (PayPal) page if he is going to pay through a third party payment gateway (PayPal).</a:t>
            </a:r>
            <a:endParaRPr/>
          </a:p>
          <a:p>
            <a:pPr marL="342900" lvl="0" indent="-342900" algn="l" rtl="0">
              <a:spcBef>
                <a:spcPts val="1000"/>
              </a:spcBef>
              <a:spcAft>
                <a:spcPts val="0"/>
              </a:spcAft>
              <a:buSzPct val="79999"/>
              <a:buChar char="►"/>
            </a:pPr>
            <a:r>
              <a:rPr lang="en-US"/>
              <a:t>Place an order where order total price is Zero (0).</a:t>
            </a:r>
            <a:endParaRPr/>
          </a:p>
          <a:p>
            <a:pPr marL="342900" lvl="0" indent="-342900" algn="l" rtl="0">
              <a:spcBef>
                <a:spcPts val="1000"/>
              </a:spcBef>
              <a:spcAft>
                <a:spcPts val="0"/>
              </a:spcAft>
              <a:buSzPct val="79999"/>
              <a:buChar char="►"/>
            </a:pPr>
            <a:r>
              <a:rPr lang="en-US"/>
              <a:t>Place an order where the total discount is more than the entire order.</a:t>
            </a:r>
            <a:endParaRPr/>
          </a:p>
          <a:p>
            <a:pPr marL="342900" lvl="0" indent="-342900" algn="l" rtl="0">
              <a:spcBef>
                <a:spcPts val="1000"/>
              </a:spcBef>
              <a:spcAft>
                <a:spcPts val="0"/>
              </a:spcAft>
              <a:buSzPct val="79999"/>
              <a:buChar char="►"/>
            </a:pPr>
            <a:r>
              <a:rPr lang="en-US"/>
              <a:t>Place an order by double clicking on the submit Button.</a:t>
            </a:r>
            <a:endParaRPr/>
          </a:p>
          <a:p>
            <a:pPr marL="342900" lvl="0" indent="-272034" algn="l" rtl="0">
              <a:spcBef>
                <a:spcPts val="1000"/>
              </a:spcBef>
              <a:spcAft>
                <a:spcPts val="0"/>
              </a:spcAft>
              <a:buSzPct val="79999"/>
              <a:buNone/>
            </a:pPr>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648"/>
        <p:cNvGrpSpPr/>
        <p:nvPr/>
      </p:nvGrpSpPr>
      <p:grpSpPr>
        <a:xfrm>
          <a:off x="0" y="0"/>
          <a:ext cx="0" cy="0"/>
          <a:chOff x="0" y="0"/>
          <a:chExt cx="0" cy="0"/>
        </a:xfrm>
      </p:grpSpPr>
      <p:sp>
        <p:nvSpPr>
          <p:cNvPr id="649" name="Google Shape;649;p79"/>
          <p:cNvSpPr txBox="1">
            <a:spLocks noGrp="1"/>
          </p:cNvSpPr>
          <p:nvPr>
            <p:ph type="title"/>
          </p:nvPr>
        </p:nvSpPr>
        <p:spPr>
          <a:xfrm>
            <a:off x="677334" y="609600"/>
            <a:ext cx="8596668" cy="765668"/>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Modules for E-Commerce site</a:t>
            </a:r>
            <a:endParaRPr/>
          </a:p>
        </p:txBody>
      </p:sp>
      <p:pic>
        <p:nvPicPr>
          <p:cNvPr id="650" name="Google Shape;650;p79"/>
          <p:cNvPicPr preferRelativeResize="0">
            <a:picLocks noGrp="1"/>
          </p:cNvPicPr>
          <p:nvPr>
            <p:ph type="body" idx="1"/>
          </p:nvPr>
        </p:nvPicPr>
        <p:blipFill rotWithShape="1">
          <a:blip r:embed="rId3">
            <a:alphaModFix/>
          </a:blip>
          <a:srcRect/>
          <a:stretch/>
        </p:blipFill>
        <p:spPr>
          <a:xfrm>
            <a:off x="1077150" y="1601295"/>
            <a:ext cx="5542809" cy="3881437"/>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654"/>
        <p:cNvGrpSpPr/>
        <p:nvPr/>
      </p:nvGrpSpPr>
      <p:grpSpPr>
        <a:xfrm>
          <a:off x="0" y="0"/>
          <a:ext cx="0" cy="0"/>
          <a:chOff x="0" y="0"/>
          <a:chExt cx="0" cy="0"/>
        </a:xfrm>
      </p:grpSpPr>
      <p:sp>
        <p:nvSpPr>
          <p:cNvPr id="655" name="Google Shape;655;p80"/>
          <p:cNvSpPr txBox="1">
            <a:spLocks noGrp="1"/>
          </p:cNvSpPr>
          <p:nvPr>
            <p:ph type="title"/>
          </p:nvPr>
        </p:nvSpPr>
        <p:spPr>
          <a:xfrm>
            <a:off x="632945" y="157959"/>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Test Cases</a:t>
            </a:r>
            <a:endParaRPr/>
          </a:p>
        </p:txBody>
      </p:sp>
      <p:pic>
        <p:nvPicPr>
          <p:cNvPr id="656" name="Google Shape;656;p80"/>
          <p:cNvPicPr preferRelativeResize="0">
            <a:picLocks noGrp="1"/>
          </p:cNvPicPr>
          <p:nvPr>
            <p:ph type="body" idx="1"/>
          </p:nvPr>
        </p:nvPicPr>
        <p:blipFill rotWithShape="1">
          <a:blip r:embed="rId3">
            <a:alphaModFix/>
          </a:blip>
          <a:srcRect/>
          <a:stretch/>
        </p:blipFill>
        <p:spPr>
          <a:xfrm>
            <a:off x="507988" y="903794"/>
            <a:ext cx="4318598" cy="2173637"/>
          </a:xfrm>
          <a:prstGeom prst="rect">
            <a:avLst/>
          </a:prstGeom>
          <a:noFill/>
          <a:ln>
            <a:noFill/>
          </a:ln>
        </p:spPr>
      </p:pic>
      <p:pic>
        <p:nvPicPr>
          <p:cNvPr id="657" name="Google Shape;657;p80"/>
          <p:cNvPicPr preferRelativeResize="0"/>
          <p:nvPr/>
        </p:nvPicPr>
        <p:blipFill rotWithShape="1">
          <a:blip r:embed="rId4">
            <a:alphaModFix/>
          </a:blip>
          <a:srcRect/>
          <a:stretch/>
        </p:blipFill>
        <p:spPr>
          <a:xfrm>
            <a:off x="514905" y="3512367"/>
            <a:ext cx="4311681" cy="1360370"/>
          </a:xfrm>
          <a:prstGeom prst="rect">
            <a:avLst/>
          </a:prstGeom>
          <a:noFill/>
          <a:ln>
            <a:noFill/>
          </a:ln>
        </p:spPr>
      </p:pic>
      <p:pic>
        <p:nvPicPr>
          <p:cNvPr id="658" name="Google Shape;658;p80"/>
          <p:cNvPicPr preferRelativeResize="0"/>
          <p:nvPr/>
        </p:nvPicPr>
        <p:blipFill rotWithShape="1">
          <a:blip r:embed="rId5">
            <a:alphaModFix/>
          </a:blip>
          <a:srcRect/>
          <a:stretch/>
        </p:blipFill>
        <p:spPr>
          <a:xfrm>
            <a:off x="514905" y="4808650"/>
            <a:ext cx="4311681" cy="1891391"/>
          </a:xfrm>
          <a:prstGeom prst="rect">
            <a:avLst/>
          </a:prstGeom>
          <a:noFill/>
          <a:ln>
            <a:noFill/>
          </a:ln>
        </p:spPr>
      </p:pic>
      <p:pic>
        <p:nvPicPr>
          <p:cNvPr id="659" name="Google Shape;659;p80"/>
          <p:cNvPicPr preferRelativeResize="0"/>
          <p:nvPr/>
        </p:nvPicPr>
        <p:blipFill rotWithShape="1">
          <a:blip r:embed="rId6">
            <a:alphaModFix/>
          </a:blip>
          <a:srcRect/>
          <a:stretch/>
        </p:blipFill>
        <p:spPr>
          <a:xfrm>
            <a:off x="5933478" y="903794"/>
            <a:ext cx="4311681" cy="2099029"/>
          </a:xfrm>
          <a:prstGeom prst="rect">
            <a:avLst/>
          </a:prstGeom>
          <a:noFill/>
          <a:ln>
            <a:noFill/>
          </a:ln>
        </p:spPr>
      </p:pic>
      <p:pic>
        <p:nvPicPr>
          <p:cNvPr id="660" name="Google Shape;660;p80"/>
          <p:cNvPicPr preferRelativeResize="0"/>
          <p:nvPr/>
        </p:nvPicPr>
        <p:blipFill rotWithShape="1">
          <a:blip r:embed="rId7">
            <a:alphaModFix/>
          </a:blip>
          <a:srcRect/>
          <a:stretch/>
        </p:blipFill>
        <p:spPr>
          <a:xfrm>
            <a:off x="6001449" y="3843253"/>
            <a:ext cx="4311681" cy="2631262"/>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664"/>
        <p:cNvGrpSpPr/>
        <p:nvPr/>
      </p:nvGrpSpPr>
      <p:grpSpPr>
        <a:xfrm>
          <a:off x="0" y="0"/>
          <a:ext cx="0" cy="0"/>
          <a:chOff x="0" y="0"/>
          <a:chExt cx="0" cy="0"/>
        </a:xfrm>
      </p:grpSpPr>
      <p:sp>
        <p:nvSpPr>
          <p:cNvPr id="665" name="Google Shape;665;p81"/>
          <p:cNvSpPr txBox="1">
            <a:spLocks noGrp="1"/>
          </p:cNvSpPr>
          <p:nvPr>
            <p:ph type="title"/>
          </p:nvPr>
        </p:nvSpPr>
        <p:spPr>
          <a:xfrm>
            <a:off x="102255" y="558800"/>
            <a:ext cx="9746826"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C00000"/>
              </a:buClr>
              <a:buSzPts val="3600"/>
              <a:buFont typeface="Trebuchet MS"/>
              <a:buNone/>
            </a:pPr>
            <a:r>
              <a:rPr lang="en-US">
                <a:solidFill>
                  <a:srgbClr val="C00000"/>
                </a:solidFill>
              </a:rPr>
              <a:t>Skills required to become a Software Tester</a:t>
            </a:r>
            <a:endParaRPr/>
          </a:p>
        </p:txBody>
      </p:sp>
      <p:pic>
        <p:nvPicPr>
          <p:cNvPr id="666" name="Google Shape;666;p81" descr="10 Skills Every Software Tester Should Master | QL Tech, Australia"/>
          <p:cNvPicPr preferRelativeResize="0"/>
          <p:nvPr/>
        </p:nvPicPr>
        <p:blipFill rotWithShape="1">
          <a:blip r:embed="rId3">
            <a:alphaModFix/>
          </a:blip>
          <a:srcRect/>
          <a:stretch/>
        </p:blipFill>
        <p:spPr>
          <a:xfrm>
            <a:off x="447040" y="1317625"/>
            <a:ext cx="8572500" cy="5438775"/>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670"/>
        <p:cNvGrpSpPr/>
        <p:nvPr/>
      </p:nvGrpSpPr>
      <p:grpSpPr>
        <a:xfrm>
          <a:off x="0" y="0"/>
          <a:ext cx="0" cy="0"/>
          <a:chOff x="0" y="0"/>
          <a:chExt cx="0" cy="0"/>
        </a:xfrm>
      </p:grpSpPr>
      <p:sp>
        <p:nvSpPr>
          <p:cNvPr id="671" name="Google Shape;671;p82"/>
          <p:cNvSpPr txBox="1">
            <a:spLocks noGrp="1"/>
          </p:cNvSpPr>
          <p:nvPr>
            <p:ph type="title"/>
          </p:nvPr>
        </p:nvSpPr>
        <p:spPr>
          <a:xfrm>
            <a:off x="179494" y="21336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Software Tester Career Path</a:t>
            </a:r>
            <a:endParaRPr/>
          </a:p>
        </p:txBody>
      </p:sp>
      <p:pic>
        <p:nvPicPr>
          <p:cNvPr id="672" name="Google Shape;672;p82" descr="Software Tester Career Path"/>
          <p:cNvPicPr preferRelativeResize="0"/>
          <p:nvPr/>
        </p:nvPicPr>
        <p:blipFill rotWithShape="1">
          <a:blip r:embed="rId3">
            <a:alphaModFix/>
          </a:blip>
          <a:srcRect/>
          <a:stretch/>
        </p:blipFill>
        <p:spPr>
          <a:xfrm>
            <a:off x="1239520" y="-60960"/>
            <a:ext cx="8229600" cy="6858000"/>
          </a:xfrm>
          <a:prstGeom prst="rect">
            <a:avLst/>
          </a:prstGeom>
          <a:noFill/>
          <a:ln>
            <a:noFill/>
          </a:ln>
        </p:spPr>
      </p:pic>
      <p:pic>
        <p:nvPicPr>
          <p:cNvPr id="673" name="Google Shape;673;p82"/>
          <p:cNvPicPr preferRelativeResize="0"/>
          <p:nvPr/>
        </p:nvPicPr>
        <p:blipFill rotWithShape="1">
          <a:blip r:embed="rId4">
            <a:alphaModFix/>
          </a:blip>
          <a:srcRect/>
          <a:stretch/>
        </p:blipFill>
        <p:spPr>
          <a:xfrm>
            <a:off x="2440305" y="2595562"/>
            <a:ext cx="971550" cy="447675"/>
          </a:xfrm>
          <a:prstGeom prst="rect">
            <a:avLst/>
          </a:prstGeom>
          <a:noFill/>
          <a:ln>
            <a:noFill/>
          </a:ln>
        </p:spPr>
      </p:pic>
      <p:pic>
        <p:nvPicPr>
          <p:cNvPr id="674" name="Google Shape;674;p82"/>
          <p:cNvPicPr preferRelativeResize="0"/>
          <p:nvPr/>
        </p:nvPicPr>
        <p:blipFill rotWithShape="1">
          <a:blip r:embed="rId5">
            <a:alphaModFix/>
          </a:blip>
          <a:srcRect/>
          <a:stretch/>
        </p:blipFill>
        <p:spPr>
          <a:xfrm>
            <a:off x="2383155" y="2595562"/>
            <a:ext cx="1085850" cy="457200"/>
          </a:xfrm>
          <a:prstGeom prst="rect">
            <a:avLst/>
          </a:prstGeom>
          <a:noFill/>
          <a:ln>
            <a:noFill/>
          </a:ln>
        </p:spPr>
      </p:pic>
      <p:pic>
        <p:nvPicPr>
          <p:cNvPr id="675" name="Google Shape;675;p82"/>
          <p:cNvPicPr preferRelativeResize="0"/>
          <p:nvPr/>
        </p:nvPicPr>
        <p:blipFill rotWithShape="1">
          <a:blip r:embed="rId4">
            <a:alphaModFix/>
          </a:blip>
          <a:srcRect/>
          <a:stretch/>
        </p:blipFill>
        <p:spPr>
          <a:xfrm>
            <a:off x="1149985" y="3982086"/>
            <a:ext cx="1290320" cy="447675"/>
          </a:xfrm>
          <a:prstGeom prst="rect">
            <a:avLst/>
          </a:prstGeom>
          <a:noFill/>
          <a:ln>
            <a:noFill/>
          </a:ln>
        </p:spPr>
      </p:pic>
      <p:pic>
        <p:nvPicPr>
          <p:cNvPr id="676" name="Google Shape;676;p82"/>
          <p:cNvPicPr preferRelativeResize="0"/>
          <p:nvPr/>
        </p:nvPicPr>
        <p:blipFill rotWithShape="1">
          <a:blip r:embed="rId4">
            <a:alphaModFix/>
          </a:blip>
          <a:srcRect/>
          <a:stretch/>
        </p:blipFill>
        <p:spPr>
          <a:xfrm>
            <a:off x="1558290" y="4150043"/>
            <a:ext cx="971550" cy="330517"/>
          </a:xfrm>
          <a:prstGeom prst="rect">
            <a:avLst/>
          </a:prstGeom>
          <a:noFill/>
          <a:ln>
            <a:noFill/>
          </a:ln>
        </p:spPr>
      </p:pic>
      <p:pic>
        <p:nvPicPr>
          <p:cNvPr id="677" name="Google Shape;677;p82"/>
          <p:cNvPicPr preferRelativeResize="0"/>
          <p:nvPr/>
        </p:nvPicPr>
        <p:blipFill rotWithShape="1">
          <a:blip r:embed="rId4">
            <a:alphaModFix/>
          </a:blip>
          <a:srcRect/>
          <a:stretch/>
        </p:blipFill>
        <p:spPr>
          <a:xfrm>
            <a:off x="3290570" y="2310447"/>
            <a:ext cx="292735" cy="447675"/>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sp>
        <p:nvSpPr>
          <p:cNvPr id="682" name="Google Shape;682;p83"/>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C00000"/>
              </a:buClr>
              <a:buSzPts val="3600"/>
              <a:buFont typeface="Trebuchet MS"/>
              <a:buNone/>
            </a:pPr>
            <a:r>
              <a:rPr lang="en-US">
                <a:solidFill>
                  <a:srgbClr val="C00000"/>
                </a:solidFill>
              </a:rPr>
              <a:t>Software Methodologies</a:t>
            </a:r>
            <a:endParaRPr/>
          </a:p>
        </p:txBody>
      </p:sp>
      <p:sp>
        <p:nvSpPr>
          <p:cNvPr id="683" name="Google Shape;683;p83"/>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1440"/>
              <a:buNone/>
            </a:pPr>
            <a:r>
              <a:rPr lang="en-US">
                <a:solidFill>
                  <a:srgbClr val="C00000"/>
                </a:solidFill>
              </a:rPr>
              <a:t>Waterfall Model</a:t>
            </a:r>
            <a:endParaRPr/>
          </a:p>
          <a:p>
            <a:pPr marL="342900" lvl="0" indent="-251459" algn="l" rtl="0">
              <a:spcBef>
                <a:spcPts val="1000"/>
              </a:spcBef>
              <a:spcAft>
                <a:spcPts val="0"/>
              </a:spcAft>
              <a:buSzPts val="1440"/>
              <a:buNone/>
            </a:pPr>
            <a:endParaRPr>
              <a:solidFill>
                <a:srgbClr val="C00000"/>
              </a:solidFill>
            </a:endParaRPr>
          </a:p>
        </p:txBody>
      </p:sp>
      <p:pic>
        <p:nvPicPr>
          <p:cNvPr id="684" name="Google Shape;684;p83"/>
          <p:cNvPicPr preferRelativeResize="0"/>
          <p:nvPr/>
        </p:nvPicPr>
        <p:blipFill rotWithShape="1">
          <a:blip r:embed="rId3">
            <a:alphaModFix/>
          </a:blip>
          <a:srcRect/>
          <a:stretch/>
        </p:blipFill>
        <p:spPr>
          <a:xfrm>
            <a:off x="3165224" y="2484377"/>
            <a:ext cx="3248025" cy="3586933"/>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688"/>
        <p:cNvGrpSpPr/>
        <p:nvPr/>
      </p:nvGrpSpPr>
      <p:grpSpPr>
        <a:xfrm>
          <a:off x="0" y="0"/>
          <a:ext cx="0" cy="0"/>
          <a:chOff x="0" y="0"/>
          <a:chExt cx="0" cy="0"/>
        </a:xfrm>
      </p:grpSpPr>
      <p:sp>
        <p:nvSpPr>
          <p:cNvPr id="689" name="Google Shape;689;p84"/>
          <p:cNvSpPr txBox="1">
            <a:spLocks noGrp="1"/>
          </p:cNvSpPr>
          <p:nvPr>
            <p:ph type="body" idx="1"/>
          </p:nvPr>
        </p:nvSpPr>
        <p:spPr>
          <a:xfrm>
            <a:off x="304472" y="1154097"/>
            <a:ext cx="8596668" cy="4887265"/>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1440"/>
              <a:buNone/>
            </a:pPr>
            <a:r>
              <a:rPr lang="en-US">
                <a:solidFill>
                  <a:srgbClr val="C00000"/>
                </a:solidFill>
              </a:rPr>
              <a:t>Agile Methodology</a:t>
            </a:r>
            <a:endParaRPr/>
          </a:p>
          <a:p>
            <a:pPr marL="342900" lvl="0" indent="-251459" algn="l" rtl="0">
              <a:spcBef>
                <a:spcPts val="1000"/>
              </a:spcBef>
              <a:spcAft>
                <a:spcPts val="0"/>
              </a:spcAft>
              <a:buSzPts val="1440"/>
              <a:buNone/>
            </a:pPr>
            <a:endParaRPr/>
          </a:p>
        </p:txBody>
      </p:sp>
      <p:pic>
        <p:nvPicPr>
          <p:cNvPr id="690" name="Google Shape;690;p84"/>
          <p:cNvPicPr preferRelativeResize="0"/>
          <p:nvPr/>
        </p:nvPicPr>
        <p:blipFill rotWithShape="1">
          <a:blip r:embed="rId3">
            <a:alphaModFix/>
          </a:blip>
          <a:srcRect/>
          <a:stretch/>
        </p:blipFill>
        <p:spPr>
          <a:xfrm>
            <a:off x="2796512" y="577049"/>
            <a:ext cx="6729228" cy="5884184"/>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MasterSp="0">
  <p:cSld>
    <p:spTree>
      <p:nvGrpSpPr>
        <p:cNvPr id="1" name="Shape 694"/>
        <p:cNvGrpSpPr/>
        <p:nvPr/>
      </p:nvGrpSpPr>
      <p:grpSpPr>
        <a:xfrm>
          <a:off x="0" y="0"/>
          <a:ext cx="0" cy="0"/>
          <a:chOff x="0" y="0"/>
          <a:chExt cx="0" cy="0"/>
        </a:xfrm>
      </p:grpSpPr>
      <p:sp>
        <p:nvSpPr>
          <p:cNvPr id="695" name="Google Shape;695;p85"/>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endParaRPr/>
          </a:p>
        </p:txBody>
      </p:sp>
      <p:pic>
        <p:nvPicPr>
          <p:cNvPr id="696" name="Google Shape;696;p85" descr="Agile vs Scrum – What's The Difference? | Computer Careers"/>
          <p:cNvPicPr preferRelativeResize="0">
            <a:picLocks noGrp="1"/>
          </p:cNvPicPr>
          <p:nvPr>
            <p:ph type="body" idx="1"/>
          </p:nvPr>
        </p:nvPicPr>
        <p:blipFill rotWithShape="1">
          <a:blip r:embed="rId3">
            <a:alphaModFix/>
          </a:blip>
          <a:srcRect/>
          <a:stretch/>
        </p:blipFill>
        <p:spPr>
          <a:xfrm>
            <a:off x="173075" y="544810"/>
            <a:ext cx="11341591" cy="6313190"/>
          </a:xfrm>
          <a:prstGeom prst="rect">
            <a:avLst/>
          </a:prstGeom>
          <a:noFill/>
          <a:ln>
            <a:noFill/>
          </a:ln>
        </p:spPr>
      </p:pic>
      <p:pic>
        <p:nvPicPr>
          <p:cNvPr id="697" name="Google Shape;697;p85"/>
          <p:cNvPicPr preferRelativeResize="0"/>
          <p:nvPr/>
        </p:nvPicPr>
        <p:blipFill rotWithShape="1">
          <a:blip r:embed="rId4">
            <a:alphaModFix/>
          </a:blip>
          <a:srcRect/>
          <a:stretch/>
        </p:blipFill>
        <p:spPr>
          <a:xfrm>
            <a:off x="1966912" y="52715"/>
            <a:ext cx="6831648" cy="762000"/>
          </a:xfrm>
          <a:prstGeom prst="rect">
            <a:avLst/>
          </a:prstGeom>
          <a:noFill/>
          <a:ln>
            <a:noFill/>
          </a:ln>
        </p:spPr>
      </p:pic>
      <p:sp>
        <p:nvSpPr>
          <p:cNvPr id="698" name="Google Shape;698;p85"/>
          <p:cNvSpPr txBox="1"/>
          <p:nvPr/>
        </p:nvSpPr>
        <p:spPr>
          <a:xfrm>
            <a:off x="2471171" y="180380"/>
            <a:ext cx="8596668" cy="1320800"/>
          </a:xfrm>
          <a:prstGeom prst="rect">
            <a:avLst/>
          </a:prstGeom>
          <a:noFill/>
          <a:ln>
            <a:noFill/>
          </a:ln>
        </p:spPr>
        <p:txBody>
          <a:bodyPr spcFirstLastPara="1" wrap="square" lIns="91425" tIns="45700" rIns="91425" bIns="45700" anchor="t" anchorCtr="0">
            <a:normAutofit/>
          </a:bodyPr>
          <a:lstStyle/>
          <a:p>
            <a:pPr marL="0" marR="0" lvl="0" indent="0" algn="l" rtl="0">
              <a:spcBef>
                <a:spcPts val="0"/>
              </a:spcBef>
              <a:spcAft>
                <a:spcPts val="0"/>
              </a:spcAft>
              <a:buClr>
                <a:srgbClr val="C00000"/>
              </a:buClr>
              <a:buSzPts val="3600"/>
              <a:buFont typeface="Trebuchet MS"/>
              <a:buNone/>
            </a:pPr>
            <a:r>
              <a:rPr lang="en-US" sz="3600" b="1">
                <a:solidFill>
                  <a:srgbClr val="C00000"/>
                </a:solidFill>
                <a:latin typeface="Trebuchet MS"/>
                <a:ea typeface="Trebuchet MS"/>
                <a:cs typeface="Trebuchet MS"/>
                <a:sym typeface="Trebuchet MS"/>
              </a:rPr>
              <a:t>Agile – Scrum Methodology</a:t>
            </a:r>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702"/>
        <p:cNvGrpSpPr/>
        <p:nvPr/>
      </p:nvGrpSpPr>
      <p:grpSpPr>
        <a:xfrm>
          <a:off x="0" y="0"/>
          <a:ext cx="0" cy="0"/>
          <a:chOff x="0" y="0"/>
          <a:chExt cx="0" cy="0"/>
        </a:xfrm>
      </p:grpSpPr>
      <p:sp>
        <p:nvSpPr>
          <p:cNvPr id="703" name="Google Shape;703;p86"/>
          <p:cNvSpPr txBox="1">
            <a:spLocks noGrp="1"/>
          </p:cNvSpPr>
          <p:nvPr>
            <p:ph type="title"/>
          </p:nvPr>
        </p:nvSpPr>
        <p:spPr>
          <a:xfrm>
            <a:off x="677334" y="210104"/>
            <a:ext cx="8596668" cy="819705"/>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0070C0"/>
              </a:buClr>
              <a:buSzPts val="4000"/>
              <a:buFont typeface="Trebuchet MS"/>
              <a:buNone/>
            </a:pPr>
            <a:r>
              <a:rPr lang="en-US" sz="4000" b="1">
                <a:solidFill>
                  <a:srgbClr val="0070C0"/>
                </a:solidFill>
              </a:rPr>
              <a:t>19. Agile</a:t>
            </a:r>
            <a:endParaRPr sz="4000"/>
          </a:p>
        </p:txBody>
      </p:sp>
      <p:sp>
        <p:nvSpPr>
          <p:cNvPr id="704" name="Google Shape;704;p86"/>
          <p:cNvSpPr txBox="1">
            <a:spLocks noGrp="1"/>
          </p:cNvSpPr>
          <p:nvPr>
            <p:ph type="body" idx="1"/>
          </p:nvPr>
        </p:nvSpPr>
        <p:spPr>
          <a:xfrm>
            <a:off x="677334" y="1029809"/>
            <a:ext cx="8596668" cy="5618087"/>
          </a:xfrm>
          <a:prstGeom prst="rect">
            <a:avLst/>
          </a:prstGeom>
          <a:noFill/>
          <a:ln>
            <a:noFill/>
          </a:ln>
        </p:spPr>
        <p:txBody>
          <a:bodyPr spcFirstLastPara="1" wrap="square" lIns="91425" tIns="45700" rIns="91425" bIns="45700" anchor="t" anchorCtr="0">
            <a:normAutofit/>
          </a:bodyPr>
          <a:lstStyle/>
          <a:p>
            <a:pPr marL="342900" lvl="0" indent="-322580" algn="l" rtl="0">
              <a:lnSpc>
                <a:spcPct val="150000"/>
              </a:lnSpc>
              <a:spcBef>
                <a:spcPts val="0"/>
              </a:spcBef>
              <a:spcAft>
                <a:spcPts val="0"/>
              </a:spcAft>
              <a:buSzPts val="320"/>
              <a:buNone/>
            </a:pPr>
            <a:endParaRPr sz="400"/>
          </a:p>
          <a:p>
            <a:pPr marL="342900" lvl="0" indent="-342900" algn="l" rtl="0">
              <a:lnSpc>
                <a:spcPct val="150000"/>
              </a:lnSpc>
              <a:spcBef>
                <a:spcPts val="1000"/>
              </a:spcBef>
              <a:spcAft>
                <a:spcPts val="0"/>
              </a:spcAft>
              <a:buSzPts val="1440"/>
              <a:buChar char="►"/>
            </a:pPr>
            <a:r>
              <a:rPr lang="en-US"/>
              <a:t>It is a </a:t>
            </a:r>
            <a:r>
              <a:rPr lang="en-US" b="1"/>
              <a:t>practice</a:t>
            </a:r>
            <a:r>
              <a:rPr lang="en-US"/>
              <a:t> that promotes </a:t>
            </a:r>
            <a:r>
              <a:rPr lang="en-US" b="1"/>
              <a:t>continuous iteration </a:t>
            </a:r>
            <a:r>
              <a:rPr lang="en-US"/>
              <a:t>of development and testing throughout the software development lifecycle of project.</a:t>
            </a:r>
            <a:endParaRPr/>
          </a:p>
          <a:p>
            <a:pPr marL="342900" lvl="0" indent="-342900" algn="l" rtl="0">
              <a:lnSpc>
                <a:spcPct val="150000"/>
              </a:lnSpc>
              <a:spcBef>
                <a:spcPts val="1000"/>
              </a:spcBef>
              <a:spcAft>
                <a:spcPts val="0"/>
              </a:spcAft>
              <a:buSzPts val="1440"/>
              <a:buChar char="►"/>
            </a:pPr>
            <a:r>
              <a:rPr lang="en-US"/>
              <a:t>Both Dev and testing activities are concurrent unlike Waterfall model.</a:t>
            </a:r>
            <a:endParaRPr/>
          </a:p>
          <a:p>
            <a:pPr marL="342900" lvl="0" indent="-292100" algn="l" rtl="0">
              <a:lnSpc>
                <a:spcPct val="150000"/>
              </a:lnSpc>
              <a:spcBef>
                <a:spcPts val="1000"/>
              </a:spcBef>
              <a:spcAft>
                <a:spcPts val="0"/>
              </a:spcAft>
              <a:buSzPts val="800"/>
              <a:buNone/>
            </a:pPr>
            <a:endParaRPr sz="1000"/>
          </a:p>
          <a:p>
            <a:pPr marL="0" lvl="0" indent="0" algn="l" rtl="0">
              <a:lnSpc>
                <a:spcPct val="150000"/>
              </a:lnSpc>
              <a:spcBef>
                <a:spcPts val="1000"/>
              </a:spcBef>
              <a:spcAft>
                <a:spcPts val="0"/>
              </a:spcAft>
              <a:buSzPts val="1440"/>
              <a:buNone/>
            </a:pPr>
            <a:r>
              <a:rPr lang="en-US" b="1"/>
              <a:t>Agile emphasizes on 4 core values:</a:t>
            </a:r>
            <a:endParaRPr/>
          </a:p>
          <a:p>
            <a:pPr marL="342900" lvl="0" indent="-342900" algn="l" rtl="0">
              <a:lnSpc>
                <a:spcPct val="150000"/>
              </a:lnSpc>
              <a:spcBef>
                <a:spcPts val="1000"/>
              </a:spcBef>
              <a:spcAft>
                <a:spcPts val="0"/>
              </a:spcAft>
              <a:buSzPts val="1440"/>
              <a:buChar char="►"/>
            </a:pPr>
            <a:r>
              <a:rPr lang="en-US"/>
              <a:t>Individual and team interactions over processes and tools</a:t>
            </a:r>
            <a:endParaRPr/>
          </a:p>
          <a:p>
            <a:pPr marL="342900" lvl="0" indent="-342900" algn="l" rtl="0">
              <a:lnSpc>
                <a:spcPct val="150000"/>
              </a:lnSpc>
              <a:spcBef>
                <a:spcPts val="1000"/>
              </a:spcBef>
              <a:spcAft>
                <a:spcPts val="0"/>
              </a:spcAft>
              <a:buSzPts val="1440"/>
              <a:buChar char="►"/>
            </a:pPr>
            <a:r>
              <a:rPr lang="en-US"/>
              <a:t>Working software over comprehensive documentation</a:t>
            </a:r>
            <a:endParaRPr/>
          </a:p>
          <a:p>
            <a:pPr marL="342900" lvl="0" indent="-342900" algn="l" rtl="0">
              <a:lnSpc>
                <a:spcPct val="150000"/>
              </a:lnSpc>
              <a:spcBef>
                <a:spcPts val="1000"/>
              </a:spcBef>
              <a:spcAft>
                <a:spcPts val="0"/>
              </a:spcAft>
              <a:buSzPts val="1440"/>
              <a:buChar char="►"/>
            </a:pPr>
            <a:r>
              <a:rPr lang="en-US"/>
              <a:t>Customer collaboration over contract negotiation</a:t>
            </a:r>
            <a:endParaRPr/>
          </a:p>
          <a:p>
            <a:pPr marL="342900" lvl="0" indent="-342900" algn="l" rtl="0">
              <a:lnSpc>
                <a:spcPct val="150000"/>
              </a:lnSpc>
              <a:spcBef>
                <a:spcPts val="1000"/>
              </a:spcBef>
              <a:spcAft>
                <a:spcPts val="0"/>
              </a:spcAft>
              <a:buSzPts val="1440"/>
              <a:buChar char="►"/>
            </a:pPr>
            <a:r>
              <a:rPr lang="en-US"/>
              <a:t>Responding to change over following a plan</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MasterSp="0">
  <p:cSld>
    <p:spTree>
      <p:nvGrpSpPr>
        <p:cNvPr id="1" name="Shape 708"/>
        <p:cNvGrpSpPr/>
        <p:nvPr/>
      </p:nvGrpSpPr>
      <p:grpSpPr>
        <a:xfrm>
          <a:off x="0" y="0"/>
          <a:ext cx="0" cy="0"/>
          <a:chOff x="0" y="0"/>
          <a:chExt cx="0" cy="0"/>
        </a:xfrm>
      </p:grpSpPr>
      <p:sp>
        <p:nvSpPr>
          <p:cNvPr id="709" name="Google Shape;709;p87"/>
          <p:cNvSpPr txBox="1">
            <a:spLocks noGrp="1"/>
          </p:cNvSpPr>
          <p:nvPr>
            <p:ph type="body" idx="1"/>
          </p:nvPr>
        </p:nvSpPr>
        <p:spPr>
          <a:xfrm>
            <a:off x="901013" y="192840"/>
            <a:ext cx="5306747"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SzPts val="1920"/>
              <a:buNone/>
            </a:pPr>
            <a:r>
              <a:rPr lang="en-US"/>
              <a:t>Agile </a:t>
            </a:r>
            <a:endParaRPr/>
          </a:p>
        </p:txBody>
      </p:sp>
      <p:sp>
        <p:nvSpPr>
          <p:cNvPr id="710" name="Google Shape;710;p87"/>
          <p:cNvSpPr txBox="1">
            <a:spLocks noGrp="1"/>
          </p:cNvSpPr>
          <p:nvPr>
            <p:ph type="body" idx="2"/>
          </p:nvPr>
        </p:nvSpPr>
        <p:spPr>
          <a:xfrm>
            <a:off x="675745" y="1168400"/>
            <a:ext cx="5420255" cy="5506719"/>
          </a:xfrm>
          <a:prstGeom prst="rect">
            <a:avLst/>
          </a:prstGeom>
          <a:noFill/>
          <a:ln>
            <a:noFill/>
          </a:ln>
        </p:spPr>
        <p:txBody>
          <a:bodyPr spcFirstLastPara="1" wrap="square" lIns="91425" tIns="45700" rIns="91425" bIns="45700" anchor="t" anchorCtr="0">
            <a:normAutofit fontScale="85000" lnSpcReduction="10000"/>
          </a:bodyPr>
          <a:lstStyle/>
          <a:p>
            <a:pPr marL="342900" lvl="0" indent="-342900" algn="l" rtl="0">
              <a:lnSpc>
                <a:spcPct val="170000"/>
              </a:lnSpc>
              <a:spcBef>
                <a:spcPts val="0"/>
              </a:spcBef>
              <a:spcAft>
                <a:spcPts val="0"/>
              </a:spcAft>
              <a:buSzPct val="79999"/>
              <a:buChar char="►"/>
            </a:pPr>
            <a:r>
              <a:rPr lang="en-US"/>
              <a:t>Incremental and iterative approach</a:t>
            </a:r>
            <a:endParaRPr/>
          </a:p>
          <a:p>
            <a:pPr marL="342900" lvl="0" indent="-342900" algn="l" rtl="0">
              <a:lnSpc>
                <a:spcPct val="170000"/>
              </a:lnSpc>
              <a:spcBef>
                <a:spcPts val="1000"/>
              </a:spcBef>
              <a:spcAft>
                <a:spcPts val="0"/>
              </a:spcAft>
              <a:buSzPct val="79999"/>
              <a:buChar char="►"/>
            </a:pPr>
            <a:r>
              <a:rPr lang="en-US"/>
              <a:t>It is broken into individual models</a:t>
            </a:r>
            <a:endParaRPr/>
          </a:p>
          <a:p>
            <a:pPr marL="342900" lvl="0" indent="-342900" algn="l" rtl="0">
              <a:lnSpc>
                <a:spcPct val="170000"/>
              </a:lnSpc>
              <a:spcBef>
                <a:spcPts val="1000"/>
              </a:spcBef>
              <a:spcAft>
                <a:spcPts val="0"/>
              </a:spcAft>
              <a:buSzPct val="79999"/>
              <a:buChar char="►"/>
            </a:pPr>
            <a:r>
              <a:rPr lang="en-US"/>
              <a:t>Customer see the product frequently </a:t>
            </a:r>
            <a:r>
              <a:rPr lang="en-US">
                <a:solidFill>
                  <a:schemeClr val="lt1"/>
                </a:solidFill>
              </a:rPr>
              <a:t>---- ------</a:t>
            </a:r>
            <a:r>
              <a:rPr lang="en-US"/>
              <a:t>-can make the changes to the project</a:t>
            </a:r>
            <a:endParaRPr/>
          </a:p>
          <a:p>
            <a:pPr marL="342900" lvl="0" indent="-342900" algn="l" rtl="0">
              <a:lnSpc>
                <a:spcPct val="170000"/>
              </a:lnSpc>
              <a:spcBef>
                <a:spcPts val="1000"/>
              </a:spcBef>
              <a:spcAft>
                <a:spcPts val="0"/>
              </a:spcAft>
              <a:buSzPct val="79999"/>
              <a:buChar char="►"/>
            </a:pPr>
            <a:r>
              <a:rPr lang="en-US"/>
              <a:t>Error can be fixed                                           in middle of the project itself</a:t>
            </a:r>
            <a:endParaRPr/>
          </a:p>
          <a:p>
            <a:pPr marL="342900" lvl="0" indent="-342900" algn="l" rtl="0">
              <a:lnSpc>
                <a:spcPct val="170000"/>
              </a:lnSpc>
              <a:spcBef>
                <a:spcPts val="1000"/>
              </a:spcBef>
              <a:spcAft>
                <a:spcPts val="0"/>
              </a:spcAft>
              <a:buSzPct val="79999"/>
              <a:buChar char="►"/>
            </a:pPr>
            <a:r>
              <a:rPr lang="en-US"/>
              <a:t>Regression testing is implemented in Every Iteration as new functions or logic are released</a:t>
            </a:r>
            <a:endParaRPr/>
          </a:p>
          <a:p>
            <a:pPr marL="342900" lvl="0" indent="-342900" algn="l" rtl="0">
              <a:lnSpc>
                <a:spcPct val="170000"/>
              </a:lnSpc>
              <a:spcBef>
                <a:spcPts val="1000"/>
              </a:spcBef>
              <a:spcAft>
                <a:spcPts val="0"/>
              </a:spcAft>
              <a:buSzPct val="79999"/>
              <a:buChar char="►"/>
            </a:pPr>
            <a:r>
              <a:rPr lang="en-US"/>
              <a:t>Testers and developers work together</a:t>
            </a:r>
            <a:endParaRPr/>
          </a:p>
          <a:p>
            <a:pPr marL="342900" lvl="0" indent="-342900" algn="l" rtl="0">
              <a:lnSpc>
                <a:spcPct val="170000"/>
              </a:lnSpc>
              <a:spcBef>
                <a:spcPts val="1000"/>
              </a:spcBef>
              <a:spcAft>
                <a:spcPts val="0"/>
              </a:spcAft>
              <a:buSzPct val="79999"/>
              <a:buChar char="►"/>
            </a:pPr>
            <a:r>
              <a:rPr lang="en-US"/>
              <a:t>It requires close communication with developers and tester together to analyse requirements and planning</a:t>
            </a:r>
            <a:endParaRPr/>
          </a:p>
        </p:txBody>
      </p:sp>
      <p:sp>
        <p:nvSpPr>
          <p:cNvPr id="711" name="Google Shape;711;p87"/>
          <p:cNvSpPr txBox="1">
            <a:spLocks noGrp="1"/>
          </p:cNvSpPr>
          <p:nvPr>
            <p:ph type="body" idx="3"/>
          </p:nvPr>
        </p:nvSpPr>
        <p:spPr>
          <a:xfrm>
            <a:off x="6096000" y="192840"/>
            <a:ext cx="5547360"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SzPts val="1920"/>
              <a:buNone/>
            </a:pPr>
            <a:r>
              <a:rPr lang="en-US"/>
              <a:t>Waterfall</a:t>
            </a:r>
            <a:endParaRPr/>
          </a:p>
        </p:txBody>
      </p:sp>
      <p:sp>
        <p:nvSpPr>
          <p:cNvPr id="712" name="Google Shape;712;p87"/>
          <p:cNvSpPr txBox="1">
            <a:spLocks noGrp="1"/>
          </p:cNvSpPr>
          <p:nvPr>
            <p:ph type="body" idx="4"/>
          </p:nvPr>
        </p:nvSpPr>
        <p:spPr>
          <a:xfrm>
            <a:off x="6096000" y="1066801"/>
            <a:ext cx="5547360" cy="5720080"/>
          </a:xfrm>
          <a:prstGeom prst="rect">
            <a:avLst/>
          </a:prstGeom>
          <a:noFill/>
          <a:ln>
            <a:noFill/>
          </a:ln>
        </p:spPr>
        <p:txBody>
          <a:bodyPr spcFirstLastPara="1" wrap="square" lIns="91425" tIns="45700" rIns="91425" bIns="45700" anchor="t" anchorCtr="0">
            <a:normAutofit fontScale="92500" lnSpcReduction="20000"/>
          </a:bodyPr>
          <a:lstStyle/>
          <a:p>
            <a:pPr marL="342900" lvl="0" indent="-342900" algn="l" rtl="0">
              <a:lnSpc>
                <a:spcPct val="160000"/>
              </a:lnSpc>
              <a:spcBef>
                <a:spcPts val="0"/>
              </a:spcBef>
              <a:spcAft>
                <a:spcPts val="0"/>
              </a:spcAft>
              <a:buSzPct val="79999"/>
              <a:buChar char="►"/>
            </a:pPr>
            <a:r>
              <a:rPr lang="en-US"/>
              <a:t>Sequential from start to end point</a:t>
            </a:r>
            <a:endParaRPr/>
          </a:p>
          <a:p>
            <a:pPr marL="342900" lvl="0" indent="-342900" algn="l" rtl="0">
              <a:lnSpc>
                <a:spcPct val="160000"/>
              </a:lnSpc>
              <a:spcBef>
                <a:spcPts val="1000"/>
              </a:spcBef>
              <a:spcAft>
                <a:spcPts val="0"/>
              </a:spcAft>
              <a:buSzPct val="79999"/>
              <a:buChar char="►"/>
            </a:pPr>
            <a:r>
              <a:rPr lang="en-US"/>
              <a:t>Not broken into individual</a:t>
            </a:r>
            <a:endParaRPr/>
          </a:p>
          <a:p>
            <a:pPr marL="342900" lvl="0" indent="-342900" algn="l" rtl="0">
              <a:lnSpc>
                <a:spcPct val="160000"/>
              </a:lnSpc>
              <a:spcBef>
                <a:spcPts val="1000"/>
              </a:spcBef>
              <a:spcAft>
                <a:spcPts val="0"/>
              </a:spcAft>
              <a:buSzPct val="79999"/>
              <a:buChar char="►"/>
            </a:pPr>
            <a:r>
              <a:rPr lang="en-US"/>
              <a:t>Customer can only see the product at end of the project</a:t>
            </a:r>
            <a:endParaRPr/>
          </a:p>
          <a:p>
            <a:pPr marL="342900" lvl="0" indent="-342900" algn="l" rtl="0">
              <a:lnSpc>
                <a:spcPct val="160000"/>
              </a:lnSpc>
              <a:spcBef>
                <a:spcPts val="1000"/>
              </a:spcBef>
              <a:spcAft>
                <a:spcPts val="0"/>
              </a:spcAft>
              <a:buSzPct val="79999"/>
              <a:buChar char="►"/>
            </a:pPr>
            <a:r>
              <a:rPr lang="en-US"/>
              <a:t>     Whole product is tested in end.                                                                                                                                                                                                                                                                                  If error is found, the project has to start from the beginning</a:t>
            </a:r>
            <a:endParaRPr/>
          </a:p>
          <a:p>
            <a:pPr marL="342900" lvl="0" indent="-342900" algn="l" rtl="0">
              <a:lnSpc>
                <a:spcPct val="160000"/>
              </a:lnSpc>
              <a:spcBef>
                <a:spcPts val="1000"/>
              </a:spcBef>
              <a:spcAft>
                <a:spcPts val="0"/>
              </a:spcAft>
              <a:buSzPct val="79999"/>
              <a:buChar char="►"/>
            </a:pPr>
            <a:r>
              <a:rPr lang="en-US"/>
              <a:t>Only after the development phase, the testing phase is executed</a:t>
            </a:r>
            <a:endParaRPr/>
          </a:p>
          <a:p>
            <a:pPr marL="342900" lvl="0" indent="-342900" algn="l" rtl="0">
              <a:lnSpc>
                <a:spcPct val="160000"/>
              </a:lnSpc>
              <a:spcBef>
                <a:spcPts val="1000"/>
              </a:spcBef>
              <a:spcAft>
                <a:spcPts val="0"/>
              </a:spcAft>
              <a:buSzPct val="79999"/>
              <a:buChar char="►"/>
            </a:pPr>
            <a:r>
              <a:rPr lang="en-US"/>
              <a:t>Testers and developers work separately </a:t>
            </a:r>
            <a:endParaRPr/>
          </a:p>
          <a:p>
            <a:pPr marL="342900" lvl="0" indent="-342900" algn="l" rtl="0">
              <a:lnSpc>
                <a:spcPct val="160000"/>
              </a:lnSpc>
              <a:spcBef>
                <a:spcPts val="1000"/>
              </a:spcBef>
              <a:spcAft>
                <a:spcPts val="0"/>
              </a:spcAft>
              <a:buSzPct val="79999"/>
              <a:buChar char="►"/>
            </a:pPr>
            <a:r>
              <a:rPr lang="en-US"/>
              <a:t>Developers does not involve in requirement and planning process. Usually, time delays between tests and coding.</a:t>
            </a:r>
            <a:endParaRPr/>
          </a:p>
        </p:txBody>
      </p:sp>
      <p:pic>
        <p:nvPicPr>
          <p:cNvPr id="713" name="Google Shape;713;p87" descr="agile-and-waterfall - RailsCarma - Ruby on Rails Development ..."/>
          <p:cNvPicPr preferRelativeResize="0"/>
          <p:nvPr/>
        </p:nvPicPr>
        <p:blipFill rotWithShape="1">
          <a:blip r:embed="rId3">
            <a:alphaModFix/>
          </a:blip>
          <a:srcRect/>
          <a:stretch/>
        </p:blipFill>
        <p:spPr>
          <a:xfrm>
            <a:off x="4156075" y="2938647"/>
            <a:ext cx="2265045" cy="1308867"/>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1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1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10">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10">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12">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12">
                                            <p:txEl>
                                              <p:pRg st="1" end="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12">
                                            <p:txEl>
                                              <p:pRg st="2" end="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712">
                                            <p:txEl>
                                              <p:pRg st="3" end="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712">
                                            <p:txEl>
                                              <p:pRg st="4" end="4"/>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712">
                                            <p:txEl>
                                              <p:pRg st="5" end="5"/>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71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showMasterSp="0">
  <p:cSld>
    <p:spTree>
      <p:nvGrpSpPr>
        <p:cNvPr id="1" name="Shape 717"/>
        <p:cNvGrpSpPr/>
        <p:nvPr/>
      </p:nvGrpSpPr>
      <p:grpSpPr>
        <a:xfrm>
          <a:off x="0" y="0"/>
          <a:ext cx="0" cy="0"/>
          <a:chOff x="0" y="0"/>
          <a:chExt cx="0" cy="0"/>
        </a:xfrm>
      </p:grpSpPr>
      <p:sp>
        <p:nvSpPr>
          <p:cNvPr id="718" name="Google Shape;718;p88"/>
          <p:cNvSpPr txBox="1">
            <a:spLocks noGrp="1"/>
          </p:cNvSpPr>
          <p:nvPr>
            <p:ph type="body" idx="1"/>
          </p:nvPr>
        </p:nvSpPr>
        <p:spPr>
          <a:xfrm>
            <a:off x="656713" y="429837"/>
            <a:ext cx="5439287"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SzPts val="1920"/>
              <a:buNone/>
            </a:pPr>
            <a:br>
              <a:rPr lang="en-US"/>
            </a:br>
            <a:r>
              <a:rPr lang="en-US"/>
              <a:t>Agile</a:t>
            </a:r>
            <a:endParaRPr/>
          </a:p>
        </p:txBody>
      </p:sp>
      <p:sp>
        <p:nvSpPr>
          <p:cNvPr id="719" name="Google Shape;719;p88"/>
          <p:cNvSpPr txBox="1">
            <a:spLocks noGrp="1"/>
          </p:cNvSpPr>
          <p:nvPr>
            <p:ph type="body" idx="2"/>
          </p:nvPr>
        </p:nvSpPr>
        <p:spPr>
          <a:xfrm>
            <a:off x="656713" y="1105864"/>
            <a:ext cx="5439287" cy="5660696"/>
          </a:xfrm>
          <a:prstGeom prst="rect">
            <a:avLst/>
          </a:prstGeom>
          <a:noFill/>
          <a:ln>
            <a:noFill/>
          </a:ln>
        </p:spPr>
        <p:txBody>
          <a:bodyPr spcFirstLastPara="1" wrap="square" lIns="91425" tIns="45700" rIns="91425" bIns="45700" anchor="t" anchorCtr="0">
            <a:normAutofit/>
          </a:bodyPr>
          <a:lstStyle/>
          <a:p>
            <a:pPr marL="342900" lvl="0" indent="-342900" algn="l" rtl="0">
              <a:lnSpc>
                <a:spcPct val="150000"/>
              </a:lnSpc>
              <a:spcBef>
                <a:spcPts val="0"/>
              </a:spcBef>
              <a:spcAft>
                <a:spcPts val="0"/>
              </a:spcAft>
              <a:buSzPts val="1440"/>
              <a:buChar char="►"/>
            </a:pPr>
            <a:r>
              <a:rPr lang="en-US"/>
              <a:t>At the end of every sprint, UAT is performed</a:t>
            </a:r>
            <a:endParaRPr/>
          </a:p>
          <a:p>
            <a:pPr marL="342900" lvl="0" indent="-342900" algn="l" rtl="0">
              <a:lnSpc>
                <a:spcPct val="150000"/>
              </a:lnSpc>
              <a:spcBef>
                <a:spcPts val="1000"/>
              </a:spcBef>
              <a:spcAft>
                <a:spcPts val="0"/>
              </a:spcAft>
              <a:buSzPts val="1440"/>
              <a:buChar char="►"/>
            </a:pPr>
            <a:r>
              <a:rPr lang="en-US"/>
              <a:t>When an iteration end, Shippable features of the product is delivered to the customer. </a:t>
            </a:r>
            <a:endParaRPr/>
          </a:p>
          <a:p>
            <a:pPr marL="0" lvl="0" indent="0" algn="l" rtl="0">
              <a:lnSpc>
                <a:spcPct val="150000"/>
              </a:lnSpc>
              <a:spcBef>
                <a:spcPts val="1000"/>
              </a:spcBef>
              <a:spcAft>
                <a:spcPts val="0"/>
              </a:spcAft>
              <a:buSzPts val="1440"/>
              <a:buNone/>
            </a:pPr>
            <a:r>
              <a:rPr lang="en-US"/>
              <a:t>	New features are usable right after shipment</a:t>
            </a:r>
            <a:endParaRPr/>
          </a:p>
          <a:p>
            <a:pPr marL="0" lvl="0" indent="0" algn="l" rtl="0">
              <a:lnSpc>
                <a:spcPct val="150000"/>
              </a:lnSpc>
              <a:spcBef>
                <a:spcPts val="1000"/>
              </a:spcBef>
              <a:spcAft>
                <a:spcPts val="0"/>
              </a:spcAft>
              <a:buSzPts val="1440"/>
              <a:buNone/>
            </a:pPr>
            <a:r>
              <a:rPr lang="en-US"/>
              <a:t>	It is useful when you have good              Contact with customers</a:t>
            </a:r>
            <a:endParaRPr/>
          </a:p>
          <a:p>
            <a:pPr marL="342900" lvl="0" indent="-342900" algn="l" rtl="0">
              <a:lnSpc>
                <a:spcPct val="150000"/>
              </a:lnSpc>
              <a:spcBef>
                <a:spcPts val="1000"/>
              </a:spcBef>
              <a:spcAft>
                <a:spcPts val="0"/>
              </a:spcAft>
              <a:buSzPts val="1440"/>
              <a:buChar char="►"/>
            </a:pPr>
            <a:r>
              <a:rPr lang="en-US"/>
              <a:t>Unstructured</a:t>
            </a:r>
            <a:endParaRPr/>
          </a:p>
          <a:p>
            <a:pPr marL="342900" lvl="0" indent="-342900" algn="l" rtl="0">
              <a:lnSpc>
                <a:spcPct val="150000"/>
              </a:lnSpc>
              <a:spcBef>
                <a:spcPts val="1000"/>
              </a:spcBef>
              <a:spcAft>
                <a:spcPts val="0"/>
              </a:spcAft>
              <a:buSzPts val="1440"/>
              <a:buChar char="►"/>
            </a:pPr>
            <a:r>
              <a:rPr lang="en-US"/>
              <a:t>Small projects can be implemented quickly. Large projects is difficult to estimate time</a:t>
            </a:r>
            <a:endParaRPr/>
          </a:p>
          <a:p>
            <a:pPr marL="342900" lvl="0" indent="-342900" algn="l" rtl="0">
              <a:lnSpc>
                <a:spcPct val="150000"/>
              </a:lnSpc>
              <a:spcBef>
                <a:spcPts val="1000"/>
              </a:spcBef>
              <a:spcAft>
                <a:spcPts val="0"/>
              </a:spcAft>
              <a:buSzPts val="1440"/>
              <a:buChar char="►"/>
            </a:pPr>
            <a:r>
              <a:rPr lang="en-US"/>
              <a:t>Documentation attends less priority than software development</a:t>
            </a:r>
            <a:endParaRPr/>
          </a:p>
          <a:p>
            <a:pPr marL="342900" lvl="0" indent="-251459" algn="l" rtl="0">
              <a:lnSpc>
                <a:spcPct val="150000"/>
              </a:lnSpc>
              <a:spcBef>
                <a:spcPts val="1000"/>
              </a:spcBef>
              <a:spcAft>
                <a:spcPts val="0"/>
              </a:spcAft>
              <a:buSzPts val="1440"/>
              <a:buNone/>
            </a:pPr>
            <a:endParaRPr/>
          </a:p>
          <a:p>
            <a:pPr marL="342900" lvl="0" indent="-251459" algn="l" rtl="0">
              <a:lnSpc>
                <a:spcPct val="150000"/>
              </a:lnSpc>
              <a:spcBef>
                <a:spcPts val="1000"/>
              </a:spcBef>
              <a:spcAft>
                <a:spcPts val="0"/>
              </a:spcAft>
              <a:buSzPts val="1440"/>
              <a:buNone/>
            </a:pPr>
            <a:endParaRPr/>
          </a:p>
          <a:p>
            <a:pPr marL="342900" lvl="0" indent="-251459" algn="l" rtl="0">
              <a:lnSpc>
                <a:spcPct val="150000"/>
              </a:lnSpc>
              <a:spcBef>
                <a:spcPts val="1000"/>
              </a:spcBef>
              <a:spcAft>
                <a:spcPts val="0"/>
              </a:spcAft>
              <a:buSzPts val="1440"/>
              <a:buNone/>
            </a:pPr>
            <a:endParaRPr/>
          </a:p>
        </p:txBody>
      </p:sp>
      <p:sp>
        <p:nvSpPr>
          <p:cNvPr id="720" name="Google Shape;720;p88"/>
          <p:cNvSpPr txBox="1">
            <a:spLocks noGrp="1"/>
          </p:cNvSpPr>
          <p:nvPr>
            <p:ph type="body" idx="3"/>
          </p:nvPr>
        </p:nvSpPr>
        <p:spPr>
          <a:xfrm>
            <a:off x="6112634" y="429837"/>
            <a:ext cx="5439287"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SzPts val="1920"/>
              <a:buNone/>
            </a:pPr>
            <a:r>
              <a:rPr lang="en-US"/>
              <a:t>Waterfall</a:t>
            </a:r>
            <a:endParaRPr/>
          </a:p>
        </p:txBody>
      </p:sp>
      <p:sp>
        <p:nvSpPr>
          <p:cNvPr id="721" name="Google Shape;721;p88"/>
          <p:cNvSpPr txBox="1">
            <a:spLocks noGrp="1"/>
          </p:cNvSpPr>
          <p:nvPr>
            <p:ph type="body" idx="4"/>
          </p:nvPr>
        </p:nvSpPr>
        <p:spPr>
          <a:xfrm>
            <a:off x="6096000" y="1105863"/>
            <a:ext cx="5455920" cy="5660696"/>
          </a:xfrm>
          <a:prstGeom prst="rect">
            <a:avLst/>
          </a:prstGeom>
          <a:noFill/>
          <a:ln>
            <a:noFill/>
          </a:ln>
        </p:spPr>
        <p:txBody>
          <a:bodyPr spcFirstLastPara="1" wrap="square" lIns="91425" tIns="45700" rIns="91425" bIns="45700" anchor="t" anchorCtr="0">
            <a:normAutofit lnSpcReduction="10000"/>
          </a:bodyPr>
          <a:lstStyle/>
          <a:p>
            <a:pPr marL="342900" lvl="0" indent="-342900" algn="l" rtl="0">
              <a:lnSpc>
                <a:spcPct val="160000"/>
              </a:lnSpc>
              <a:spcBef>
                <a:spcPts val="0"/>
              </a:spcBef>
              <a:spcAft>
                <a:spcPts val="0"/>
              </a:spcAft>
              <a:buSzPts val="1440"/>
              <a:buChar char="►"/>
            </a:pPr>
            <a:r>
              <a:rPr lang="en-US"/>
              <a:t>At the end of the project only UAT is performed</a:t>
            </a:r>
            <a:endParaRPr/>
          </a:p>
          <a:p>
            <a:pPr marL="342900" lvl="0" indent="-342900" algn="l" rtl="0">
              <a:lnSpc>
                <a:spcPct val="160000"/>
              </a:lnSpc>
              <a:spcBef>
                <a:spcPts val="1000"/>
              </a:spcBef>
              <a:spcAft>
                <a:spcPts val="0"/>
              </a:spcAft>
              <a:buSzPts val="1440"/>
              <a:buChar char="►"/>
            </a:pPr>
            <a:r>
              <a:rPr lang="en-US"/>
              <a:t>All features developed are delivered at once after the long implementation phase.</a:t>
            </a:r>
            <a:endParaRPr/>
          </a:p>
          <a:p>
            <a:pPr marL="342900" lvl="0" indent="-251459" algn="l" rtl="0">
              <a:lnSpc>
                <a:spcPct val="160000"/>
              </a:lnSpc>
              <a:spcBef>
                <a:spcPts val="1000"/>
              </a:spcBef>
              <a:spcAft>
                <a:spcPts val="0"/>
              </a:spcAft>
              <a:buSzPts val="1440"/>
              <a:buNone/>
            </a:pPr>
            <a:endParaRPr/>
          </a:p>
          <a:p>
            <a:pPr marL="0" lvl="0" indent="0" algn="l" rtl="0">
              <a:lnSpc>
                <a:spcPct val="160000"/>
              </a:lnSpc>
              <a:spcBef>
                <a:spcPts val="1000"/>
              </a:spcBef>
              <a:spcAft>
                <a:spcPts val="0"/>
              </a:spcAft>
              <a:buSzPts val="2240"/>
              <a:buNone/>
            </a:pPr>
            <a:endParaRPr sz="2800"/>
          </a:p>
          <a:p>
            <a:pPr marL="342900" lvl="0" indent="-342900" algn="l" rtl="0">
              <a:lnSpc>
                <a:spcPct val="160000"/>
              </a:lnSpc>
              <a:spcBef>
                <a:spcPts val="1000"/>
              </a:spcBef>
              <a:spcAft>
                <a:spcPts val="0"/>
              </a:spcAft>
              <a:buSzPts val="1440"/>
              <a:buChar char="►"/>
            </a:pPr>
            <a:r>
              <a:rPr lang="en-US"/>
              <a:t>Too planned and secured</a:t>
            </a:r>
            <a:endParaRPr/>
          </a:p>
          <a:p>
            <a:pPr marL="342900" lvl="0" indent="-342900" algn="l" rtl="0">
              <a:lnSpc>
                <a:spcPct val="160000"/>
              </a:lnSpc>
              <a:spcBef>
                <a:spcPts val="1000"/>
              </a:spcBef>
              <a:spcAft>
                <a:spcPts val="0"/>
              </a:spcAft>
              <a:buSzPts val="1440"/>
              <a:buChar char="►"/>
            </a:pPr>
            <a:r>
              <a:rPr lang="en-US"/>
              <a:t>All sorts of project can be estimated and completed </a:t>
            </a:r>
            <a:endParaRPr/>
          </a:p>
          <a:p>
            <a:pPr marL="342900" lvl="0" indent="-342900" algn="l" rtl="0">
              <a:lnSpc>
                <a:spcPct val="160000"/>
              </a:lnSpc>
              <a:spcBef>
                <a:spcPts val="1000"/>
              </a:spcBef>
              <a:spcAft>
                <a:spcPts val="0"/>
              </a:spcAft>
              <a:buSzPts val="1440"/>
              <a:buChar char="►"/>
            </a:pPr>
            <a:r>
              <a:rPr lang="en-US"/>
              <a:t>Documentation is a top priority and can even use for upgrade the software with another team</a:t>
            </a:r>
            <a:endParaRPr/>
          </a:p>
          <a:p>
            <a:pPr marL="342900" lvl="0" indent="-251459" algn="l" rtl="0">
              <a:lnSpc>
                <a:spcPct val="160000"/>
              </a:lnSpc>
              <a:spcBef>
                <a:spcPts val="1000"/>
              </a:spcBef>
              <a:spcAft>
                <a:spcPts val="0"/>
              </a:spcAft>
              <a:buSzPts val="1440"/>
              <a:buNone/>
            </a:pPr>
            <a:endParaRPr/>
          </a:p>
          <a:p>
            <a:pPr marL="342900" lvl="0" indent="-251459" algn="l" rtl="0">
              <a:lnSpc>
                <a:spcPct val="160000"/>
              </a:lnSpc>
              <a:spcBef>
                <a:spcPts val="1000"/>
              </a:spcBef>
              <a:spcAft>
                <a:spcPts val="0"/>
              </a:spcAft>
              <a:buSzPts val="1440"/>
              <a:buNone/>
            </a:pPr>
            <a:endParaRPr/>
          </a:p>
          <a:p>
            <a:pPr marL="342900" lvl="0" indent="-251459" algn="l" rtl="0">
              <a:lnSpc>
                <a:spcPct val="160000"/>
              </a:lnSpc>
              <a:spcBef>
                <a:spcPts val="1000"/>
              </a:spcBef>
              <a:spcAft>
                <a:spcPts val="0"/>
              </a:spcAft>
              <a:buSzPts val="1440"/>
              <a:buNone/>
            </a:pPr>
            <a:endParaRPr/>
          </a:p>
        </p:txBody>
      </p:sp>
      <p:pic>
        <p:nvPicPr>
          <p:cNvPr id="722" name="Google Shape;722;p88" descr="agile-and-waterfall - RailsCarma - Ruby on Rails Development ..."/>
          <p:cNvPicPr preferRelativeResize="0"/>
          <p:nvPr/>
        </p:nvPicPr>
        <p:blipFill rotWithShape="1">
          <a:blip r:embed="rId3">
            <a:alphaModFix/>
          </a:blip>
          <a:srcRect/>
          <a:stretch/>
        </p:blipFill>
        <p:spPr>
          <a:xfrm>
            <a:off x="4968875" y="2919715"/>
            <a:ext cx="2051685" cy="118557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2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2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2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2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2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2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21">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21">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21">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719">
                                            <p:txEl>
                                              <p:pRg st="0" end="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719">
                                            <p:txEl>
                                              <p:pRg st="1" end="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719">
                                            <p:txEl>
                                              <p:pRg st="2" end="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719">
                                            <p:txEl>
                                              <p:pRg st="3" end="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719">
                                            <p:txEl>
                                              <p:pRg st="4" end="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719">
                                            <p:txEl>
                                              <p:pRg st="5" end="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719">
                                            <p:txEl>
                                              <p:pRg st="6" end="6"/>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719">
                                            <p:txEl>
                                              <p:pRg st="7" end="7"/>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719">
                                            <p:txEl>
                                              <p:pRg st="8" end="8"/>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71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726"/>
        <p:cNvGrpSpPr/>
        <p:nvPr/>
      </p:nvGrpSpPr>
      <p:grpSpPr>
        <a:xfrm>
          <a:off x="0" y="0"/>
          <a:ext cx="0" cy="0"/>
          <a:chOff x="0" y="0"/>
          <a:chExt cx="0" cy="0"/>
        </a:xfrm>
      </p:grpSpPr>
      <p:sp>
        <p:nvSpPr>
          <p:cNvPr id="727" name="Google Shape;727;p89"/>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endParaRPr/>
          </a:p>
        </p:txBody>
      </p:sp>
      <p:sp>
        <p:nvSpPr>
          <p:cNvPr id="728" name="Google Shape;728;p89"/>
          <p:cNvSpPr txBox="1">
            <a:spLocks noGrp="1"/>
          </p:cNvSpPr>
          <p:nvPr>
            <p:ph type="body" idx="1"/>
          </p:nvPr>
        </p:nvSpPr>
        <p:spPr>
          <a:xfrm>
            <a:off x="675745" y="2160983"/>
            <a:ext cx="4185623" cy="576262"/>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SzPts val="1920"/>
              <a:buNone/>
            </a:pPr>
            <a:endParaRPr/>
          </a:p>
        </p:txBody>
      </p:sp>
      <p:sp>
        <p:nvSpPr>
          <p:cNvPr id="729" name="Google Shape;729;p89"/>
          <p:cNvSpPr txBox="1">
            <a:spLocks noGrp="1"/>
          </p:cNvSpPr>
          <p:nvPr>
            <p:ph type="body" idx="2"/>
          </p:nvPr>
        </p:nvSpPr>
        <p:spPr>
          <a:xfrm>
            <a:off x="675745" y="2737245"/>
            <a:ext cx="4185623" cy="3304117"/>
          </a:xfrm>
          <a:prstGeom prst="rect">
            <a:avLst/>
          </a:prstGeom>
          <a:noFill/>
          <a:ln>
            <a:noFill/>
          </a:ln>
        </p:spPr>
        <p:txBody>
          <a:bodyPr spcFirstLastPara="1" wrap="square" lIns="91425" tIns="45700" rIns="91425" bIns="45700" anchor="t" anchorCtr="0">
            <a:normAutofit/>
          </a:bodyPr>
          <a:lstStyle/>
          <a:p>
            <a:pPr marL="342900" lvl="0" indent="-251459" algn="l" rtl="0">
              <a:spcBef>
                <a:spcPts val="0"/>
              </a:spcBef>
              <a:spcAft>
                <a:spcPts val="0"/>
              </a:spcAft>
              <a:buSzPts val="1440"/>
              <a:buNone/>
            </a:pPr>
            <a:endParaRPr/>
          </a:p>
        </p:txBody>
      </p:sp>
      <p:sp>
        <p:nvSpPr>
          <p:cNvPr id="730" name="Google Shape;730;p89"/>
          <p:cNvSpPr txBox="1">
            <a:spLocks noGrp="1"/>
          </p:cNvSpPr>
          <p:nvPr>
            <p:ph type="body" idx="3"/>
          </p:nvPr>
        </p:nvSpPr>
        <p:spPr>
          <a:xfrm>
            <a:off x="5088383" y="2160983"/>
            <a:ext cx="4185618" cy="576262"/>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SzPts val="1920"/>
              <a:buNone/>
            </a:pPr>
            <a:endParaRPr/>
          </a:p>
        </p:txBody>
      </p:sp>
      <p:sp>
        <p:nvSpPr>
          <p:cNvPr id="731" name="Google Shape;731;p89"/>
          <p:cNvSpPr txBox="1">
            <a:spLocks noGrp="1"/>
          </p:cNvSpPr>
          <p:nvPr>
            <p:ph type="body" idx="4"/>
          </p:nvPr>
        </p:nvSpPr>
        <p:spPr>
          <a:xfrm>
            <a:off x="5088384" y="2737245"/>
            <a:ext cx="4185617" cy="3304117"/>
          </a:xfrm>
          <a:prstGeom prst="rect">
            <a:avLst/>
          </a:prstGeom>
          <a:noFill/>
          <a:ln>
            <a:noFill/>
          </a:ln>
        </p:spPr>
        <p:txBody>
          <a:bodyPr spcFirstLastPara="1" wrap="square" lIns="91425" tIns="45700" rIns="91425" bIns="45700" anchor="t" anchorCtr="0">
            <a:normAutofit/>
          </a:bodyPr>
          <a:lstStyle/>
          <a:p>
            <a:pPr marL="342900" lvl="0" indent="-251459" algn="l" rtl="0">
              <a:spcBef>
                <a:spcPts val="0"/>
              </a:spcBef>
              <a:spcAft>
                <a:spcPts val="0"/>
              </a:spcAft>
              <a:buSzPts val="1440"/>
              <a:buNone/>
            </a:pPr>
            <a:endParaRPr/>
          </a:p>
        </p:txBody>
      </p:sp>
      <p:pic>
        <p:nvPicPr>
          <p:cNvPr id="732" name="Google Shape;732;p89" descr="Agile Scrum Methodology"/>
          <p:cNvPicPr preferRelativeResize="0"/>
          <p:nvPr/>
        </p:nvPicPr>
        <p:blipFill rotWithShape="1">
          <a:blip r:embed="rId3">
            <a:alphaModFix/>
          </a:blip>
          <a:srcRect/>
          <a:stretch/>
        </p:blipFill>
        <p:spPr>
          <a:xfrm>
            <a:off x="330008" y="609600"/>
            <a:ext cx="9144000" cy="5457825"/>
          </a:xfrm>
          <a:prstGeom prst="rect">
            <a:avLst/>
          </a:prstGeom>
          <a:noFill/>
          <a:ln>
            <a:noFill/>
          </a:ln>
        </p:spPr>
      </p:pic>
      <p:sp>
        <p:nvSpPr>
          <p:cNvPr id="733" name="Google Shape;733;p89"/>
          <p:cNvSpPr txBox="1"/>
          <p:nvPr/>
        </p:nvSpPr>
        <p:spPr>
          <a:xfrm>
            <a:off x="2328683" y="5271848"/>
            <a:ext cx="5899083" cy="1230552"/>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Clr>
                <a:schemeClr val="accent1"/>
              </a:buClr>
              <a:buSzPts val="1920"/>
              <a:buFont typeface="Noto Sans Symbols"/>
              <a:buNone/>
            </a:pPr>
            <a:r>
              <a:rPr lang="en-US" sz="2400" b="0">
                <a:solidFill>
                  <a:srgbClr val="3F3F3F"/>
                </a:solidFill>
                <a:latin typeface="Trebuchet MS"/>
                <a:ea typeface="Trebuchet MS"/>
                <a:cs typeface="Trebuchet MS"/>
                <a:sym typeface="Trebuchet MS"/>
              </a:rPr>
              <a:t>Scrum is an agile development method</a:t>
            </a:r>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737"/>
        <p:cNvGrpSpPr/>
        <p:nvPr/>
      </p:nvGrpSpPr>
      <p:grpSpPr>
        <a:xfrm>
          <a:off x="0" y="0"/>
          <a:ext cx="0" cy="0"/>
          <a:chOff x="0" y="0"/>
          <a:chExt cx="0" cy="0"/>
        </a:xfrm>
      </p:grpSpPr>
      <p:sp>
        <p:nvSpPr>
          <p:cNvPr id="738" name="Google Shape;738;p90"/>
          <p:cNvSpPr txBox="1">
            <a:spLocks noGrp="1"/>
          </p:cNvSpPr>
          <p:nvPr>
            <p:ph type="title"/>
          </p:nvPr>
        </p:nvSpPr>
        <p:spPr>
          <a:xfrm>
            <a:off x="677334" y="40641"/>
            <a:ext cx="8596668" cy="75184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C00000"/>
              </a:buClr>
              <a:buSzPts val="3600"/>
              <a:buFont typeface="Trebuchet MS"/>
              <a:buNone/>
            </a:pPr>
            <a:r>
              <a:rPr lang="en-US">
                <a:solidFill>
                  <a:srgbClr val="C00000"/>
                </a:solidFill>
              </a:rPr>
              <a:t>Scrum Framework</a:t>
            </a:r>
            <a:endParaRPr/>
          </a:p>
        </p:txBody>
      </p:sp>
      <p:pic>
        <p:nvPicPr>
          <p:cNvPr id="739" name="Google Shape;739;p90" descr="Agile Team - Buy this stock vector and explore similar vectors at ..."/>
          <p:cNvPicPr preferRelativeResize="0"/>
          <p:nvPr/>
        </p:nvPicPr>
        <p:blipFill rotWithShape="1">
          <a:blip r:embed="rId3">
            <a:alphaModFix/>
          </a:blip>
          <a:srcRect/>
          <a:stretch/>
        </p:blipFill>
        <p:spPr>
          <a:xfrm>
            <a:off x="1056207" y="1183474"/>
            <a:ext cx="7840980" cy="5629824"/>
          </a:xfrm>
          <a:prstGeom prst="rect">
            <a:avLst/>
          </a:prstGeom>
          <a:noFill/>
          <a:ln>
            <a:noFill/>
          </a:ln>
        </p:spPr>
      </p:pic>
      <p:pic>
        <p:nvPicPr>
          <p:cNvPr id="740" name="Google Shape;740;p90"/>
          <p:cNvPicPr preferRelativeResize="0"/>
          <p:nvPr/>
        </p:nvPicPr>
        <p:blipFill rotWithShape="1">
          <a:blip r:embed="rId4">
            <a:alphaModFix/>
          </a:blip>
          <a:srcRect/>
          <a:stretch/>
        </p:blipFill>
        <p:spPr>
          <a:xfrm>
            <a:off x="7441797" y="1392858"/>
            <a:ext cx="1387244" cy="2132661"/>
          </a:xfrm>
          <a:prstGeom prst="rect">
            <a:avLst/>
          </a:prstGeom>
          <a:noFill/>
          <a:ln>
            <a:noFill/>
          </a:ln>
        </p:spPr>
      </p:pic>
      <p:pic>
        <p:nvPicPr>
          <p:cNvPr id="741" name="Google Shape;741;p90"/>
          <p:cNvPicPr preferRelativeResize="0"/>
          <p:nvPr/>
        </p:nvPicPr>
        <p:blipFill rotWithShape="1">
          <a:blip r:embed="rId4">
            <a:alphaModFix/>
          </a:blip>
          <a:srcRect/>
          <a:stretch/>
        </p:blipFill>
        <p:spPr>
          <a:xfrm>
            <a:off x="6096000" y="1298078"/>
            <a:ext cx="1387244" cy="2302979"/>
          </a:xfrm>
          <a:prstGeom prst="rect">
            <a:avLst/>
          </a:prstGeom>
          <a:noFill/>
          <a:ln>
            <a:noFill/>
          </a:ln>
        </p:spPr>
      </p:pic>
      <p:pic>
        <p:nvPicPr>
          <p:cNvPr id="742" name="Google Shape;742;p90"/>
          <p:cNvPicPr preferRelativeResize="0"/>
          <p:nvPr/>
        </p:nvPicPr>
        <p:blipFill rotWithShape="1">
          <a:blip r:embed="rId5">
            <a:alphaModFix/>
          </a:blip>
          <a:srcRect/>
          <a:stretch/>
        </p:blipFill>
        <p:spPr>
          <a:xfrm>
            <a:off x="6807623" y="1222679"/>
            <a:ext cx="1533525" cy="2152650"/>
          </a:xfrm>
          <a:prstGeom prst="rect">
            <a:avLst/>
          </a:prstGeom>
          <a:noFill/>
          <a:ln>
            <a:noFill/>
          </a:ln>
        </p:spPr>
      </p:pic>
      <p:pic>
        <p:nvPicPr>
          <p:cNvPr id="743" name="Google Shape;743;p90"/>
          <p:cNvPicPr preferRelativeResize="0"/>
          <p:nvPr/>
        </p:nvPicPr>
        <p:blipFill rotWithShape="1">
          <a:blip r:embed="rId4">
            <a:alphaModFix/>
          </a:blip>
          <a:srcRect/>
          <a:stretch/>
        </p:blipFill>
        <p:spPr>
          <a:xfrm>
            <a:off x="3037840" y="3429000"/>
            <a:ext cx="1387244" cy="797560"/>
          </a:xfrm>
          <a:prstGeom prst="rect">
            <a:avLst/>
          </a:prstGeom>
          <a:noFill/>
          <a:ln>
            <a:noFill/>
          </a:ln>
        </p:spPr>
      </p:pic>
      <p:pic>
        <p:nvPicPr>
          <p:cNvPr id="744" name="Google Shape;744;p90"/>
          <p:cNvPicPr preferRelativeResize="0"/>
          <p:nvPr/>
        </p:nvPicPr>
        <p:blipFill rotWithShape="1">
          <a:blip r:embed="rId4">
            <a:alphaModFix/>
          </a:blip>
          <a:srcRect/>
          <a:stretch/>
        </p:blipFill>
        <p:spPr>
          <a:xfrm>
            <a:off x="4282046" y="3601058"/>
            <a:ext cx="1387244" cy="483262"/>
          </a:xfrm>
          <a:prstGeom prst="rect">
            <a:avLst/>
          </a:prstGeom>
          <a:noFill/>
          <a:ln>
            <a:noFill/>
          </a:ln>
        </p:spPr>
      </p:pic>
      <p:pic>
        <p:nvPicPr>
          <p:cNvPr id="745" name="Google Shape;745;p90"/>
          <p:cNvPicPr preferRelativeResize="0"/>
          <p:nvPr/>
        </p:nvPicPr>
        <p:blipFill rotWithShape="1">
          <a:blip r:embed="rId6">
            <a:alphaModFix/>
          </a:blip>
          <a:srcRect/>
          <a:stretch/>
        </p:blipFill>
        <p:spPr>
          <a:xfrm>
            <a:off x="6841615" y="1364765"/>
            <a:ext cx="1981200" cy="2302979"/>
          </a:xfrm>
          <a:prstGeom prst="rect">
            <a:avLst/>
          </a:prstGeom>
          <a:noFill/>
          <a:ln>
            <a:noFill/>
          </a:ln>
        </p:spPr>
      </p:pic>
      <p:pic>
        <p:nvPicPr>
          <p:cNvPr id="746" name="Google Shape;746;p90"/>
          <p:cNvPicPr preferRelativeResize="0"/>
          <p:nvPr/>
        </p:nvPicPr>
        <p:blipFill rotWithShape="1">
          <a:blip r:embed="rId4">
            <a:alphaModFix/>
          </a:blip>
          <a:srcRect/>
          <a:stretch/>
        </p:blipFill>
        <p:spPr>
          <a:xfrm>
            <a:off x="3872893" y="1222679"/>
            <a:ext cx="2366129" cy="2302979"/>
          </a:xfrm>
          <a:prstGeom prst="rect">
            <a:avLst/>
          </a:prstGeom>
          <a:noFill/>
          <a:ln>
            <a:noFill/>
          </a:ln>
        </p:spPr>
      </p:pic>
      <p:pic>
        <p:nvPicPr>
          <p:cNvPr id="747" name="Google Shape;747;p90"/>
          <p:cNvPicPr preferRelativeResize="0"/>
          <p:nvPr/>
        </p:nvPicPr>
        <p:blipFill rotWithShape="1">
          <a:blip r:embed="rId5">
            <a:alphaModFix/>
          </a:blip>
          <a:srcRect/>
          <a:stretch/>
        </p:blipFill>
        <p:spPr>
          <a:xfrm>
            <a:off x="3836125" y="1412760"/>
            <a:ext cx="1533525" cy="2152650"/>
          </a:xfrm>
          <a:prstGeom prst="rect">
            <a:avLst/>
          </a:prstGeom>
          <a:noFill/>
          <a:ln>
            <a:noFill/>
          </a:ln>
        </p:spPr>
      </p:pic>
      <p:pic>
        <p:nvPicPr>
          <p:cNvPr id="748" name="Google Shape;748;p90" descr="Double Ended Arrow Icons - Download Free Vector Icons | Noun Project"/>
          <p:cNvPicPr preferRelativeResize="0"/>
          <p:nvPr/>
        </p:nvPicPr>
        <p:blipFill rotWithShape="1">
          <a:blip r:embed="rId7">
            <a:alphaModFix/>
          </a:blip>
          <a:srcRect/>
          <a:stretch/>
        </p:blipFill>
        <p:spPr>
          <a:xfrm>
            <a:off x="5418790" y="1751928"/>
            <a:ext cx="1015742" cy="1015742"/>
          </a:xfrm>
          <a:prstGeom prst="rect">
            <a:avLst/>
          </a:prstGeom>
          <a:noFill/>
          <a:ln>
            <a:noFill/>
          </a:ln>
        </p:spPr>
      </p:pic>
      <p:pic>
        <p:nvPicPr>
          <p:cNvPr id="749" name="Google Shape;749;p90" descr="Double Ended Arrow Icons - Download Free Vector Icons | Noun Project"/>
          <p:cNvPicPr preferRelativeResize="0"/>
          <p:nvPr/>
        </p:nvPicPr>
        <p:blipFill rotWithShape="1">
          <a:blip r:embed="rId7">
            <a:alphaModFix/>
          </a:blip>
          <a:srcRect/>
          <a:stretch/>
        </p:blipFill>
        <p:spPr>
          <a:xfrm rot="-1742123">
            <a:off x="3002540" y="2137716"/>
            <a:ext cx="1015742" cy="1015742"/>
          </a:xfrm>
          <a:prstGeom prst="rect">
            <a:avLst/>
          </a:prstGeom>
          <a:noFill/>
          <a:ln>
            <a:noFill/>
          </a:ln>
        </p:spPr>
      </p:pic>
      <p:pic>
        <p:nvPicPr>
          <p:cNvPr id="750" name="Google Shape;750;p90" descr="Double Ended Arrow Icons - Download Free Vector Icons | Noun Project"/>
          <p:cNvPicPr preferRelativeResize="0"/>
          <p:nvPr/>
        </p:nvPicPr>
        <p:blipFill rotWithShape="1">
          <a:blip r:embed="rId7">
            <a:alphaModFix/>
          </a:blip>
          <a:srcRect/>
          <a:stretch/>
        </p:blipFill>
        <p:spPr>
          <a:xfrm rot="2151184">
            <a:off x="2410127" y="4104269"/>
            <a:ext cx="1015742" cy="1015742"/>
          </a:xfrm>
          <a:prstGeom prst="rect">
            <a:avLst/>
          </a:prstGeom>
          <a:noFill/>
          <a:ln>
            <a:noFill/>
          </a:ln>
        </p:spPr>
      </p:pic>
      <p:pic>
        <p:nvPicPr>
          <p:cNvPr id="751" name="Google Shape;751;p90"/>
          <p:cNvPicPr preferRelativeResize="0"/>
          <p:nvPr/>
        </p:nvPicPr>
        <p:blipFill rotWithShape="1">
          <a:blip r:embed="rId4">
            <a:alphaModFix/>
          </a:blip>
          <a:srcRect/>
          <a:stretch/>
        </p:blipFill>
        <p:spPr>
          <a:xfrm>
            <a:off x="7550583" y="6526683"/>
            <a:ext cx="1387244" cy="284450"/>
          </a:xfrm>
          <a:prstGeom prst="rect">
            <a:avLst/>
          </a:prstGeom>
          <a:noFill/>
          <a:ln>
            <a:noFill/>
          </a:ln>
        </p:spPr>
      </p:pic>
      <p:pic>
        <p:nvPicPr>
          <p:cNvPr id="752" name="Google Shape;752;p90" descr="Double Ended Arrow Icons - Download Free Vector Icons | Noun Project"/>
          <p:cNvPicPr preferRelativeResize="0"/>
          <p:nvPr/>
        </p:nvPicPr>
        <p:blipFill rotWithShape="1">
          <a:blip r:embed="rId7">
            <a:alphaModFix/>
          </a:blip>
          <a:srcRect/>
          <a:stretch/>
        </p:blipFill>
        <p:spPr>
          <a:xfrm>
            <a:off x="6789722" y="4825881"/>
            <a:ext cx="724911" cy="1015742"/>
          </a:xfrm>
          <a:prstGeom prst="rect">
            <a:avLst/>
          </a:prstGeom>
          <a:noFill/>
          <a:ln>
            <a:noFill/>
          </a:ln>
        </p:spPr>
      </p:pic>
      <p:pic>
        <p:nvPicPr>
          <p:cNvPr id="753" name="Google Shape;753;p90"/>
          <p:cNvPicPr preferRelativeResize="0"/>
          <p:nvPr/>
        </p:nvPicPr>
        <p:blipFill rotWithShape="1">
          <a:blip r:embed="rId4">
            <a:alphaModFix/>
          </a:blip>
          <a:srcRect/>
          <a:stretch/>
        </p:blipFill>
        <p:spPr>
          <a:xfrm>
            <a:off x="6598956" y="4068698"/>
            <a:ext cx="3072925" cy="2530107"/>
          </a:xfrm>
          <a:prstGeom prst="rect">
            <a:avLst/>
          </a:prstGeom>
          <a:noFill/>
          <a:ln>
            <a:noFill/>
          </a:ln>
        </p:spPr>
      </p:pic>
      <p:pic>
        <p:nvPicPr>
          <p:cNvPr id="754" name="Google Shape;754;p90" descr="What does it mean to be truly AGILE in product development? &gt; HD Blog"/>
          <p:cNvPicPr preferRelativeResize="0"/>
          <p:nvPr/>
        </p:nvPicPr>
        <p:blipFill rotWithShape="1">
          <a:blip r:embed="rId8">
            <a:alphaModFix/>
          </a:blip>
          <a:srcRect/>
          <a:stretch/>
        </p:blipFill>
        <p:spPr>
          <a:xfrm>
            <a:off x="3278134" y="3634528"/>
            <a:ext cx="3331182" cy="2811528"/>
          </a:xfrm>
          <a:prstGeom prst="rect">
            <a:avLst/>
          </a:prstGeom>
          <a:noFill/>
          <a:ln>
            <a:noFill/>
          </a:ln>
        </p:spPr>
      </p:pic>
      <p:pic>
        <p:nvPicPr>
          <p:cNvPr id="755" name="Google Shape;755;p90"/>
          <p:cNvPicPr preferRelativeResize="0"/>
          <p:nvPr/>
        </p:nvPicPr>
        <p:blipFill rotWithShape="1">
          <a:blip r:embed="rId9">
            <a:alphaModFix/>
          </a:blip>
          <a:srcRect/>
          <a:stretch/>
        </p:blipFill>
        <p:spPr>
          <a:xfrm>
            <a:off x="7225397" y="4007444"/>
            <a:ext cx="2669633" cy="2592444"/>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759"/>
        <p:cNvGrpSpPr/>
        <p:nvPr/>
      </p:nvGrpSpPr>
      <p:grpSpPr>
        <a:xfrm>
          <a:off x="0" y="0"/>
          <a:ext cx="0" cy="0"/>
          <a:chOff x="0" y="0"/>
          <a:chExt cx="0" cy="0"/>
        </a:xfrm>
      </p:grpSpPr>
      <p:sp>
        <p:nvSpPr>
          <p:cNvPr id="760" name="Google Shape;760;p91"/>
          <p:cNvSpPr txBox="1">
            <a:spLocks noGrp="1"/>
          </p:cNvSpPr>
          <p:nvPr>
            <p:ph type="title"/>
          </p:nvPr>
        </p:nvSpPr>
        <p:spPr>
          <a:xfrm>
            <a:off x="720052" y="2540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7E6FEB"/>
              </a:buClr>
              <a:buSzPts val="3600"/>
              <a:buFont typeface="Trebuchet MS"/>
              <a:buNone/>
            </a:pPr>
            <a:r>
              <a:rPr lang="en-US">
                <a:solidFill>
                  <a:srgbClr val="7E6FEB"/>
                </a:solidFill>
              </a:rPr>
              <a:t>1. Roles</a:t>
            </a:r>
            <a:endParaRPr/>
          </a:p>
        </p:txBody>
      </p:sp>
      <p:pic>
        <p:nvPicPr>
          <p:cNvPr id="761" name="Google Shape;761;p91"/>
          <p:cNvPicPr preferRelativeResize="0">
            <a:picLocks noGrp="1"/>
          </p:cNvPicPr>
          <p:nvPr>
            <p:ph type="body" idx="1"/>
          </p:nvPr>
        </p:nvPicPr>
        <p:blipFill rotWithShape="1">
          <a:blip r:embed="rId3">
            <a:alphaModFix/>
          </a:blip>
          <a:srcRect/>
          <a:stretch/>
        </p:blipFill>
        <p:spPr>
          <a:xfrm>
            <a:off x="720052" y="1635760"/>
            <a:ext cx="9204960" cy="4683760"/>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765"/>
        <p:cNvGrpSpPr/>
        <p:nvPr/>
      </p:nvGrpSpPr>
      <p:grpSpPr>
        <a:xfrm>
          <a:off x="0" y="0"/>
          <a:ext cx="0" cy="0"/>
          <a:chOff x="0" y="0"/>
          <a:chExt cx="0" cy="0"/>
        </a:xfrm>
      </p:grpSpPr>
      <p:sp>
        <p:nvSpPr>
          <p:cNvPr id="766" name="Google Shape;766;p92"/>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Role: 1</a:t>
            </a:r>
            <a:br>
              <a:rPr lang="en-US"/>
            </a:br>
            <a:r>
              <a:rPr lang="en-US"/>
              <a:t>	</a:t>
            </a:r>
            <a:r>
              <a:rPr lang="en-US">
                <a:solidFill>
                  <a:srgbClr val="C00000"/>
                </a:solidFill>
              </a:rPr>
              <a:t>Scrum master</a:t>
            </a:r>
            <a:endParaRPr/>
          </a:p>
        </p:txBody>
      </p:sp>
      <p:pic>
        <p:nvPicPr>
          <p:cNvPr id="767" name="Google Shape;767;p92" descr="Working as a Scrum Master - Naukri Engineering"/>
          <p:cNvPicPr preferRelativeResize="0"/>
          <p:nvPr/>
        </p:nvPicPr>
        <p:blipFill rotWithShape="1">
          <a:blip r:embed="rId3">
            <a:alphaModFix/>
          </a:blip>
          <a:srcRect/>
          <a:stretch/>
        </p:blipFill>
        <p:spPr>
          <a:xfrm>
            <a:off x="4439920" y="609600"/>
            <a:ext cx="7498080" cy="5266265"/>
          </a:xfrm>
          <a:prstGeom prst="rect">
            <a:avLst/>
          </a:prstGeom>
          <a:noFill/>
          <a:ln>
            <a:noFill/>
          </a:ln>
        </p:spPr>
      </p:pic>
      <p:sp>
        <p:nvSpPr>
          <p:cNvPr id="768" name="Google Shape;768;p92"/>
          <p:cNvSpPr txBox="1"/>
          <p:nvPr/>
        </p:nvSpPr>
        <p:spPr>
          <a:xfrm>
            <a:off x="525588" y="2397760"/>
            <a:ext cx="8900160" cy="4104640"/>
          </a:xfrm>
          <a:prstGeom prst="rect">
            <a:avLst/>
          </a:prstGeom>
          <a:noFill/>
          <a:ln>
            <a:noFill/>
          </a:ln>
        </p:spPr>
        <p:txBody>
          <a:bodyPr spcFirstLastPara="1" wrap="square" lIns="91425" tIns="45700" rIns="91425" bIns="45700" anchor="t" anchorCtr="0">
            <a:normAutofit/>
          </a:bodyPr>
          <a:lstStyle/>
          <a:p>
            <a:pPr marL="0" marR="0" lvl="0" indent="0" algn="l" rtl="0">
              <a:lnSpc>
                <a:spcPct val="150000"/>
              </a:lnSpc>
              <a:spcBef>
                <a:spcPts val="0"/>
              </a:spcBef>
              <a:spcAft>
                <a:spcPts val="0"/>
              </a:spcAft>
              <a:buClr>
                <a:schemeClr val="accent1"/>
              </a:buClr>
              <a:buSzPts val="1440"/>
              <a:buFont typeface="Noto Sans Symbols"/>
              <a:buNone/>
            </a:pPr>
            <a:r>
              <a:rPr lang="en-US" sz="1800" u="sng">
                <a:solidFill>
                  <a:srgbClr val="3F3F3F"/>
                </a:solidFill>
                <a:latin typeface="Trebuchet MS"/>
                <a:ea typeface="Trebuchet MS"/>
                <a:cs typeface="Trebuchet MS"/>
                <a:sym typeface="Trebuchet MS"/>
              </a:rPr>
              <a:t>Responsibilities</a:t>
            </a:r>
            <a:endParaRPr/>
          </a:p>
          <a:p>
            <a:pPr marL="0" marR="0" lvl="0" indent="0" algn="l" rtl="0">
              <a:lnSpc>
                <a:spcPct val="150000"/>
              </a:lnSpc>
              <a:spcBef>
                <a:spcPts val="1000"/>
              </a:spcBef>
              <a:spcAft>
                <a:spcPts val="0"/>
              </a:spcAft>
              <a:buClr>
                <a:schemeClr val="accent1"/>
              </a:buClr>
              <a:buSzPts val="840"/>
              <a:buFont typeface="Noto Sans Symbols"/>
              <a:buNone/>
            </a:pPr>
            <a:endParaRPr sz="1050">
              <a:solidFill>
                <a:srgbClr val="3F3F3F"/>
              </a:solidFill>
              <a:latin typeface="Trebuchet MS"/>
              <a:ea typeface="Trebuchet MS"/>
              <a:cs typeface="Trebuchet MS"/>
              <a:sym typeface="Trebuchet MS"/>
            </a:endParaRPr>
          </a:p>
          <a:p>
            <a:pPr marL="342900" marR="0" lvl="0" indent="-342900" algn="l" rtl="0">
              <a:lnSpc>
                <a:spcPct val="150000"/>
              </a:lnSpc>
              <a:spcBef>
                <a:spcPts val="1000"/>
              </a:spcBef>
              <a:spcAft>
                <a:spcPts val="0"/>
              </a:spcAft>
              <a:buClr>
                <a:schemeClr val="accent1"/>
              </a:buClr>
              <a:buSzPts val="1440"/>
              <a:buFont typeface="Noto Sans Symbols"/>
              <a:buChar char="►"/>
            </a:pPr>
            <a:r>
              <a:rPr lang="en-US" sz="1800">
                <a:solidFill>
                  <a:srgbClr val="3F3F3F"/>
                </a:solidFill>
                <a:latin typeface="Trebuchet MS"/>
                <a:ea typeface="Trebuchet MS"/>
                <a:cs typeface="Trebuchet MS"/>
                <a:sym typeface="Trebuchet MS"/>
              </a:rPr>
              <a:t>1. He setting up the team and look after the team’s productivity</a:t>
            </a:r>
            <a:endParaRPr/>
          </a:p>
          <a:p>
            <a:pPr marL="342900" marR="0" lvl="0" indent="-342900" algn="l" rtl="0">
              <a:lnSpc>
                <a:spcPct val="150000"/>
              </a:lnSpc>
              <a:spcBef>
                <a:spcPts val="1000"/>
              </a:spcBef>
              <a:spcAft>
                <a:spcPts val="0"/>
              </a:spcAft>
              <a:buClr>
                <a:schemeClr val="accent1"/>
              </a:buClr>
              <a:buSzPts val="1440"/>
              <a:buFont typeface="Noto Sans Symbols"/>
              <a:buChar char="►"/>
            </a:pPr>
            <a:r>
              <a:rPr lang="en-US" sz="1800">
                <a:solidFill>
                  <a:srgbClr val="3F3F3F"/>
                </a:solidFill>
                <a:latin typeface="Trebuchet MS"/>
                <a:ea typeface="Trebuchet MS"/>
                <a:cs typeface="Trebuchet MS"/>
                <a:sym typeface="Trebuchet MS"/>
              </a:rPr>
              <a:t>2. Invites to the daily scrum, sprint meetings</a:t>
            </a:r>
            <a:endParaRPr/>
          </a:p>
          <a:p>
            <a:pPr marL="342900" marR="0" lvl="0" indent="-342900" algn="l" rtl="0">
              <a:lnSpc>
                <a:spcPct val="150000"/>
              </a:lnSpc>
              <a:spcBef>
                <a:spcPts val="1000"/>
              </a:spcBef>
              <a:spcAft>
                <a:spcPts val="0"/>
              </a:spcAft>
              <a:buClr>
                <a:schemeClr val="accent1"/>
              </a:buClr>
              <a:buSzPts val="1440"/>
              <a:buFont typeface="Noto Sans Symbols"/>
              <a:buChar char="►"/>
            </a:pPr>
            <a:r>
              <a:rPr lang="en-US" sz="1800">
                <a:solidFill>
                  <a:srgbClr val="3F3F3F"/>
                </a:solidFill>
                <a:latin typeface="Trebuchet MS"/>
                <a:ea typeface="Trebuchet MS"/>
                <a:cs typeface="Trebuchet MS"/>
                <a:sym typeface="Trebuchet MS"/>
              </a:rPr>
              <a:t>3. Removing obstacles to progress</a:t>
            </a:r>
            <a:endParaRPr/>
          </a:p>
          <a:p>
            <a:pPr marL="342900" marR="0" lvl="0" indent="-342900" algn="l" rtl="0">
              <a:lnSpc>
                <a:spcPct val="150000"/>
              </a:lnSpc>
              <a:spcBef>
                <a:spcPts val="1000"/>
              </a:spcBef>
              <a:spcAft>
                <a:spcPts val="0"/>
              </a:spcAft>
              <a:buClr>
                <a:schemeClr val="accent1"/>
              </a:buClr>
              <a:buSzPts val="1440"/>
              <a:buFont typeface="Noto Sans Symbols"/>
              <a:buChar char="►"/>
            </a:pPr>
            <a:r>
              <a:rPr lang="en-US" sz="1800">
                <a:solidFill>
                  <a:srgbClr val="3F3F3F"/>
                </a:solidFill>
                <a:latin typeface="Trebuchet MS"/>
                <a:ea typeface="Trebuchet MS"/>
                <a:cs typeface="Trebuchet MS"/>
                <a:sym typeface="Trebuchet MS"/>
              </a:rPr>
              <a:t>4. Coordinates with all roles and functions</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772"/>
        <p:cNvGrpSpPr/>
        <p:nvPr/>
      </p:nvGrpSpPr>
      <p:grpSpPr>
        <a:xfrm>
          <a:off x="0" y="0"/>
          <a:ext cx="0" cy="0"/>
          <a:chOff x="0" y="0"/>
          <a:chExt cx="0" cy="0"/>
        </a:xfrm>
      </p:grpSpPr>
      <p:sp>
        <p:nvSpPr>
          <p:cNvPr id="773" name="Google Shape;773;p93"/>
          <p:cNvSpPr txBox="1">
            <a:spLocks noGrp="1"/>
          </p:cNvSpPr>
          <p:nvPr>
            <p:ph type="title"/>
          </p:nvPr>
        </p:nvSpPr>
        <p:spPr>
          <a:xfrm>
            <a:off x="583066" y="157113"/>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Role: 2</a:t>
            </a:r>
            <a:br>
              <a:rPr lang="en-US"/>
            </a:br>
            <a:r>
              <a:rPr lang="en-US"/>
              <a:t>	</a:t>
            </a:r>
            <a:r>
              <a:rPr lang="en-US">
                <a:solidFill>
                  <a:srgbClr val="C00000"/>
                </a:solidFill>
              </a:rPr>
              <a:t>Product</a:t>
            </a:r>
            <a:r>
              <a:rPr lang="en-US"/>
              <a:t> </a:t>
            </a:r>
            <a:r>
              <a:rPr lang="en-US">
                <a:solidFill>
                  <a:srgbClr val="C00000"/>
                </a:solidFill>
              </a:rPr>
              <a:t>Owner</a:t>
            </a:r>
            <a:endParaRPr/>
          </a:p>
        </p:txBody>
      </p:sp>
      <p:sp>
        <p:nvSpPr>
          <p:cNvPr id="774" name="Google Shape;774;p93"/>
          <p:cNvSpPr txBox="1">
            <a:spLocks noGrp="1"/>
          </p:cNvSpPr>
          <p:nvPr>
            <p:ph type="body" idx="1"/>
          </p:nvPr>
        </p:nvSpPr>
        <p:spPr>
          <a:xfrm>
            <a:off x="677334" y="2982465"/>
            <a:ext cx="8596668" cy="3890271"/>
          </a:xfrm>
          <a:prstGeom prst="rect">
            <a:avLst/>
          </a:prstGeom>
          <a:noFill/>
          <a:ln>
            <a:noFill/>
          </a:ln>
        </p:spPr>
        <p:txBody>
          <a:bodyPr spcFirstLastPara="1" wrap="square" lIns="91425" tIns="45700" rIns="91425" bIns="45700" anchor="t" anchorCtr="0">
            <a:normAutofit/>
          </a:bodyPr>
          <a:lstStyle/>
          <a:p>
            <a:pPr marL="0" lvl="0" indent="0" algn="l" rtl="0">
              <a:lnSpc>
                <a:spcPct val="150000"/>
              </a:lnSpc>
              <a:spcBef>
                <a:spcPts val="0"/>
              </a:spcBef>
              <a:spcAft>
                <a:spcPts val="0"/>
              </a:spcAft>
              <a:buSzPts val="1440"/>
              <a:buNone/>
            </a:pPr>
            <a:r>
              <a:rPr lang="en-US" u="sng"/>
              <a:t>Responsibilities</a:t>
            </a:r>
            <a:endParaRPr/>
          </a:p>
          <a:p>
            <a:pPr marL="0" lvl="0" indent="0" algn="l" rtl="0">
              <a:lnSpc>
                <a:spcPct val="150000"/>
              </a:lnSpc>
              <a:spcBef>
                <a:spcPts val="1000"/>
              </a:spcBef>
              <a:spcAft>
                <a:spcPts val="0"/>
              </a:spcAft>
              <a:buSzPts val="160"/>
              <a:buNone/>
            </a:pPr>
            <a:endParaRPr sz="200"/>
          </a:p>
          <a:p>
            <a:pPr marL="342900" lvl="0" indent="-342900" algn="l" rtl="0">
              <a:lnSpc>
                <a:spcPct val="150000"/>
              </a:lnSpc>
              <a:spcBef>
                <a:spcPts val="1000"/>
              </a:spcBef>
              <a:spcAft>
                <a:spcPts val="0"/>
              </a:spcAft>
              <a:buSzPts val="1440"/>
              <a:buChar char="►"/>
            </a:pPr>
            <a:r>
              <a:rPr lang="en-US"/>
              <a:t>1. He defines features of the Product</a:t>
            </a:r>
            <a:endParaRPr/>
          </a:p>
          <a:p>
            <a:pPr marL="342900" lvl="0" indent="-342900" algn="l" rtl="0">
              <a:lnSpc>
                <a:spcPct val="150000"/>
              </a:lnSpc>
              <a:spcBef>
                <a:spcPts val="1000"/>
              </a:spcBef>
              <a:spcAft>
                <a:spcPts val="0"/>
              </a:spcAft>
              <a:buSzPts val="1440"/>
              <a:buChar char="►"/>
            </a:pPr>
            <a:r>
              <a:rPr lang="en-US"/>
              <a:t>2. Creates product backlog</a:t>
            </a:r>
            <a:endParaRPr/>
          </a:p>
          <a:p>
            <a:pPr marL="342900" lvl="0" indent="-342900" algn="l" rtl="0">
              <a:lnSpc>
                <a:spcPct val="150000"/>
              </a:lnSpc>
              <a:spcBef>
                <a:spcPts val="1000"/>
              </a:spcBef>
              <a:spcAft>
                <a:spcPts val="0"/>
              </a:spcAft>
              <a:buSzPts val="1440"/>
              <a:buChar char="►"/>
            </a:pPr>
            <a:r>
              <a:rPr lang="en-US"/>
              <a:t>3. Decides the release date and corresponding features</a:t>
            </a:r>
            <a:endParaRPr/>
          </a:p>
          <a:p>
            <a:pPr marL="342900" lvl="0" indent="-342900" algn="l" rtl="0">
              <a:lnSpc>
                <a:spcPct val="150000"/>
              </a:lnSpc>
              <a:spcBef>
                <a:spcPts val="1000"/>
              </a:spcBef>
              <a:spcAft>
                <a:spcPts val="0"/>
              </a:spcAft>
              <a:buSzPts val="1440"/>
              <a:buChar char="►"/>
            </a:pPr>
            <a:r>
              <a:rPr lang="en-US"/>
              <a:t>4. Prioritizes the backlog (features) according to the market value</a:t>
            </a:r>
            <a:endParaRPr/>
          </a:p>
          <a:p>
            <a:pPr marL="342900" lvl="0" indent="-342900" algn="l" rtl="0">
              <a:lnSpc>
                <a:spcPct val="150000"/>
              </a:lnSpc>
              <a:spcBef>
                <a:spcPts val="1000"/>
              </a:spcBef>
              <a:spcAft>
                <a:spcPts val="0"/>
              </a:spcAft>
              <a:buSzPts val="1440"/>
              <a:buChar char="►"/>
            </a:pPr>
            <a:r>
              <a:rPr lang="en-US"/>
              <a:t>5. Getting delivery of the functionality at each iteration from scrum team</a:t>
            </a:r>
            <a:endParaRPr/>
          </a:p>
        </p:txBody>
      </p:sp>
      <p:pic>
        <p:nvPicPr>
          <p:cNvPr id="775" name="Google Shape;775;p93" descr="CSPO - Your IT partner"/>
          <p:cNvPicPr preferRelativeResize="0"/>
          <p:nvPr/>
        </p:nvPicPr>
        <p:blipFill rotWithShape="1">
          <a:blip r:embed="rId3">
            <a:alphaModFix/>
          </a:blip>
          <a:srcRect/>
          <a:stretch/>
        </p:blipFill>
        <p:spPr>
          <a:xfrm>
            <a:off x="3413760" y="1122708"/>
            <a:ext cx="6439762" cy="2741930"/>
          </a:xfrm>
          <a:prstGeom prst="rect">
            <a:avLst/>
          </a:prstGeom>
          <a:noFill/>
          <a:ln>
            <a:noFill/>
          </a:ln>
        </p:spPr>
      </p:pic>
      <p:pic>
        <p:nvPicPr>
          <p:cNvPr id="776" name="Google Shape;776;p93"/>
          <p:cNvPicPr preferRelativeResize="0"/>
          <p:nvPr/>
        </p:nvPicPr>
        <p:blipFill rotWithShape="1">
          <a:blip r:embed="rId4">
            <a:alphaModFix/>
          </a:blip>
          <a:srcRect/>
          <a:stretch/>
        </p:blipFill>
        <p:spPr>
          <a:xfrm>
            <a:off x="5689600" y="246668"/>
            <a:ext cx="1554480" cy="2195569"/>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780"/>
        <p:cNvGrpSpPr/>
        <p:nvPr/>
      </p:nvGrpSpPr>
      <p:grpSpPr>
        <a:xfrm>
          <a:off x="0" y="0"/>
          <a:ext cx="0" cy="0"/>
          <a:chOff x="0" y="0"/>
          <a:chExt cx="0" cy="0"/>
        </a:xfrm>
      </p:grpSpPr>
      <p:sp>
        <p:nvSpPr>
          <p:cNvPr id="781" name="Google Shape;781;p94"/>
          <p:cNvSpPr txBox="1">
            <a:spLocks noGrp="1"/>
          </p:cNvSpPr>
          <p:nvPr>
            <p:ph type="title"/>
          </p:nvPr>
        </p:nvSpPr>
        <p:spPr>
          <a:xfrm>
            <a:off x="249981" y="847097"/>
            <a:ext cx="4378580"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Role: 3</a:t>
            </a:r>
            <a:br>
              <a:rPr lang="en-US"/>
            </a:br>
            <a:r>
              <a:rPr lang="en-US"/>
              <a:t>	</a:t>
            </a:r>
            <a:r>
              <a:rPr lang="en-US">
                <a:solidFill>
                  <a:srgbClr val="C00000"/>
                </a:solidFill>
              </a:rPr>
              <a:t>Scrum</a:t>
            </a:r>
            <a:r>
              <a:rPr lang="en-US"/>
              <a:t> </a:t>
            </a:r>
            <a:r>
              <a:rPr lang="en-US">
                <a:solidFill>
                  <a:srgbClr val="C00000"/>
                </a:solidFill>
              </a:rPr>
              <a:t>Team</a:t>
            </a:r>
            <a:r>
              <a:rPr lang="en-US"/>
              <a:t>		</a:t>
            </a:r>
            <a:endParaRPr/>
          </a:p>
        </p:txBody>
      </p:sp>
      <p:pic>
        <p:nvPicPr>
          <p:cNvPr id="782" name="Google Shape;782;p94" descr="Benefits of Hiring Custom Software Development Teams"/>
          <p:cNvPicPr preferRelativeResize="0"/>
          <p:nvPr/>
        </p:nvPicPr>
        <p:blipFill rotWithShape="1">
          <a:blip r:embed="rId3">
            <a:alphaModFix/>
          </a:blip>
          <a:srcRect/>
          <a:stretch/>
        </p:blipFill>
        <p:spPr>
          <a:xfrm>
            <a:off x="0" y="3373120"/>
            <a:ext cx="6212628" cy="3484880"/>
          </a:xfrm>
          <a:prstGeom prst="rect">
            <a:avLst/>
          </a:prstGeom>
          <a:noFill/>
          <a:ln>
            <a:noFill/>
          </a:ln>
        </p:spPr>
      </p:pic>
      <p:pic>
        <p:nvPicPr>
          <p:cNvPr id="783" name="Google Shape;783;p94" descr="Functions &amp; Tasks of a QA Team in the Call Center - Etech Global ..."/>
          <p:cNvPicPr preferRelativeResize="0"/>
          <p:nvPr/>
        </p:nvPicPr>
        <p:blipFill rotWithShape="1">
          <a:blip r:embed="rId4">
            <a:alphaModFix/>
          </a:blip>
          <a:srcRect/>
          <a:stretch/>
        </p:blipFill>
        <p:spPr>
          <a:xfrm>
            <a:off x="5107644" y="0"/>
            <a:ext cx="6648450" cy="3810000"/>
          </a:xfrm>
          <a:prstGeom prst="rect">
            <a:avLst/>
          </a:prstGeom>
          <a:noFill/>
          <a:ln>
            <a:noFill/>
          </a:ln>
        </p:spPr>
      </p:pic>
      <p:sp>
        <p:nvSpPr>
          <p:cNvPr id="784" name="Google Shape;784;p94"/>
          <p:cNvSpPr txBox="1">
            <a:spLocks noGrp="1"/>
          </p:cNvSpPr>
          <p:nvPr>
            <p:ph type="body" idx="1"/>
          </p:nvPr>
        </p:nvSpPr>
        <p:spPr>
          <a:xfrm>
            <a:off x="6485641" y="4472901"/>
            <a:ext cx="4364609" cy="1972008"/>
          </a:xfrm>
          <a:prstGeom prst="rect">
            <a:avLst/>
          </a:prstGeom>
          <a:noFill/>
          <a:ln>
            <a:noFill/>
          </a:ln>
        </p:spPr>
        <p:txBody>
          <a:bodyPr spcFirstLastPara="1" wrap="square" lIns="91425" tIns="45700" rIns="91425" bIns="45700" anchor="t" anchorCtr="0">
            <a:normAutofit lnSpcReduction="10000"/>
          </a:bodyPr>
          <a:lstStyle/>
          <a:p>
            <a:pPr marL="0" lvl="0" indent="0" algn="l" rtl="0">
              <a:lnSpc>
                <a:spcPct val="150000"/>
              </a:lnSpc>
              <a:spcBef>
                <a:spcPts val="0"/>
              </a:spcBef>
              <a:spcAft>
                <a:spcPts val="0"/>
              </a:spcAft>
              <a:buSzPts val="1440"/>
              <a:buNone/>
            </a:pPr>
            <a:r>
              <a:rPr lang="en-US" u="sng"/>
              <a:t>Responsibilities</a:t>
            </a:r>
            <a:endParaRPr/>
          </a:p>
          <a:p>
            <a:pPr marL="342900" lvl="0" indent="-342900" algn="l" rtl="0">
              <a:lnSpc>
                <a:spcPct val="150000"/>
              </a:lnSpc>
              <a:spcBef>
                <a:spcPts val="1000"/>
              </a:spcBef>
              <a:spcAft>
                <a:spcPts val="0"/>
              </a:spcAft>
              <a:buSzPts val="1440"/>
              <a:buChar char="►"/>
            </a:pPr>
            <a:r>
              <a:rPr lang="en-US"/>
              <a:t>1. Manages its own work</a:t>
            </a:r>
            <a:endParaRPr/>
          </a:p>
          <a:p>
            <a:pPr marL="342900" lvl="0" indent="-342900" algn="l" rtl="0">
              <a:lnSpc>
                <a:spcPct val="150000"/>
              </a:lnSpc>
              <a:spcBef>
                <a:spcPts val="1000"/>
              </a:spcBef>
              <a:spcAft>
                <a:spcPts val="0"/>
              </a:spcAft>
              <a:buSzPts val="1440"/>
              <a:buChar char="►"/>
            </a:pPr>
            <a:r>
              <a:rPr lang="en-US"/>
              <a:t>2. Organizes the work to complete the sprint or cycle</a:t>
            </a:r>
            <a:endParaRPr/>
          </a:p>
          <a:p>
            <a:pPr marL="342900" lvl="0" indent="-251459" algn="l" rtl="0">
              <a:lnSpc>
                <a:spcPct val="150000"/>
              </a:lnSpc>
              <a:spcBef>
                <a:spcPts val="1000"/>
              </a:spcBef>
              <a:spcAft>
                <a:spcPts val="0"/>
              </a:spcAft>
              <a:buSzPts val="1440"/>
              <a:buNone/>
            </a:pPr>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788"/>
        <p:cNvGrpSpPr/>
        <p:nvPr/>
      </p:nvGrpSpPr>
      <p:grpSpPr>
        <a:xfrm>
          <a:off x="0" y="0"/>
          <a:ext cx="0" cy="0"/>
          <a:chOff x="0" y="0"/>
          <a:chExt cx="0" cy="0"/>
        </a:xfrm>
      </p:grpSpPr>
      <p:sp>
        <p:nvSpPr>
          <p:cNvPr id="789" name="Google Shape;789;p95"/>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7E6FEB"/>
              </a:buClr>
              <a:buSzPts val="3600"/>
              <a:buFont typeface="Trebuchet MS"/>
              <a:buNone/>
            </a:pPr>
            <a:r>
              <a:rPr lang="en-US">
                <a:solidFill>
                  <a:srgbClr val="7E6FEB"/>
                </a:solidFill>
              </a:rPr>
              <a:t>2. Artifacts</a:t>
            </a:r>
            <a:endParaRPr/>
          </a:p>
        </p:txBody>
      </p:sp>
      <p:pic>
        <p:nvPicPr>
          <p:cNvPr id="790" name="Google Shape;790;p95"/>
          <p:cNvPicPr preferRelativeResize="0">
            <a:picLocks noGrp="1"/>
          </p:cNvPicPr>
          <p:nvPr>
            <p:ph type="body" idx="1"/>
          </p:nvPr>
        </p:nvPicPr>
        <p:blipFill rotWithShape="1">
          <a:blip r:embed="rId3">
            <a:alphaModFix/>
          </a:blip>
          <a:srcRect/>
          <a:stretch/>
        </p:blipFill>
        <p:spPr>
          <a:xfrm>
            <a:off x="720052" y="1635760"/>
            <a:ext cx="9204960" cy="4683760"/>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794"/>
        <p:cNvGrpSpPr/>
        <p:nvPr/>
      </p:nvGrpSpPr>
      <p:grpSpPr>
        <a:xfrm>
          <a:off x="0" y="0"/>
          <a:ext cx="0" cy="0"/>
          <a:chOff x="0" y="0"/>
          <a:chExt cx="0" cy="0"/>
        </a:xfrm>
      </p:grpSpPr>
      <p:sp>
        <p:nvSpPr>
          <p:cNvPr id="795" name="Google Shape;795;p96"/>
          <p:cNvSpPr txBox="1">
            <a:spLocks noGrp="1"/>
          </p:cNvSpPr>
          <p:nvPr>
            <p:ph type="title"/>
          </p:nvPr>
        </p:nvSpPr>
        <p:spPr>
          <a:xfrm>
            <a:off x="677334" y="101355"/>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Sprint</a:t>
            </a:r>
            <a:endParaRPr/>
          </a:p>
        </p:txBody>
      </p:sp>
      <p:sp>
        <p:nvSpPr>
          <p:cNvPr id="796" name="Google Shape;796;p96"/>
          <p:cNvSpPr txBox="1">
            <a:spLocks noGrp="1"/>
          </p:cNvSpPr>
          <p:nvPr>
            <p:ph type="body" idx="1"/>
          </p:nvPr>
        </p:nvSpPr>
        <p:spPr>
          <a:xfrm>
            <a:off x="960138" y="1046376"/>
            <a:ext cx="8596668" cy="4240842"/>
          </a:xfrm>
          <a:prstGeom prst="rect">
            <a:avLst/>
          </a:prstGeom>
          <a:noFill/>
          <a:ln>
            <a:noFill/>
          </a:ln>
        </p:spPr>
        <p:txBody>
          <a:bodyPr spcFirstLastPara="1" wrap="square" lIns="91425" tIns="45700" rIns="91425" bIns="45700" anchor="t" anchorCtr="0">
            <a:normAutofit/>
          </a:bodyPr>
          <a:lstStyle/>
          <a:p>
            <a:pPr marL="342900" lvl="0" indent="-342900" algn="l" rtl="0">
              <a:lnSpc>
                <a:spcPct val="150000"/>
              </a:lnSpc>
              <a:spcBef>
                <a:spcPts val="0"/>
              </a:spcBef>
              <a:spcAft>
                <a:spcPts val="0"/>
              </a:spcAft>
              <a:buSzPts val="1440"/>
              <a:buChar char="►"/>
            </a:pPr>
            <a:r>
              <a:rPr lang="en-US"/>
              <a:t>It is a set period of time to complete the user stories, decided by the product owner and developer team, usually 2-4 weeks of time.</a:t>
            </a:r>
            <a:endParaRPr/>
          </a:p>
        </p:txBody>
      </p:sp>
      <p:pic>
        <p:nvPicPr>
          <p:cNvPr id="797" name="Google Shape;797;p96" descr="agile – Duncan Halley's Blog"/>
          <p:cNvPicPr preferRelativeResize="0"/>
          <p:nvPr/>
        </p:nvPicPr>
        <p:blipFill rotWithShape="1">
          <a:blip r:embed="rId3">
            <a:alphaModFix/>
          </a:blip>
          <a:srcRect/>
          <a:stretch/>
        </p:blipFill>
        <p:spPr>
          <a:xfrm>
            <a:off x="342600" y="2367627"/>
            <a:ext cx="8931402" cy="3880773"/>
          </a:xfrm>
          <a:prstGeom prst="rect">
            <a:avLst/>
          </a:prstGeom>
          <a:noFill/>
          <a:ln>
            <a:noFill/>
          </a:ln>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801"/>
        <p:cNvGrpSpPr/>
        <p:nvPr/>
      </p:nvGrpSpPr>
      <p:grpSpPr>
        <a:xfrm>
          <a:off x="0" y="0"/>
          <a:ext cx="0" cy="0"/>
          <a:chOff x="0" y="0"/>
          <a:chExt cx="0" cy="0"/>
        </a:xfrm>
      </p:grpSpPr>
      <p:sp>
        <p:nvSpPr>
          <p:cNvPr id="802" name="Google Shape;802;p97"/>
          <p:cNvSpPr txBox="1">
            <a:spLocks noGrp="1"/>
          </p:cNvSpPr>
          <p:nvPr>
            <p:ph type="title"/>
          </p:nvPr>
        </p:nvSpPr>
        <p:spPr>
          <a:xfrm>
            <a:off x="611346" y="43172"/>
            <a:ext cx="8596668" cy="720399"/>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User stories</a:t>
            </a:r>
            <a:endParaRPr/>
          </a:p>
        </p:txBody>
      </p:sp>
      <p:sp>
        <p:nvSpPr>
          <p:cNvPr id="803" name="Google Shape;803;p97"/>
          <p:cNvSpPr txBox="1">
            <a:spLocks noGrp="1"/>
          </p:cNvSpPr>
          <p:nvPr>
            <p:ph type="body" idx="1"/>
          </p:nvPr>
        </p:nvSpPr>
        <p:spPr>
          <a:xfrm>
            <a:off x="677334" y="1046829"/>
            <a:ext cx="8596668" cy="621716"/>
          </a:xfrm>
          <a:prstGeom prst="rect">
            <a:avLst/>
          </a:prstGeom>
          <a:noFill/>
          <a:ln>
            <a:noFill/>
          </a:ln>
        </p:spPr>
        <p:txBody>
          <a:bodyPr spcFirstLastPara="1" wrap="square" lIns="91425" tIns="45700" rIns="91425" bIns="45700" anchor="t" anchorCtr="0">
            <a:normAutofit/>
          </a:bodyPr>
          <a:lstStyle/>
          <a:p>
            <a:pPr marL="342900" lvl="0" indent="-342900" algn="l" rtl="0">
              <a:lnSpc>
                <a:spcPct val="150000"/>
              </a:lnSpc>
              <a:spcBef>
                <a:spcPts val="0"/>
              </a:spcBef>
              <a:spcAft>
                <a:spcPts val="0"/>
              </a:spcAft>
              <a:buSzPts val="1440"/>
              <a:buChar char="►"/>
            </a:pPr>
            <a:r>
              <a:rPr lang="en-US"/>
              <a:t>They are short explanation of functionalities of the system under test</a:t>
            </a:r>
            <a:endParaRPr/>
          </a:p>
          <a:p>
            <a:pPr marL="342900" lvl="0" indent="-251459" algn="l" rtl="0">
              <a:lnSpc>
                <a:spcPct val="150000"/>
              </a:lnSpc>
              <a:spcBef>
                <a:spcPts val="1000"/>
              </a:spcBef>
              <a:spcAft>
                <a:spcPts val="0"/>
              </a:spcAft>
              <a:buSzPts val="1440"/>
              <a:buNone/>
            </a:pPr>
            <a:endParaRPr/>
          </a:p>
        </p:txBody>
      </p:sp>
      <p:sp>
        <p:nvSpPr>
          <p:cNvPr id="804" name="Google Shape;804;p97" descr="Agile User Stories - Templates and Examples - Zoho Sprints"/>
          <p:cNvSpPr/>
          <p:nvPr/>
        </p:nvSpPr>
        <p:spPr>
          <a:xfrm>
            <a:off x="5943600" y="327660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805" name="Google Shape;805;p97" descr="Agile User Stories - Templates and Examples - Zoho Sprints"/>
          <p:cNvSpPr/>
          <p:nvPr/>
        </p:nvSpPr>
        <p:spPr>
          <a:xfrm>
            <a:off x="6095999" y="1930400"/>
            <a:ext cx="2586087" cy="18034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806" name="Google Shape;806;p97" descr="Agile User Stories - Templates and Examples - Zoho Sprints"/>
          <p:cNvSpPr/>
          <p:nvPr/>
        </p:nvSpPr>
        <p:spPr>
          <a:xfrm>
            <a:off x="6096000" y="342900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807" name="Google Shape;807;p97" descr="Agile User Stories - Templates and Examples - Zoho Sprints"/>
          <p:cNvSpPr/>
          <p:nvPr/>
        </p:nvSpPr>
        <p:spPr>
          <a:xfrm>
            <a:off x="6248400" y="358140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pic>
        <p:nvPicPr>
          <p:cNvPr id="808" name="Google Shape;808;p97" descr="Layout of my newly created Jira is very different ..."/>
          <p:cNvPicPr preferRelativeResize="0"/>
          <p:nvPr/>
        </p:nvPicPr>
        <p:blipFill rotWithShape="1">
          <a:blip r:embed="rId3">
            <a:alphaModFix/>
          </a:blip>
          <a:srcRect/>
          <a:stretch/>
        </p:blipFill>
        <p:spPr>
          <a:xfrm>
            <a:off x="-10160" y="1759098"/>
            <a:ext cx="10267322" cy="5098902"/>
          </a:xfrm>
          <a:prstGeom prst="rect">
            <a:avLst/>
          </a:prstGeom>
          <a:noFill/>
          <a:ln>
            <a:noFill/>
          </a:ln>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812"/>
        <p:cNvGrpSpPr/>
        <p:nvPr/>
      </p:nvGrpSpPr>
      <p:grpSpPr>
        <a:xfrm>
          <a:off x="0" y="0"/>
          <a:ext cx="0" cy="0"/>
          <a:chOff x="0" y="0"/>
          <a:chExt cx="0" cy="0"/>
        </a:xfrm>
      </p:grpSpPr>
      <p:sp>
        <p:nvSpPr>
          <p:cNvPr id="813" name="Google Shape;813;p98"/>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1. Product Backlog</a:t>
            </a:r>
            <a:endParaRPr/>
          </a:p>
        </p:txBody>
      </p:sp>
      <p:sp>
        <p:nvSpPr>
          <p:cNvPr id="814" name="Google Shape;814;p98"/>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p>
            <a:pPr marL="342900" lvl="0" indent="-342900" algn="l" rtl="0">
              <a:lnSpc>
                <a:spcPct val="150000"/>
              </a:lnSpc>
              <a:spcBef>
                <a:spcPts val="0"/>
              </a:spcBef>
              <a:spcAft>
                <a:spcPts val="0"/>
              </a:spcAft>
              <a:buSzPts val="1440"/>
              <a:buChar char="►"/>
            </a:pPr>
            <a:r>
              <a:rPr lang="en-US"/>
              <a:t>This is a repository where requirements are tracked with details on the no of requirements (user stories) to be completed for each release.</a:t>
            </a:r>
            <a:endParaRPr/>
          </a:p>
          <a:p>
            <a:pPr marL="342900" lvl="0" indent="-287020" algn="l" rtl="0">
              <a:lnSpc>
                <a:spcPct val="150000"/>
              </a:lnSpc>
              <a:spcBef>
                <a:spcPts val="1000"/>
              </a:spcBef>
              <a:spcAft>
                <a:spcPts val="0"/>
              </a:spcAft>
              <a:buSzPts val="880"/>
              <a:buNone/>
            </a:pPr>
            <a:endParaRPr sz="1100"/>
          </a:p>
          <a:p>
            <a:pPr marL="342900" lvl="0" indent="-342900" algn="l" rtl="0">
              <a:lnSpc>
                <a:spcPct val="150000"/>
              </a:lnSpc>
              <a:spcBef>
                <a:spcPts val="1000"/>
              </a:spcBef>
              <a:spcAft>
                <a:spcPts val="0"/>
              </a:spcAft>
              <a:buSzPts val="1440"/>
              <a:buChar char="►"/>
            </a:pPr>
            <a:r>
              <a:rPr lang="en-US"/>
              <a:t>It should be maintained and prioritized by Product Owner, and it should be distributed to the scrum team. </a:t>
            </a:r>
            <a:endParaRPr/>
          </a:p>
          <a:p>
            <a:pPr marL="0" lvl="0" indent="0" algn="l" rtl="0">
              <a:lnSpc>
                <a:spcPct val="150000"/>
              </a:lnSpc>
              <a:spcBef>
                <a:spcPts val="1000"/>
              </a:spcBef>
              <a:spcAft>
                <a:spcPts val="0"/>
              </a:spcAft>
              <a:buSzPts val="1440"/>
              <a:buNone/>
            </a:pPr>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818"/>
        <p:cNvGrpSpPr/>
        <p:nvPr/>
      </p:nvGrpSpPr>
      <p:grpSpPr>
        <a:xfrm>
          <a:off x="0" y="0"/>
          <a:ext cx="0" cy="0"/>
          <a:chOff x="0" y="0"/>
          <a:chExt cx="0" cy="0"/>
        </a:xfrm>
      </p:grpSpPr>
      <p:sp>
        <p:nvSpPr>
          <p:cNvPr id="819" name="Google Shape;819;p99"/>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2. Sprint backlog	</a:t>
            </a:r>
            <a:endParaRPr/>
          </a:p>
        </p:txBody>
      </p:sp>
      <p:sp>
        <p:nvSpPr>
          <p:cNvPr id="820" name="Google Shape;820;p99"/>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p>
            <a:pPr marL="342900" lvl="0" indent="-342900" algn="l" rtl="0">
              <a:lnSpc>
                <a:spcPct val="150000"/>
              </a:lnSpc>
              <a:spcBef>
                <a:spcPts val="0"/>
              </a:spcBef>
              <a:spcAft>
                <a:spcPts val="0"/>
              </a:spcAft>
              <a:buSzPts val="1440"/>
              <a:buChar char="►"/>
            </a:pPr>
            <a:r>
              <a:rPr lang="en-US"/>
              <a:t>It is a set of user stories to be completed in a sprint</a:t>
            </a:r>
            <a:endParaRPr/>
          </a:p>
          <a:p>
            <a:pPr marL="342900" lvl="0" indent="-342900" algn="l" rtl="0">
              <a:lnSpc>
                <a:spcPct val="150000"/>
              </a:lnSpc>
              <a:spcBef>
                <a:spcPts val="1000"/>
              </a:spcBef>
              <a:spcAft>
                <a:spcPts val="0"/>
              </a:spcAft>
              <a:buSzPts val="1440"/>
              <a:buChar char="►"/>
            </a:pPr>
            <a:r>
              <a:rPr lang="en-US"/>
              <a:t>During the sprint backlog, work is never assigned, and the team signs up for work on their own. </a:t>
            </a:r>
            <a:endParaRPr/>
          </a:p>
          <a:p>
            <a:pPr marL="342900" lvl="0" indent="-342900" algn="l" rtl="0">
              <a:lnSpc>
                <a:spcPct val="150000"/>
              </a:lnSpc>
              <a:spcBef>
                <a:spcPts val="1000"/>
              </a:spcBef>
              <a:spcAft>
                <a:spcPts val="0"/>
              </a:spcAft>
              <a:buSzPts val="1440"/>
              <a:buChar char="►"/>
            </a:pPr>
            <a:r>
              <a:rPr lang="en-US"/>
              <a:t>It is owned the estimated work remaining is updated daily.</a:t>
            </a:r>
            <a:endParaRPr/>
          </a:p>
          <a:p>
            <a:pPr marL="342900" lvl="0" indent="-342900" algn="l" rtl="0">
              <a:lnSpc>
                <a:spcPct val="150000"/>
              </a:lnSpc>
              <a:spcBef>
                <a:spcPts val="1000"/>
              </a:spcBef>
              <a:spcAft>
                <a:spcPts val="0"/>
              </a:spcAft>
              <a:buSzPts val="1440"/>
              <a:buChar char="►"/>
            </a:pPr>
            <a:r>
              <a:rPr lang="en-US"/>
              <a:t>It is the list of task that has to be performed in sprint</a:t>
            </a:r>
            <a:endParaRPr/>
          </a:p>
          <a:p>
            <a:pPr marL="342900" lvl="0" indent="-251459" algn="l" rtl="0">
              <a:lnSpc>
                <a:spcPct val="150000"/>
              </a:lnSpc>
              <a:spcBef>
                <a:spcPts val="1000"/>
              </a:spcBef>
              <a:spcAft>
                <a:spcPts val="0"/>
              </a:spcAft>
              <a:buSzPts val="1440"/>
              <a:buNone/>
            </a:pPr>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824"/>
        <p:cNvGrpSpPr/>
        <p:nvPr/>
      </p:nvGrpSpPr>
      <p:grpSpPr>
        <a:xfrm>
          <a:off x="0" y="0"/>
          <a:ext cx="0" cy="0"/>
          <a:chOff x="0" y="0"/>
          <a:chExt cx="0" cy="0"/>
        </a:xfrm>
      </p:grpSpPr>
      <p:sp>
        <p:nvSpPr>
          <p:cNvPr id="825" name="Google Shape;825;p100"/>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3. Burndown chart</a:t>
            </a:r>
            <a:endParaRPr/>
          </a:p>
        </p:txBody>
      </p:sp>
      <p:sp>
        <p:nvSpPr>
          <p:cNvPr id="826" name="Google Shape;826;p100"/>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p>
            <a:pPr marL="342900" lvl="0" indent="-342900" algn="l" rtl="0">
              <a:lnSpc>
                <a:spcPct val="150000"/>
              </a:lnSpc>
              <a:spcBef>
                <a:spcPts val="0"/>
              </a:spcBef>
              <a:spcAft>
                <a:spcPts val="0"/>
              </a:spcAft>
              <a:buSzPts val="1440"/>
              <a:buChar char="►"/>
            </a:pPr>
            <a:r>
              <a:rPr lang="en-US"/>
              <a:t>A </a:t>
            </a:r>
            <a:r>
              <a:rPr lang="en-US" b="1"/>
              <a:t>burndown chart</a:t>
            </a:r>
            <a:r>
              <a:rPr lang="en-US"/>
              <a:t> is a graphic representation of how quickly the team is working through a customer's user stories, an agile tool that is used to capture a description of a feature from an end-user perspective. </a:t>
            </a:r>
            <a:endParaRPr/>
          </a:p>
          <a:p>
            <a:pPr marL="342900" lvl="0" indent="-297180" algn="l" rtl="0">
              <a:lnSpc>
                <a:spcPct val="150000"/>
              </a:lnSpc>
              <a:spcBef>
                <a:spcPts val="1000"/>
              </a:spcBef>
              <a:spcAft>
                <a:spcPts val="0"/>
              </a:spcAft>
              <a:buSzPts val="720"/>
              <a:buNone/>
            </a:pPr>
            <a:endParaRPr sz="900"/>
          </a:p>
          <a:p>
            <a:pPr marL="342900" lvl="0" indent="-342900" algn="l" rtl="0">
              <a:lnSpc>
                <a:spcPct val="150000"/>
              </a:lnSpc>
              <a:spcBef>
                <a:spcPts val="1000"/>
              </a:spcBef>
              <a:spcAft>
                <a:spcPts val="0"/>
              </a:spcAft>
              <a:buSzPts val="1440"/>
              <a:buChar char="►"/>
            </a:pPr>
            <a:r>
              <a:rPr lang="en-US"/>
              <a:t>The </a:t>
            </a:r>
            <a:r>
              <a:rPr lang="en-US" b="1"/>
              <a:t>burndown chart</a:t>
            </a:r>
            <a:r>
              <a:rPr lang="en-US"/>
              <a:t> shows the total effort against the amount of work for each iteration</a:t>
            </a:r>
            <a:endParaRPr/>
          </a:p>
          <a:p>
            <a:pPr marL="342900" lvl="0" indent="-289560" algn="l" rtl="0">
              <a:lnSpc>
                <a:spcPct val="150000"/>
              </a:lnSpc>
              <a:spcBef>
                <a:spcPts val="1000"/>
              </a:spcBef>
              <a:spcAft>
                <a:spcPts val="0"/>
              </a:spcAft>
              <a:buSzPts val="840"/>
              <a:buNone/>
            </a:pPr>
            <a:endParaRPr sz="105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830"/>
        <p:cNvGrpSpPr/>
        <p:nvPr/>
      </p:nvGrpSpPr>
      <p:grpSpPr>
        <a:xfrm>
          <a:off x="0" y="0"/>
          <a:ext cx="0" cy="0"/>
          <a:chOff x="0" y="0"/>
          <a:chExt cx="0" cy="0"/>
        </a:xfrm>
      </p:grpSpPr>
      <p:pic>
        <p:nvPicPr>
          <p:cNvPr id="831" name="Google Shape;831;p101" descr="How to Create a Burndown Chart in Excel from Scratch"/>
          <p:cNvPicPr preferRelativeResize="0"/>
          <p:nvPr/>
        </p:nvPicPr>
        <p:blipFill rotWithShape="1">
          <a:blip r:embed="rId3">
            <a:alphaModFix/>
          </a:blip>
          <a:srcRect/>
          <a:stretch/>
        </p:blipFill>
        <p:spPr>
          <a:xfrm>
            <a:off x="0" y="1265968"/>
            <a:ext cx="12192000" cy="5592032"/>
          </a:xfrm>
          <a:prstGeom prst="rect">
            <a:avLst/>
          </a:prstGeom>
          <a:noFill/>
          <a:ln>
            <a:noFill/>
          </a:ln>
        </p:spPr>
      </p:pic>
      <p:sp>
        <p:nvSpPr>
          <p:cNvPr id="832" name="Google Shape;832;p101"/>
          <p:cNvSpPr txBox="1">
            <a:spLocks noGrp="1"/>
          </p:cNvSpPr>
          <p:nvPr>
            <p:ph type="title"/>
          </p:nvPr>
        </p:nvSpPr>
        <p:spPr>
          <a:xfrm>
            <a:off x="81911" y="269359"/>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How to create Burndown chart</a:t>
            </a:r>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836"/>
        <p:cNvGrpSpPr/>
        <p:nvPr/>
      </p:nvGrpSpPr>
      <p:grpSpPr>
        <a:xfrm>
          <a:off x="0" y="0"/>
          <a:ext cx="0" cy="0"/>
          <a:chOff x="0" y="0"/>
          <a:chExt cx="0" cy="0"/>
        </a:xfrm>
      </p:grpSpPr>
      <p:sp>
        <p:nvSpPr>
          <p:cNvPr id="837" name="Google Shape;837;p102"/>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Process flow of scrum</a:t>
            </a:r>
            <a:endParaRPr/>
          </a:p>
        </p:txBody>
      </p:sp>
      <p:sp>
        <p:nvSpPr>
          <p:cNvPr id="838" name="Google Shape;838;p102"/>
          <p:cNvSpPr txBox="1">
            <a:spLocks noGrp="1"/>
          </p:cNvSpPr>
          <p:nvPr>
            <p:ph type="body" idx="1"/>
          </p:nvPr>
        </p:nvSpPr>
        <p:spPr>
          <a:xfrm>
            <a:off x="677334" y="1645921"/>
            <a:ext cx="8596668" cy="4395442"/>
          </a:xfrm>
          <a:prstGeom prst="rect">
            <a:avLst/>
          </a:prstGeom>
          <a:noFill/>
          <a:ln>
            <a:noFill/>
          </a:ln>
        </p:spPr>
        <p:txBody>
          <a:bodyPr spcFirstLastPara="1" wrap="square" lIns="91425" tIns="45700" rIns="91425" bIns="45700" anchor="t" anchorCtr="0">
            <a:normAutofit/>
          </a:bodyPr>
          <a:lstStyle/>
          <a:p>
            <a:pPr marL="342900" lvl="0" indent="-342900" algn="l" rtl="0">
              <a:lnSpc>
                <a:spcPct val="150000"/>
              </a:lnSpc>
              <a:spcBef>
                <a:spcPts val="0"/>
              </a:spcBef>
              <a:spcAft>
                <a:spcPts val="0"/>
              </a:spcAft>
              <a:buSzPts val="1440"/>
              <a:buChar char="►"/>
            </a:pPr>
            <a:r>
              <a:rPr lang="en-US"/>
              <a:t>Each iteration of a scrum is known as Sprint</a:t>
            </a:r>
            <a:endParaRPr/>
          </a:p>
          <a:p>
            <a:pPr marL="342900" lvl="0" indent="-342900" algn="l" rtl="0">
              <a:lnSpc>
                <a:spcPct val="150000"/>
              </a:lnSpc>
              <a:spcBef>
                <a:spcPts val="1000"/>
              </a:spcBef>
              <a:spcAft>
                <a:spcPts val="0"/>
              </a:spcAft>
              <a:buSzPts val="1440"/>
              <a:buChar char="►"/>
            </a:pPr>
            <a:r>
              <a:rPr lang="en-US"/>
              <a:t>Product backlog is a list where all details are entered to get end-product</a:t>
            </a:r>
            <a:endParaRPr/>
          </a:p>
          <a:p>
            <a:pPr marL="342900" lvl="0" indent="-342900" algn="l" rtl="0">
              <a:lnSpc>
                <a:spcPct val="150000"/>
              </a:lnSpc>
              <a:spcBef>
                <a:spcPts val="1000"/>
              </a:spcBef>
              <a:spcAft>
                <a:spcPts val="0"/>
              </a:spcAft>
              <a:buSzPts val="1440"/>
              <a:buChar char="►"/>
            </a:pPr>
            <a:r>
              <a:rPr lang="en-US"/>
              <a:t>During each sprint, top user stories of Product backlog are selected and turned into sprint backlog</a:t>
            </a:r>
            <a:endParaRPr/>
          </a:p>
          <a:p>
            <a:pPr marL="342900" lvl="0" indent="-342900" algn="l" rtl="0">
              <a:lnSpc>
                <a:spcPct val="150000"/>
              </a:lnSpc>
              <a:spcBef>
                <a:spcPts val="1000"/>
              </a:spcBef>
              <a:spcAft>
                <a:spcPts val="0"/>
              </a:spcAft>
              <a:buSzPts val="1440"/>
              <a:buChar char="►"/>
            </a:pPr>
            <a:r>
              <a:rPr lang="en-US"/>
              <a:t>Team works on the defined sprint backlog</a:t>
            </a:r>
            <a:endParaRPr/>
          </a:p>
          <a:p>
            <a:pPr marL="342900" lvl="0" indent="-342900" algn="l" rtl="0">
              <a:lnSpc>
                <a:spcPct val="150000"/>
              </a:lnSpc>
              <a:spcBef>
                <a:spcPts val="1000"/>
              </a:spcBef>
              <a:spcAft>
                <a:spcPts val="0"/>
              </a:spcAft>
              <a:buSzPts val="1440"/>
              <a:buChar char="►"/>
            </a:pPr>
            <a:r>
              <a:rPr lang="en-US"/>
              <a:t>Team checks for the daily work</a:t>
            </a:r>
            <a:endParaRPr/>
          </a:p>
          <a:p>
            <a:pPr marL="342900" lvl="0" indent="-342900" algn="l" rtl="0">
              <a:lnSpc>
                <a:spcPct val="150000"/>
              </a:lnSpc>
              <a:spcBef>
                <a:spcPts val="1000"/>
              </a:spcBef>
              <a:spcAft>
                <a:spcPts val="0"/>
              </a:spcAft>
              <a:buSzPts val="1440"/>
              <a:buChar char="►"/>
            </a:pPr>
            <a:r>
              <a:rPr lang="en-US"/>
              <a:t>At the end of the sprint, team delivers product functionality</a:t>
            </a:r>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842"/>
        <p:cNvGrpSpPr/>
        <p:nvPr/>
      </p:nvGrpSpPr>
      <p:grpSpPr>
        <a:xfrm>
          <a:off x="0" y="0"/>
          <a:ext cx="0" cy="0"/>
          <a:chOff x="0" y="0"/>
          <a:chExt cx="0" cy="0"/>
        </a:xfrm>
      </p:grpSpPr>
      <p:sp>
        <p:nvSpPr>
          <p:cNvPr id="843" name="Google Shape;843;p103"/>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7E6FEB"/>
              </a:buClr>
              <a:buSzPts val="3600"/>
              <a:buFont typeface="Trebuchet MS"/>
              <a:buNone/>
            </a:pPr>
            <a:r>
              <a:rPr lang="en-US">
                <a:solidFill>
                  <a:srgbClr val="7E6FEB"/>
                </a:solidFill>
              </a:rPr>
              <a:t>3. Ceremonies</a:t>
            </a:r>
            <a:endParaRPr/>
          </a:p>
        </p:txBody>
      </p:sp>
      <p:pic>
        <p:nvPicPr>
          <p:cNvPr id="844" name="Google Shape;844;p103"/>
          <p:cNvPicPr preferRelativeResize="0">
            <a:picLocks noGrp="1"/>
          </p:cNvPicPr>
          <p:nvPr>
            <p:ph type="body" idx="1"/>
          </p:nvPr>
        </p:nvPicPr>
        <p:blipFill rotWithShape="1">
          <a:blip r:embed="rId3">
            <a:alphaModFix/>
          </a:blip>
          <a:srcRect/>
          <a:stretch/>
        </p:blipFill>
        <p:spPr>
          <a:xfrm>
            <a:off x="720052" y="1635760"/>
            <a:ext cx="9204960" cy="4683760"/>
          </a:xfrm>
          <a:prstGeom prst="rect">
            <a:avLst/>
          </a:prstGeom>
          <a:noFill/>
          <a:ln>
            <a:noFill/>
          </a:ln>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848"/>
        <p:cNvGrpSpPr/>
        <p:nvPr/>
      </p:nvGrpSpPr>
      <p:grpSpPr>
        <a:xfrm>
          <a:off x="0" y="0"/>
          <a:ext cx="0" cy="0"/>
          <a:chOff x="0" y="0"/>
          <a:chExt cx="0" cy="0"/>
        </a:xfrm>
      </p:grpSpPr>
      <p:sp>
        <p:nvSpPr>
          <p:cNvPr id="849" name="Google Shape;849;p104"/>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1. Sprint Planning Meeting</a:t>
            </a:r>
            <a:endParaRPr/>
          </a:p>
        </p:txBody>
      </p:sp>
      <p:sp>
        <p:nvSpPr>
          <p:cNvPr id="850" name="Google Shape;850;p104"/>
          <p:cNvSpPr txBox="1">
            <a:spLocks noGrp="1"/>
          </p:cNvSpPr>
          <p:nvPr>
            <p:ph type="body" idx="1"/>
          </p:nvPr>
        </p:nvSpPr>
        <p:spPr>
          <a:xfrm>
            <a:off x="677334" y="1652589"/>
            <a:ext cx="6453543" cy="4595811"/>
          </a:xfrm>
          <a:prstGeom prst="rect">
            <a:avLst/>
          </a:prstGeom>
          <a:noFill/>
          <a:ln>
            <a:noFill/>
          </a:ln>
        </p:spPr>
        <p:txBody>
          <a:bodyPr spcFirstLastPara="1" wrap="square" lIns="91425" tIns="45700" rIns="91425" bIns="45700" anchor="t" anchorCtr="0">
            <a:normAutofit/>
          </a:bodyPr>
          <a:lstStyle/>
          <a:p>
            <a:pPr marL="342900" lvl="0" indent="-342900" algn="l" rtl="0">
              <a:lnSpc>
                <a:spcPct val="150000"/>
              </a:lnSpc>
              <a:spcBef>
                <a:spcPts val="0"/>
              </a:spcBef>
              <a:spcAft>
                <a:spcPts val="0"/>
              </a:spcAft>
              <a:buSzPts val="1440"/>
              <a:buChar char="►"/>
            </a:pPr>
            <a:r>
              <a:rPr lang="en-US"/>
              <a:t>Tester should pick a user story from product backlog that should be tested</a:t>
            </a:r>
            <a:endParaRPr/>
          </a:p>
          <a:p>
            <a:pPr marL="342900" lvl="0" indent="-337820" algn="l" rtl="0">
              <a:lnSpc>
                <a:spcPct val="150000"/>
              </a:lnSpc>
              <a:spcBef>
                <a:spcPts val="1000"/>
              </a:spcBef>
              <a:spcAft>
                <a:spcPts val="0"/>
              </a:spcAft>
              <a:buNone/>
            </a:pPr>
            <a:endParaRPr sz="100"/>
          </a:p>
          <a:p>
            <a:pPr marL="342900" lvl="0" indent="-342900" algn="l" rtl="0">
              <a:lnSpc>
                <a:spcPct val="150000"/>
              </a:lnSpc>
              <a:spcBef>
                <a:spcPts val="1000"/>
              </a:spcBef>
              <a:spcAft>
                <a:spcPts val="0"/>
              </a:spcAft>
              <a:buSzPts val="1440"/>
              <a:buChar char="►"/>
            </a:pPr>
            <a:r>
              <a:rPr lang="en-US"/>
              <a:t>Tester should decide how many hours (Effort Estimation) it should take to finish testing for each of selected user stories.</a:t>
            </a:r>
            <a:endParaRPr/>
          </a:p>
          <a:p>
            <a:pPr marL="342900" lvl="0" indent="-337820" algn="l" rtl="0">
              <a:lnSpc>
                <a:spcPct val="150000"/>
              </a:lnSpc>
              <a:spcBef>
                <a:spcPts val="1000"/>
              </a:spcBef>
              <a:spcAft>
                <a:spcPts val="0"/>
              </a:spcAft>
              <a:buNone/>
            </a:pPr>
            <a:endParaRPr sz="100"/>
          </a:p>
          <a:p>
            <a:pPr marL="342900" lvl="0" indent="-342900" algn="l" rtl="0">
              <a:lnSpc>
                <a:spcPct val="150000"/>
              </a:lnSpc>
              <a:spcBef>
                <a:spcPts val="1000"/>
              </a:spcBef>
              <a:spcAft>
                <a:spcPts val="0"/>
              </a:spcAft>
              <a:buSzPts val="1440"/>
              <a:buChar char="►"/>
            </a:pPr>
            <a:r>
              <a:rPr lang="en-US"/>
              <a:t>As a tester, He/she must know what sprint goals are.</a:t>
            </a:r>
            <a:endParaRPr/>
          </a:p>
          <a:p>
            <a:pPr marL="342900" lvl="0" indent="-337820" algn="l" rtl="0">
              <a:lnSpc>
                <a:spcPct val="150000"/>
              </a:lnSpc>
              <a:spcBef>
                <a:spcPts val="1000"/>
              </a:spcBef>
              <a:spcAft>
                <a:spcPts val="0"/>
              </a:spcAft>
              <a:buNone/>
            </a:pPr>
            <a:endParaRPr sz="100"/>
          </a:p>
          <a:p>
            <a:pPr marL="342900" lvl="0" indent="-342900" algn="l" rtl="0">
              <a:lnSpc>
                <a:spcPct val="150000"/>
              </a:lnSpc>
              <a:spcBef>
                <a:spcPts val="1000"/>
              </a:spcBef>
              <a:spcAft>
                <a:spcPts val="0"/>
              </a:spcAft>
              <a:buSzPts val="1440"/>
              <a:buChar char="►"/>
            </a:pPr>
            <a:r>
              <a:rPr lang="en-US"/>
              <a:t>Tester should contribute to the prioritizing process</a:t>
            </a:r>
            <a:endParaRPr/>
          </a:p>
        </p:txBody>
      </p:sp>
      <p:pic>
        <p:nvPicPr>
          <p:cNvPr id="851" name="Google Shape;851;p104" descr="Deliberation Cliparts, Stock Vector And Royalty Free Deliberation ..."/>
          <p:cNvPicPr preferRelativeResize="0"/>
          <p:nvPr/>
        </p:nvPicPr>
        <p:blipFill rotWithShape="1">
          <a:blip r:embed="rId3">
            <a:alphaModFix/>
          </a:blip>
          <a:srcRect/>
          <a:stretch/>
        </p:blipFill>
        <p:spPr>
          <a:xfrm>
            <a:off x="7245177" y="1649284"/>
            <a:ext cx="4286250" cy="4286250"/>
          </a:xfrm>
          <a:prstGeom prst="rect">
            <a:avLst/>
          </a:prstGeom>
          <a:noFill/>
          <a:ln>
            <a:noFill/>
          </a:ln>
        </p:spPr>
      </p:pic>
      <p:pic>
        <p:nvPicPr>
          <p:cNvPr id="852" name="Google Shape;852;p104"/>
          <p:cNvPicPr preferRelativeResize="0"/>
          <p:nvPr/>
        </p:nvPicPr>
        <p:blipFill rotWithShape="1">
          <a:blip r:embed="rId4">
            <a:alphaModFix/>
          </a:blip>
          <a:srcRect/>
          <a:stretch/>
        </p:blipFill>
        <p:spPr>
          <a:xfrm>
            <a:off x="7130877" y="1765004"/>
            <a:ext cx="1914525" cy="810550"/>
          </a:xfrm>
          <a:prstGeom prst="rect">
            <a:avLst/>
          </a:prstGeom>
          <a:noFill/>
          <a:ln>
            <a:noFill/>
          </a:ln>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showMasterSp="0">
  <p:cSld>
    <p:spTree>
      <p:nvGrpSpPr>
        <p:cNvPr id="1" name="Shape 856"/>
        <p:cNvGrpSpPr/>
        <p:nvPr/>
      </p:nvGrpSpPr>
      <p:grpSpPr>
        <a:xfrm>
          <a:off x="0" y="0"/>
          <a:ext cx="0" cy="0"/>
          <a:chOff x="0" y="0"/>
          <a:chExt cx="0" cy="0"/>
        </a:xfrm>
      </p:grpSpPr>
      <p:sp>
        <p:nvSpPr>
          <p:cNvPr id="857" name="Google Shape;857;p105"/>
          <p:cNvSpPr txBox="1">
            <a:spLocks noGrp="1"/>
          </p:cNvSpPr>
          <p:nvPr>
            <p:ph type="title"/>
          </p:nvPr>
        </p:nvSpPr>
        <p:spPr>
          <a:xfrm>
            <a:off x="677334" y="3048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Sprint	</a:t>
            </a:r>
            <a:endParaRPr/>
          </a:p>
        </p:txBody>
      </p:sp>
      <p:sp>
        <p:nvSpPr>
          <p:cNvPr id="858" name="Google Shape;858;p105"/>
          <p:cNvSpPr txBox="1">
            <a:spLocks noGrp="1"/>
          </p:cNvSpPr>
          <p:nvPr>
            <p:ph type="body" idx="1"/>
          </p:nvPr>
        </p:nvSpPr>
        <p:spPr>
          <a:xfrm>
            <a:off x="677334" y="1117600"/>
            <a:ext cx="11280986" cy="5516880"/>
          </a:xfrm>
          <a:prstGeom prst="rect">
            <a:avLst/>
          </a:prstGeom>
          <a:noFill/>
          <a:ln>
            <a:noFill/>
          </a:ln>
        </p:spPr>
        <p:txBody>
          <a:bodyPr spcFirstLastPara="1" wrap="square" lIns="91425" tIns="45700" rIns="91425" bIns="45700" anchor="t" anchorCtr="0">
            <a:normAutofit/>
          </a:bodyPr>
          <a:lstStyle/>
          <a:p>
            <a:pPr marL="342900" lvl="0" indent="-342900" algn="l" rtl="0">
              <a:lnSpc>
                <a:spcPct val="150000"/>
              </a:lnSpc>
              <a:spcBef>
                <a:spcPts val="0"/>
              </a:spcBef>
              <a:spcAft>
                <a:spcPts val="0"/>
              </a:spcAft>
              <a:buSzPts val="1440"/>
              <a:buChar char="►"/>
            </a:pPr>
            <a:r>
              <a:rPr lang="en-US"/>
              <a:t>Support developers in unit testing</a:t>
            </a:r>
            <a:endParaRPr/>
          </a:p>
          <a:p>
            <a:pPr marL="342900" lvl="0" indent="-342900" algn="l" rtl="0">
              <a:lnSpc>
                <a:spcPct val="150000"/>
              </a:lnSpc>
              <a:spcBef>
                <a:spcPts val="1000"/>
              </a:spcBef>
              <a:spcAft>
                <a:spcPts val="0"/>
              </a:spcAft>
              <a:buSzPts val="1440"/>
              <a:buChar char="►"/>
            </a:pPr>
            <a:r>
              <a:rPr lang="en-US"/>
              <a:t>Test execution is performed in a lab where both tester and developer work hand in hand.</a:t>
            </a:r>
            <a:endParaRPr/>
          </a:p>
          <a:p>
            <a:pPr marL="342900" lvl="0" indent="-342900" algn="l" rtl="0">
              <a:lnSpc>
                <a:spcPct val="150000"/>
              </a:lnSpc>
              <a:spcBef>
                <a:spcPts val="1000"/>
              </a:spcBef>
              <a:spcAft>
                <a:spcPts val="0"/>
              </a:spcAft>
              <a:buSzPts val="1440"/>
              <a:buChar char="►"/>
            </a:pPr>
            <a:r>
              <a:rPr lang="en-US"/>
              <a:t>Defects are analysed during scrum meeting. </a:t>
            </a:r>
            <a:endParaRPr/>
          </a:p>
          <a:p>
            <a:pPr marL="342900" lvl="0" indent="-342900" algn="l" rtl="0">
              <a:lnSpc>
                <a:spcPct val="150000"/>
              </a:lnSpc>
              <a:spcBef>
                <a:spcPts val="1000"/>
              </a:spcBef>
              <a:spcAft>
                <a:spcPts val="0"/>
              </a:spcAft>
              <a:buSzPts val="1440"/>
              <a:buChar char="►"/>
            </a:pPr>
            <a:r>
              <a:rPr lang="en-US"/>
              <a:t>Defects are retested as soon as it is resolved and deployed for testing</a:t>
            </a:r>
            <a:endParaRPr/>
          </a:p>
          <a:p>
            <a:pPr marL="342900" lvl="0" indent="-342900" algn="l" rtl="0">
              <a:lnSpc>
                <a:spcPct val="150000"/>
              </a:lnSpc>
              <a:spcBef>
                <a:spcPts val="1000"/>
              </a:spcBef>
              <a:spcAft>
                <a:spcPts val="0"/>
              </a:spcAft>
              <a:buSzPts val="1440"/>
              <a:buChar char="►"/>
            </a:pPr>
            <a:r>
              <a:rPr lang="en-US"/>
              <a:t>Attend all daily standup meeting to speak up</a:t>
            </a:r>
            <a:endParaRPr/>
          </a:p>
          <a:p>
            <a:pPr marL="342900" lvl="0" indent="-342900" algn="l" rtl="0">
              <a:lnSpc>
                <a:spcPct val="150000"/>
              </a:lnSpc>
              <a:spcBef>
                <a:spcPts val="1000"/>
              </a:spcBef>
              <a:spcAft>
                <a:spcPts val="0"/>
              </a:spcAft>
              <a:buSzPts val="1440"/>
              <a:buChar char="►"/>
            </a:pPr>
            <a:r>
              <a:rPr lang="en-US"/>
              <a:t>Schedule testing with CI system.</a:t>
            </a:r>
            <a:endParaRPr/>
          </a:p>
          <a:p>
            <a:pPr marL="342900" lvl="0" indent="-342900" algn="l" rtl="0">
              <a:lnSpc>
                <a:spcPct val="150000"/>
              </a:lnSpc>
              <a:spcBef>
                <a:spcPts val="1000"/>
              </a:spcBef>
              <a:spcAft>
                <a:spcPts val="0"/>
              </a:spcAft>
              <a:buSzPts val="1440"/>
              <a:buChar char="►"/>
            </a:pPr>
            <a:r>
              <a:rPr lang="en-US"/>
              <a:t>Accomplish the automation test by utilizing various open source or paid tools available in the market.</a:t>
            </a:r>
            <a:endParaRPr/>
          </a:p>
          <a:p>
            <a:pPr marL="342900" lvl="0" indent="-342900" algn="l" rtl="0">
              <a:lnSpc>
                <a:spcPct val="150000"/>
              </a:lnSpc>
              <a:spcBef>
                <a:spcPts val="1000"/>
              </a:spcBef>
              <a:spcAft>
                <a:spcPts val="0"/>
              </a:spcAft>
              <a:buSzPts val="1440"/>
              <a:buChar char="►"/>
            </a:pPr>
            <a:r>
              <a:rPr lang="en-US"/>
              <a:t>Review CI automation results and send the Reports </a:t>
            </a:r>
            <a:endParaRPr/>
          </a:p>
          <a:p>
            <a:pPr marL="342900" lvl="0" indent="-342900" algn="l" rtl="0">
              <a:lnSpc>
                <a:spcPct val="150000"/>
              </a:lnSpc>
              <a:spcBef>
                <a:spcPts val="1000"/>
              </a:spcBef>
              <a:spcAft>
                <a:spcPts val="0"/>
              </a:spcAft>
              <a:buSzPts val="1440"/>
              <a:buChar char="►"/>
            </a:pPr>
            <a:r>
              <a:rPr lang="en-US"/>
              <a:t>At the end of the sprint, the tester also does acceptance testing (UAT) in some case and confirms testing completeness for the current sprint</a:t>
            </a:r>
            <a:endParaRPr/>
          </a:p>
          <a:p>
            <a:pPr marL="342900" lvl="0" indent="-251459" algn="l" rtl="0">
              <a:lnSpc>
                <a:spcPct val="150000"/>
              </a:lnSpc>
              <a:spcBef>
                <a:spcPts val="1000"/>
              </a:spcBef>
              <a:spcAft>
                <a:spcPts val="0"/>
              </a:spcAft>
              <a:buSzPts val="1440"/>
              <a:buNone/>
            </a:pPr>
            <a:endParaRPr/>
          </a:p>
          <a:p>
            <a:pPr marL="342900" lvl="0" indent="-251459" algn="l" rtl="0">
              <a:lnSpc>
                <a:spcPct val="150000"/>
              </a:lnSpc>
              <a:spcBef>
                <a:spcPts val="1000"/>
              </a:spcBef>
              <a:spcAft>
                <a:spcPts val="0"/>
              </a:spcAft>
              <a:buSzPts val="1440"/>
              <a:buNone/>
            </a:pPr>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862"/>
        <p:cNvGrpSpPr/>
        <p:nvPr/>
      </p:nvGrpSpPr>
      <p:grpSpPr>
        <a:xfrm>
          <a:off x="0" y="0"/>
          <a:ext cx="0" cy="0"/>
          <a:chOff x="0" y="0"/>
          <a:chExt cx="0" cy="0"/>
        </a:xfrm>
      </p:grpSpPr>
      <p:sp>
        <p:nvSpPr>
          <p:cNvPr id="863" name="Google Shape;863;p106"/>
          <p:cNvSpPr txBox="1">
            <a:spLocks noGrp="1"/>
          </p:cNvSpPr>
          <p:nvPr>
            <p:ph type="title"/>
          </p:nvPr>
        </p:nvSpPr>
        <p:spPr>
          <a:xfrm>
            <a:off x="677334" y="275590"/>
            <a:ext cx="8596668" cy="1017905"/>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chemeClr val="accent1"/>
              </a:buClr>
              <a:buSzPct val="100000"/>
              <a:buFont typeface="Trebuchet MS"/>
              <a:buNone/>
            </a:pPr>
            <a:r>
              <a:rPr lang="en-US" sz="4400"/>
              <a:t>2. Daily Scrum Meeting</a:t>
            </a:r>
            <a:br>
              <a:rPr lang="en-US" sz="4400"/>
            </a:br>
            <a:endParaRPr sz="4400" b="1">
              <a:solidFill>
                <a:srgbClr val="0070C0"/>
              </a:solidFill>
            </a:endParaRPr>
          </a:p>
        </p:txBody>
      </p:sp>
      <p:sp>
        <p:nvSpPr>
          <p:cNvPr id="864" name="Google Shape;864;p106"/>
          <p:cNvSpPr txBox="1">
            <a:spLocks noGrp="1"/>
          </p:cNvSpPr>
          <p:nvPr>
            <p:ph type="body" idx="1"/>
          </p:nvPr>
        </p:nvSpPr>
        <p:spPr>
          <a:xfrm>
            <a:off x="223284" y="1930399"/>
            <a:ext cx="3296093" cy="4582203"/>
          </a:xfrm>
          <a:prstGeom prst="rect">
            <a:avLst/>
          </a:prstGeom>
          <a:noFill/>
          <a:ln>
            <a:noFill/>
          </a:ln>
        </p:spPr>
        <p:txBody>
          <a:bodyPr spcFirstLastPara="1" wrap="square" lIns="91425" tIns="45700" rIns="91425" bIns="45700" anchor="t" anchorCtr="0">
            <a:normAutofit/>
          </a:bodyPr>
          <a:lstStyle/>
          <a:p>
            <a:pPr marL="0" lvl="0" indent="0" algn="l" rtl="0">
              <a:lnSpc>
                <a:spcPct val="150000"/>
              </a:lnSpc>
              <a:spcBef>
                <a:spcPts val="0"/>
              </a:spcBef>
              <a:spcAft>
                <a:spcPts val="0"/>
              </a:spcAft>
              <a:buSzPts val="1440"/>
              <a:buNone/>
            </a:pPr>
            <a:r>
              <a:rPr lang="en-US" u="sng"/>
              <a:t>Participants</a:t>
            </a:r>
            <a:r>
              <a:rPr lang="en-US"/>
              <a:t> – </a:t>
            </a:r>
            <a:endParaRPr/>
          </a:p>
          <a:p>
            <a:pPr marL="0" lvl="0" indent="0" algn="l" rtl="0">
              <a:lnSpc>
                <a:spcPct val="150000"/>
              </a:lnSpc>
              <a:spcBef>
                <a:spcPts val="1000"/>
              </a:spcBef>
              <a:spcAft>
                <a:spcPts val="0"/>
              </a:spcAft>
              <a:buSzPts val="1440"/>
              <a:buNone/>
            </a:pPr>
            <a:r>
              <a:rPr lang="en-US"/>
              <a:t>	Client, (Product owner)</a:t>
            </a:r>
            <a:endParaRPr/>
          </a:p>
          <a:p>
            <a:pPr marL="0" lvl="0" indent="0" algn="l" rtl="0">
              <a:lnSpc>
                <a:spcPct val="150000"/>
              </a:lnSpc>
              <a:spcBef>
                <a:spcPts val="1000"/>
              </a:spcBef>
              <a:spcAft>
                <a:spcPts val="0"/>
              </a:spcAft>
              <a:buSzPts val="1440"/>
              <a:buNone/>
            </a:pPr>
            <a:r>
              <a:rPr lang="en-US"/>
              <a:t>	Scrum Master, (Lead)</a:t>
            </a:r>
            <a:endParaRPr/>
          </a:p>
          <a:p>
            <a:pPr marL="0" lvl="0" indent="0" algn="l" rtl="0">
              <a:lnSpc>
                <a:spcPct val="150000"/>
              </a:lnSpc>
              <a:spcBef>
                <a:spcPts val="1000"/>
              </a:spcBef>
              <a:spcAft>
                <a:spcPts val="0"/>
              </a:spcAft>
              <a:buSzPts val="1440"/>
              <a:buNone/>
            </a:pPr>
            <a:r>
              <a:rPr lang="en-US"/>
              <a:t>	Dev Team,</a:t>
            </a:r>
            <a:endParaRPr/>
          </a:p>
          <a:p>
            <a:pPr marL="0" lvl="0" indent="0" algn="l" rtl="0">
              <a:lnSpc>
                <a:spcPct val="150000"/>
              </a:lnSpc>
              <a:spcBef>
                <a:spcPts val="1000"/>
              </a:spcBef>
              <a:spcAft>
                <a:spcPts val="0"/>
              </a:spcAft>
              <a:buSzPts val="1440"/>
              <a:buNone/>
            </a:pPr>
            <a:r>
              <a:rPr lang="en-US"/>
              <a:t>	Automation Team</a:t>
            </a:r>
            <a:endParaRPr/>
          </a:p>
          <a:p>
            <a:pPr marL="0" lvl="0" indent="0" algn="l" rtl="0">
              <a:lnSpc>
                <a:spcPct val="150000"/>
              </a:lnSpc>
              <a:spcBef>
                <a:spcPts val="1000"/>
              </a:spcBef>
              <a:spcAft>
                <a:spcPts val="0"/>
              </a:spcAft>
              <a:buSzPts val="1440"/>
              <a:buNone/>
            </a:pPr>
            <a:r>
              <a:rPr lang="en-US"/>
              <a:t>	Functional Team 	(Manual)</a:t>
            </a:r>
            <a:endParaRPr/>
          </a:p>
          <a:p>
            <a:pPr marL="342900" lvl="0" indent="-251459" algn="l" rtl="0">
              <a:lnSpc>
                <a:spcPct val="150000"/>
              </a:lnSpc>
              <a:spcBef>
                <a:spcPts val="1000"/>
              </a:spcBef>
              <a:spcAft>
                <a:spcPts val="0"/>
              </a:spcAft>
              <a:buSzPts val="1440"/>
              <a:buNone/>
            </a:pPr>
            <a:endParaRPr/>
          </a:p>
        </p:txBody>
      </p:sp>
      <p:pic>
        <p:nvPicPr>
          <p:cNvPr id="865" name="Google Shape;865;p106" descr="What is a Daily Scrum?"/>
          <p:cNvPicPr preferRelativeResize="0"/>
          <p:nvPr/>
        </p:nvPicPr>
        <p:blipFill rotWithShape="1">
          <a:blip r:embed="rId3">
            <a:alphaModFix/>
          </a:blip>
          <a:srcRect/>
          <a:stretch/>
        </p:blipFill>
        <p:spPr>
          <a:xfrm>
            <a:off x="4142316" y="1293495"/>
            <a:ext cx="7372350" cy="4772025"/>
          </a:xfrm>
          <a:prstGeom prst="rect">
            <a:avLst/>
          </a:prstGeom>
          <a:noFill/>
          <a:ln>
            <a:noFill/>
          </a:ln>
        </p:spPr>
      </p:pic>
      <p:pic>
        <p:nvPicPr>
          <p:cNvPr id="866" name="Google Shape;866;p106" descr="A simple way to break into Cisco Webex Meeting Rooms!! | by Sriram ..."/>
          <p:cNvPicPr preferRelativeResize="0"/>
          <p:nvPr/>
        </p:nvPicPr>
        <p:blipFill rotWithShape="1">
          <a:blip r:embed="rId4">
            <a:alphaModFix/>
          </a:blip>
          <a:srcRect/>
          <a:stretch/>
        </p:blipFill>
        <p:spPr>
          <a:xfrm>
            <a:off x="6977221" y="378459"/>
            <a:ext cx="2296781" cy="812165"/>
          </a:xfrm>
          <a:prstGeom prst="rect">
            <a:avLst/>
          </a:prstGeom>
          <a:noFill/>
          <a:ln>
            <a:noFill/>
          </a:ln>
        </p:spPr>
      </p:pic>
      <p:pic>
        <p:nvPicPr>
          <p:cNvPr id="867" name="Google Shape;867;p106" descr="BlueJeans Gateway for Microsoft Teams - Custom IVR &amp; Vanity URL"/>
          <p:cNvPicPr preferRelativeResize="0"/>
          <p:nvPr/>
        </p:nvPicPr>
        <p:blipFill rotWithShape="1">
          <a:blip r:embed="rId5">
            <a:alphaModFix/>
          </a:blip>
          <a:srcRect/>
          <a:stretch/>
        </p:blipFill>
        <p:spPr>
          <a:xfrm>
            <a:off x="2599685" y="5534025"/>
            <a:ext cx="4044956" cy="1321401"/>
          </a:xfrm>
          <a:prstGeom prst="rect">
            <a:avLst/>
          </a:prstGeom>
          <a:noFill/>
          <a:ln>
            <a:noFill/>
          </a:ln>
        </p:spPr>
      </p:pic>
      <p:pic>
        <p:nvPicPr>
          <p:cNvPr id="868" name="Google Shape;868;p106" descr="Privacy Concerns with Skype - Swordfish Evaluations"/>
          <p:cNvPicPr preferRelativeResize="0"/>
          <p:nvPr/>
        </p:nvPicPr>
        <p:blipFill rotWithShape="1">
          <a:blip r:embed="rId6">
            <a:alphaModFix/>
          </a:blip>
          <a:srcRect/>
          <a:stretch/>
        </p:blipFill>
        <p:spPr>
          <a:xfrm>
            <a:off x="7131402" y="6061176"/>
            <a:ext cx="1260758" cy="709176"/>
          </a:xfrm>
          <a:prstGeom prst="rect">
            <a:avLst/>
          </a:prstGeom>
          <a:noFill/>
          <a:ln>
            <a:noFill/>
          </a:ln>
        </p:spPr>
      </p:pic>
      <p:pic>
        <p:nvPicPr>
          <p:cNvPr id="869" name="Google Shape;869;p106"/>
          <p:cNvPicPr preferRelativeResize="0"/>
          <p:nvPr/>
        </p:nvPicPr>
        <p:blipFill rotWithShape="1">
          <a:blip r:embed="rId7">
            <a:alphaModFix/>
          </a:blip>
          <a:srcRect/>
          <a:stretch/>
        </p:blipFill>
        <p:spPr>
          <a:xfrm>
            <a:off x="9021042" y="6076891"/>
            <a:ext cx="724369" cy="435711"/>
          </a:xfrm>
          <a:prstGeom prst="rect">
            <a:avLst/>
          </a:prstGeom>
          <a:noFill/>
          <a:ln>
            <a:noFill/>
          </a:ln>
        </p:spPr>
      </p:pic>
      <p:pic>
        <p:nvPicPr>
          <p:cNvPr id="870" name="Google Shape;870;p106"/>
          <p:cNvPicPr preferRelativeResize="0"/>
          <p:nvPr/>
        </p:nvPicPr>
        <p:blipFill rotWithShape="1">
          <a:blip r:embed="rId8">
            <a:alphaModFix/>
          </a:blip>
          <a:srcRect/>
          <a:stretch/>
        </p:blipFill>
        <p:spPr>
          <a:xfrm>
            <a:off x="9745411" y="6108252"/>
            <a:ext cx="365125" cy="372987"/>
          </a:xfrm>
          <a:prstGeom prst="rect">
            <a:avLst/>
          </a:prstGeom>
          <a:noFill/>
          <a:ln>
            <a:noFill/>
          </a:ln>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874"/>
        <p:cNvGrpSpPr/>
        <p:nvPr/>
      </p:nvGrpSpPr>
      <p:grpSpPr>
        <a:xfrm>
          <a:off x="0" y="0"/>
          <a:ext cx="0" cy="0"/>
          <a:chOff x="0" y="0"/>
          <a:chExt cx="0" cy="0"/>
        </a:xfrm>
      </p:grpSpPr>
      <p:sp>
        <p:nvSpPr>
          <p:cNvPr id="875" name="Google Shape;875;p107"/>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3. Sprint Review Meeting</a:t>
            </a:r>
            <a:endParaRPr/>
          </a:p>
        </p:txBody>
      </p:sp>
      <p:sp>
        <p:nvSpPr>
          <p:cNvPr id="876" name="Google Shape;876;p107"/>
          <p:cNvSpPr txBox="1">
            <a:spLocks noGrp="1"/>
          </p:cNvSpPr>
          <p:nvPr>
            <p:ph type="body" idx="1"/>
          </p:nvPr>
        </p:nvSpPr>
        <p:spPr>
          <a:xfrm>
            <a:off x="74428" y="2214524"/>
            <a:ext cx="6560288" cy="3372886"/>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n-US"/>
              <a:t>The </a:t>
            </a:r>
            <a:r>
              <a:rPr lang="en-US" b="1"/>
              <a:t>sprint review</a:t>
            </a:r>
            <a:r>
              <a:rPr lang="en-US"/>
              <a:t> is an informal </a:t>
            </a:r>
            <a:r>
              <a:rPr lang="en-US" b="1"/>
              <a:t>meeting</a:t>
            </a:r>
            <a:r>
              <a:rPr lang="en-US"/>
              <a:t> which the development team, the </a:t>
            </a:r>
            <a:r>
              <a:rPr lang="en-US" b="1"/>
              <a:t>scrum</a:t>
            </a:r>
            <a:r>
              <a:rPr lang="en-US"/>
              <a:t> master, the product owner and the stakeholders will attend. </a:t>
            </a:r>
            <a:endParaRPr/>
          </a:p>
          <a:p>
            <a:pPr marL="342900" lvl="0" indent="-317500" algn="l" rtl="0">
              <a:spcBef>
                <a:spcPts val="1000"/>
              </a:spcBef>
              <a:spcAft>
                <a:spcPts val="0"/>
              </a:spcAft>
              <a:buSzPts val="400"/>
              <a:buNone/>
            </a:pPr>
            <a:endParaRPr sz="500"/>
          </a:p>
          <a:p>
            <a:pPr marL="342900" lvl="0" indent="-342900" algn="l" rtl="0">
              <a:spcBef>
                <a:spcPts val="1000"/>
              </a:spcBef>
              <a:spcAft>
                <a:spcPts val="0"/>
              </a:spcAft>
              <a:buSzPts val="1440"/>
              <a:buChar char="►"/>
            </a:pPr>
            <a:r>
              <a:rPr lang="en-US"/>
              <a:t>The team gives a demo on the product and will determine what are finished and what aren’t.</a:t>
            </a:r>
            <a:endParaRPr/>
          </a:p>
          <a:p>
            <a:pPr marL="342900" lvl="0" indent="-307340" algn="l" rtl="0">
              <a:spcBef>
                <a:spcPts val="1000"/>
              </a:spcBef>
              <a:spcAft>
                <a:spcPts val="0"/>
              </a:spcAft>
              <a:buSzPts val="560"/>
              <a:buNone/>
            </a:pPr>
            <a:endParaRPr sz="700"/>
          </a:p>
          <a:p>
            <a:pPr marL="342900" lvl="0" indent="-342900" algn="l" rtl="0">
              <a:spcBef>
                <a:spcPts val="1000"/>
              </a:spcBef>
              <a:spcAft>
                <a:spcPts val="0"/>
              </a:spcAft>
              <a:buSzPts val="1440"/>
              <a:buChar char="►"/>
            </a:pPr>
            <a:r>
              <a:rPr lang="en-US"/>
              <a:t>It is mandatory to deliver a potentially shippable product increment at the end of every </a:t>
            </a:r>
            <a:r>
              <a:rPr lang="en-US" b="1"/>
              <a:t>Sprint. </a:t>
            </a:r>
            <a:r>
              <a:rPr lang="en-US"/>
              <a:t>So,</a:t>
            </a:r>
            <a:r>
              <a:rPr lang="en-US" b="1"/>
              <a:t> Sprint Review meeting</a:t>
            </a:r>
            <a:r>
              <a:rPr lang="en-US"/>
              <a:t> is held at the end of each </a:t>
            </a:r>
            <a:r>
              <a:rPr lang="en-US" b="1"/>
              <a:t>Sprint</a:t>
            </a:r>
            <a:r>
              <a:rPr lang="en-US"/>
              <a:t>.</a:t>
            </a:r>
            <a:endParaRPr/>
          </a:p>
        </p:txBody>
      </p:sp>
      <p:pic>
        <p:nvPicPr>
          <p:cNvPr id="877" name="Google Shape;877;p107" descr="003 the Importance of Stakeholders at Sprint Review - YouTube"/>
          <p:cNvPicPr preferRelativeResize="0"/>
          <p:nvPr/>
        </p:nvPicPr>
        <p:blipFill rotWithShape="1">
          <a:blip r:embed="rId3">
            <a:alphaModFix/>
          </a:blip>
          <a:srcRect/>
          <a:stretch/>
        </p:blipFill>
        <p:spPr>
          <a:xfrm>
            <a:off x="6734002" y="1554715"/>
            <a:ext cx="5080000" cy="4316819"/>
          </a:xfrm>
          <a:prstGeom prst="rect">
            <a:avLst/>
          </a:prstGeom>
          <a:noFill/>
          <a:ln>
            <a:noFill/>
          </a:ln>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881"/>
        <p:cNvGrpSpPr/>
        <p:nvPr/>
      </p:nvGrpSpPr>
      <p:grpSpPr>
        <a:xfrm>
          <a:off x="0" y="0"/>
          <a:ext cx="0" cy="0"/>
          <a:chOff x="0" y="0"/>
          <a:chExt cx="0" cy="0"/>
        </a:xfrm>
      </p:grpSpPr>
      <p:sp>
        <p:nvSpPr>
          <p:cNvPr id="882" name="Google Shape;882;p108"/>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4. Sprint Retrospective Meeting</a:t>
            </a:r>
            <a:endParaRPr/>
          </a:p>
        </p:txBody>
      </p:sp>
      <p:sp>
        <p:nvSpPr>
          <p:cNvPr id="883" name="Google Shape;883;p108"/>
          <p:cNvSpPr txBox="1">
            <a:spLocks noGrp="1"/>
          </p:cNvSpPr>
          <p:nvPr>
            <p:ph type="body" idx="1"/>
          </p:nvPr>
        </p:nvSpPr>
        <p:spPr>
          <a:xfrm>
            <a:off x="677334" y="2160589"/>
            <a:ext cx="6308257" cy="3880773"/>
          </a:xfrm>
          <a:prstGeom prst="rect">
            <a:avLst/>
          </a:prstGeom>
          <a:noFill/>
          <a:ln>
            <a:noFill/>
          </a:ln>
        </p:spPr>
        <p:txBody>
          <a:bodyPr spcFirstLastPara="1" wrap="square" lIns="91425" tIns="45700" rIns="91425" bIns="45700" anchor="t" anchorCtr="0">
            <a:normAutofit/>
          </a:bodyPr>
          <a:lstStyle/>
          <a:p>
            <a:pPr marL="342900" lvl="0" indent="-342900" algn="l" rtl="0">
              <a:lnSpc>
                <a:spcPct val="150000"/>
              </a:lnSpc>
              <a:spcBef>
                <a:spcPts val="0"/>
              </a:spcBef>
              <a:spcAft>
                <a:spcPts val="0"/>
              </a:spcAft>
              <a:buSzPts val="1440"/>
              <a:buChar char="►"/>
            </a:pPr>
            <a:r>
              <a:rPr lang="en-US"/>
              <a:t>As a tester, He will figure out what went wrong and what went right in current sprint</a:t>
            </a:r>
            <a:endParaRPr/>
          </a:p>
          <a:p>
            <a:pPr marL="342900" lvl="0" indent="-281940" algn="l" rtl="0">
              <a:lnSpc>
                <a:spcPct val="150000"/>
              </a:lnSpc>
              <a:spcBef>
                <a:spcPts val="1000"/>
              </a:spcBef>
              <a:spcAft>
                <a:spcPts val="0"/>
              </a:spcAft>
              <a:buSzPts val="960"/>
              <a:buNone/>
            </a:pPr>
            <a:endParaRPr sz="1200"/>
          </a:p>
          <a:p>
            <a:pPr marL="342900" lvl="0" indent="-342900" algn="l" rtl="0">
              <a:lnSpc>
                <a:spcPct val="150000"/>
              </a:lnSpc>
              <a:spcBef>
                <a:spcPts val="1000"/>
              </a:spcBef>
              <a:spcAft>
                <a:spcPts val="0"/>
              </a:spcAft>
              <a:buSzPts val="1440"/>
              <a:buChar char="►"/>
            </a:pPr>
            <a:r>
              <a:rPr lang="en-US"/>
              <a:t>As a tester, He identifies lesson learned and best practices.</a:t>
            </a:r>
            <a:endParaRPr/>
          </a:p>
        </p:txBody>
      </p:sp>
      <p:pic>
        <p:nvPicPr>
          <p:cNvPr id="884" name="Google Shape;884;p108" descr="A QA-Focused Retrospective for Better Software Quality - QualityLogic"/>
          <p:cNvPicPr preferRelativeResize="0"/>
          <p:nvPr/>
        </p:nvPicPr>
        <p:blipFill rotWithShape="1">
          <a:blip r:embed="rId3">
            <a:alphaModFix/>
          </a:blip>
          <a:srcRect/>
          <a:stretch/>
        </p:blipFill>
        <p:spPr>
          <a:xfrm>
            <a:off x="6874503" y="1784805"/>
            <a:ext cx="4044740" cy="4026763"/>
          </a:xfrm>
          <a:prstGeom prst="rect">
            <a:avLst/>
          </a:prstGeom>
          <a:noFill/>
          <a:ln>
            <a:noFill/>
          </a:ln>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888"/>
        <p:cNvGrpSpPr/>
        <p:nvPr/>
      </p:nvGrpSpPr>
      <p:grpSpPr>
        <a:xfrm>
          <a:off x="0" y="0"/>
          <a:ext cx="0" cy="0"/>
          <a:chOff x="0" y="0"/>
          <a:chExt cx="0" cy="0"/>
        </a:xfrm>
      </p:grpSpPr>
      <p:sp>
        <p:nvSpPr>
          <p:cNvPr id="889" name="Google Shape;889;p109"/>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EB7564"/>
              </a:buClr>
              <a:buSzPts val="3600"/>
              <a:buFont typeface="Trebuchet MS"/>
              <a:buNone/>
            </a:pPr>
            <a:r>
              <a:rPr lang="en-US">
                <a:solidFill>
                  <a:srgbClr val="EB7564"/>
                </a:solidFill>
              </a:rPr>
              <a:t>Sprint of our Project</a:t>
            </a:r>
            <a:endParaRPr/>
          </a:p>
        </p:txBody>
      </p:sp>
      <p:sp>
        <p:nvSpPr>
          <p:cNvPr id="890" name="Google Shape;890;p109"/>
          <p:cNvSpPr txBox="1">
            <a:spLocks noGrp="1"/>
          </p:cNvSpPr>
          <p:nvPr>
            <p:ph type="body" idx="1"/>
          </p:nvPr>
        </p:nvSpPr>
        <p:spPr>
          <a:xfrm>
            <a:off x="2823198" y="1778386"/>
            <a:ext cx="7826942" cy="4470014"/>
          </a:xfrm>
          <a:prstGeom prst="rect">
            <a:avLst/>
          </a:prstGeom>
          <a:noFill/>
          <a:ln>
            <a:noFill/>
          </a:ln>
        </p:spPr>
        <p:txBody>
          <a:bodyPr spcFirstLastPara="1" wrap="square" lIns="91425" tIns="45700" rIns="91425" bIns="45700" anchor="t" anchorCtr="0">
            <a:normAutofit/>
          </a:bodyPr>
          <a:lstStyle/>
          <a:p>
            <a:pPr marL="342900" lvl="0" indent="-342900" algn="l" rtl="0">
              <a:lnSpc>
                <a:spcPct val="150000"/>
              </a:lnSpc>
              <a:spcBef>
                <a:spcPts val="0"/>
              </a:spcBef>
              <a:spcAft>
                <a:spcPts val="0"/>
              </a:spcAft>
              <a:buSzPts val="1440"/>
              <a:buChar char="►"/>
            </a:pPr>
            <a:r>
              <a:rPr lang="en-US"/>
              <a:t>2 weeks of sprint</a:t>
            </a:r>
            <a:endParaRPr/>
          </a:p>
          <a:p>
            <a:pPr marL="342900" lvl="0" indent="-342900" algn="l" rtl="0">
              <a:lnSpc>
                <a:spcPct val="150000"/>
              </a:lnSpc>
              <a:spcBef>
                <a:spcPts val="1000"/>
              </a:spcBef>
              <a:spcAft>
                <a:spcPts val="0"/>
              </a:spcAft>
              <a:buSzPts val="1440"/>
              <a:buChar char="►"/>
            </a:pPr>
            <a:r>
              <a:rPr lang="en-US"/>
              <a:t>1.5 years – 35 sprint</a:t>
            </a:r>
            <a:endParaRPr/>
          </a:p>
          <a:p>
            <a:pPr marL="342900" lvl="0" indent="-342900" algn="l" rtl="0">
              <a:lnSpc>
                <a:spcPct val="150000"/>
              </a:lnSpc>
              <a:spcBef>
                <a:spcPts val="1000"/>
              </a:spcBef>
              <a:spcAft>
                <a:spcPts val="0"/>
              </a:spcAft>
              <a:buSzPts val="1440"/>
              <a:buChar char="►"/>
            </a:pPr>
            <a:r>
              <a:rPr lang="en-US"/>
              <a:t>Last Sprint 35</a:t>
            </a:r>
            <a:endParaRPr/>
          </a:p>
          <a:p>
            <a:pPr marL="342900" lvl="0" indent="-342900" algn="l" rtl="0">
              <a:lnSpc>
                <a:spcPct val="150000"/>
              </a:lnSpc>
              <a:spcBef>
                <a:spcPts val="1000"/>
              </a:spcBef>
              <a:spcAft>
                <a:spcPts val="0"/>
              </a:spcAft>
              <a:buSzPts val="1440"/>
              <a:buChar char="►"/>
            </a:pPr>
            <a:r>
              <a:rPr lang="en-US"/>
              <a:t>Current Status:</a:t>
            </a:r>
            <a:endParaRPr/>
          </a:p>
          <a:p>
            <a:pPr marL="342900" lvl="0" indent="-342900" algn="l" rtl="0">
              <a:lnSpc>
                <a:spcPct val="150000"/>
              </a:lnSpc>
              <a:spcBef>
                <a:spcPts val="1000"/>
              </a:spcBef>
              <a:spcAft>
                <a:spcPts val="0"/>
              </a:spcAft>
              <a:buSzPts val="1440"/>
              <a:buChar char="►"/>
            </a:pPr>
            <a:r>
              <a:rPr lang="en-US"/>
              <a:t>First Sprint?</a:t>
            </a:r>
            <a:endParaRPr/>
          </a:p>
          <a:p>
            <a:pPr marL="0" lvl="0" indent="0" algn="l" rtl="0">
              <a:lnSpc>
                <a:spcPct val="150000"/>
              </a:lnSpc>
              <a:spcBef>
                <a:spcPts val="1000"/>
              </a:spcBef>
              <a:spcAft>
                <a:spcPts val="0"/>
              </a:spcAft>
              <a:buSzPts val="1440"/>
              <a:buNone/>
            </a:pPr>
            <a:r>
              <a:rPr lang="en-US"/>
              <a:t>			POC</a:t>
            </a:r>
            <a:endParaRPr/>
          </a:p>
        </p:txBody>
      </p:sp>
      <p:pic>
        <p:nvPicPr>
          <p:cNvPr id="891" name="Google Shape;891;p109" descr="When to Use a Proof of Concept in Marketing Software Selection—And ..."/>
          <p:cNvPicPr preferRelativeResize="0"/>
          <p:nvPr/>
        </p:nvPicPr>
        <p:blipFill rotWithShape="1">
          <a:blip r:embed="rId3">
            <a:alphaModFix/>
          </a:blip>
          <a:srcRect/>
          <a:stretch/>
        </p:blipFill>
        <p:spPr>
          <a:xfrm>
            <a:off x="4787531" y="4425804"/>
            <a:ext cx="2325585" cy="1822596"/>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895"/>
        <p:cNvGrpSpPr/>
        <p:nvPr/>
      </p:nvGrpSpPr>
      <p:grpSpPr>
        <a:xfrm>
          <a:off x="0" y="0"/>
          <a:ext cx="0" cy="0"/>
          <a:chOff x="0" y="0"/>
          <a:chExt cx="0" cy="0"/>
        </a:xfrm>
      </p:grpSpPr>
      <p:sp>
        <p:nvSpPr>
          <p:cNvPr id="896" name="Google Shape;896;p110"/>
          <p:cNvSpPr txBox="1">
            <a:spLocks noGrp="1"/>
          </p:cNvSpPr>
          <p:nvPr>
            <p:ph type="title"/>
          </p:nvPr>
        </p:nvSpPr>
        <p:spPr>
          <a:xfrm>
            <a:off x="677333" y="0"/>
            <a:ext cx="8596668" cy="1042310"/>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rgbClr val="0070C0"/>
              </a:buClr>
              <a:buSzPts val="4400"/>
              <a:buFont typeface="Trebuchet MS"/>
              <a:buNone/>
            </a:pPr>
            <a:r>
              <a:rPr lang="en-US" sz="4400" b="1">
                <a:solidFill>
                  <a:srgbClr val="0070C0"/>
                </a:solidFill>
              </a:rPr>
              <a:t>20. JIRA</a:t>
            </a:r>
            <a:endParaRPr/>
          </a:p>
        </p:txBody>
      </p:sp>
      <p:sp>
        <p:nvSpPr>
          <p:cNvPr id="897" name="Google Shape;897;p110"/>
          <p:cNvSpPr txBox="1">
            <a:spLocks noGrp="1"/>
          </p:cNvSpPr>
          <p:nvPr>
            <p:ph type="body" idx="1"/>
          </p:nvPr>
        </p:nvSpPr>
        <p:spPr>
          <a:xfrm>
            <a:off x="1995776" y="1029810"/>
            <a:ext cx="7278225" cy="5504155"/>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1920"/>
              <a:buNone/>
            </a:pPr>
            <a:r>
              <a:rPr lang="en-US" sz="2400" b="1"/>
              <a:t>Defect Tracking Tool</a:t>
            </a:r>
            <a:endParaRPr/>
          </a:p>
          <a:p>
            <a:pPr marL="342900" lvl="0" indent="-327660" algn="l" rtl="0">
              <a:spcBef>
                <a:spcPts val="1000"/>
              </a:spcBef>
              <a:spcAft>
                <a:spcPts val="0"/>
              </a:spcAft>
              <a:buSzPts val="240"/>
              <a:buNone/>
            </a:pPr>
            <a:endParaRPr sz="300"/>
          </a:p>
          <a:p>
            <a:pPr marL="0" lvl="0" indent="0" algn="l" rtl="0">
              <a:spcBef>
                <a:spcPts val="1000"/>
              </a:spcBef>
              <a:spcAft>
                <a:spcPts val="0"/>
              </a:spcAft>
              <a:buSzPts val="1440"/>
              <a:buNone/>
            </a:pPr>
            <a:r>
              <a:rPr lang="en-US"/>
              <a:t>To create a issue,</a:t>
            </a:r>
            <a:endParaRPr/>
          </a:p>
          <a:p>
            <a:pPr marL="342900" lvl="0" indent="-342900" algn="l" rtl="0">
              <a:spcBef>
                <a:spcPts val="1000"/>
              </a:spcBef>
              <a:spcAft>
                <a:spcPts val="0"/>
              </a:spcAft>
              <a:buSzPts val="1440"/>
              <a:buAutoNum type="arabicPeriod"/>
            </a:pPr>
            <a:r>
              <a:rPr lang="en-US" b="1"/>
              <a:t>Project		</a:t>
            </a:r>
            <a:r>
              <a:rPr lang="en-US"/>
              <a:t>:	Name of the Project</a:t>
            </a:r>
            <a:endParaRPr/>
          </a:p>
          <a:p>
            <a:pPr marL="342900" lvl="0" indent="-342900" algn="l" rtl="0">
              <a:spcBef>
                <a:spcPts val="1000"/>
              </a:spcBef>
              <a:spcAft>
                <a:spcPts val="0"/>
              </a:spcAft>
              <a:buSzPts val="1440"/>
              <a:buFont typeface="Noto Sans Symbols"/>
              <a:buAutoNum type="arabicPeriod"/>
            </a:pPr>
            <a:r>
              <a:rPr lang="en-US" b="1"/>
              <a:t>Issue Type	:</a:t>
            </a:r>
            <a:r>
              <a:rPr lang="en-US"/>
              <a:t>    	Bug/Epic/Story/Task/Subtask/New Feature</a:t>
            </a:r>
            <a:endParaRPr/>
          </a:p>
          <a:p>
            <a:pPr marL="342900" lvl="0" indent="-342900" algn="l" rtl="0">
              <a:spcBef>
                <a:spcPts val="1000"/>
              </a:spcBef>
              <a:spcAft>
                <a:spcPts val="0"/>
              </a:spcAft>
              <a:buSzPts val="1440"/>
              <a:buAutoNum type="arabicPeriod"/>
            </a:pPr>
            <a:r>
              <a:rPr lang="en-US" b="1"/>
              <a:t>Summary		</a:t>
            </a:r>
            <a:r>
              <a:rPr lang="en-US"/>
              <a:t>: 	One line summary</a:t>
            </a:r>
            <a:endParaRPr/>
          </a:p>
          <a:p>
            <a:pPr marL="342900" lvl="0" indent="-342900" algn="l" rtl="0">
              <a:spcBef>
                <a:spcPts val="1000"/>
              </a:spcBef>
              <a:spcAft>
                <a:spcPts val="0"/>
              </a:spcAft>
              <a:buSzPts val="1440"/>
              <a:buAutoNum type="arabicPeriod"/>
            </a:pPr>
            <a:r>
              <a:rPr lang="en-US" b="1"/>
              <a:t>Description	</a:t>
            </a:r>
            <a:r>
              <a:rPr lang="en-US"/>
              <a:t>: 	Details of the issue</a:t>
            </a:r>
            <a:endParaRPr/>
          </a:p>
          <a:p>
            <a:pPr marL="342900" lvl="0" indent="-342900" algn="l" rtl="0">
              <a:spcBef>
                <a:spcPts val="1000"/>
              </a:spcBef>
              <a:spcAft>
                <a:spcPts val="0"/>
              </a:spcAft>
              <a:buSzPts val="1440"/>
              <a:buFont typeface="Noto Sans Symbols"/>
              <a:buAutoNum type="arabicPeriod"/>
            </a:pPr>
            <a:r>
              <a:rPr lang="en-US" b="1"/>
              <a:t>Priority		</a:t>
            </a:r>
            <a:r>
              <a:rPr lang="en-US"/>
              <a:t>: 	High/Medium/Low/Lowest</a:t>
            </a:r>
            <a:endParaRPr/>
          </a:p>
          <a:p>
            <a:pPr marL="342900" lvl="0" indent="-342900" algn="l" rtl="0">
              <a:spcBef>
                <a:spcPts val="1000"/>
              </a:spcBef>
              <a:spcAft>
                <a:spcPts val="0"/>
              </a:spcAft>
              <a:buSzPts val="1440"/>
              <a:buAutoNum type="arabicPeriod"/>
            </a:pPr>
            <a:r>
              <a:rPr lang="en-US" b="1"/>
              <a:t>Labels		</a:t>
            </a:r>
            <a:r>
              <a:rPr lang="en-US"/>
              <a:t>: 	Specific type of issue</a:t>
            </a:r>
            <a:endParaRPr/>
          </a:p>
          <a:p>
            <a:pPr marL="342900" lvl="0" indent="-342900" algn="l" rtl="0">
              <a:spcBef>
                <a:spcPts val="1000"/>
              </a:spcBef>
              <a:spcAft>
                <a:spcPts val="0"/>
              </a:spcAft>
              <a:buSzPts val="1440"/>
              <a:buAutoNum type="arabicPeriod"/>
            </a:pPr>
            <a:r>
              <a:rPr lang="en-US" b="1"/>
              <a:t>Issue</a:t>
            </a:r>
            <a:r>
              <a:rPr lang="en-US"/>
              <a:t>(</a:t>
            </a:r>
            <a:r>
              <a:rPr lang="en-US" sz="1200"/>
              <a:t>Related To</a:t>
            </a:r>
            <a:r>
              <a:rPr lang="en-US"/>
              <a:t>) : 	User can link the Issue ID to the linked issue</a:t>
            </a:r>
            <a:endParaRPr/>
          </a:p>
          <a:p>
            <a:pPr marL="342900" lvl="0" indent="-342900" algn="l" rtl="0">
              <a:spcBef>
                <a:spcPts val="1000"/>
              </a:spcBef>
              <a:spcAft>
                <a:spcPts val="0"/>
              </a:spcAft>
              <a:buSzPts val="1440"/>
              <a:buAutoNum type="arabicPeriod"/>
            </a:pPr>
            <a:r>
              <a:rPr lang="en-US" b="1"/>
              <a:t>Assignee		</a:t>
            </a:r>
            <a:r>
              <a:rPr lang="en-US"/>
              <a:t>:	Who is responsible to fix this issue. </a:t>
            </a:r>
            <a:endParaRPr/>
          </a:p>
          <a:p>
            <a:pPr marL="342900" lvl="0" indent="-342900" algn="l" rtl="0">
              <a:spcBef>
                <a:spcPts val="1000"/>
              </a:spcBef>
              <a:spcAft>
                <a:spcPts val="0"/>
              </a:spcAft>
              <a:buSzPts val="1440"/>
              <a:buAutoNum type="arabicPeriod"/>
            </a:pPr>
            <a:r>
              <a:rPr lang="en-US" b="1"/>
              <a:t>Epic Link		:</a:t>
            </a:r>
            <a:r>
              <a:rPr lang="en-US"/>
              <a:t> 	If the issue belongs to any of those Epic Link</a:t>
            </a:r>
            <a:endParaRPr/>
          </a:p>
          <a:p>
            <a:pPr marL="342900" lvl="0" indent="-342900" algn="l" rtl="0">
              <a:spcBef>
                <a:spcPts val="1000"/>
              </a:spcBef>
              <a:spcAft>
                <a:spcPts val="0"/>
              </a:spcAft>
              <a:buSzPts val="1440"/>
              <a:buAutoNum type="arabicPeriod"/>
            </a:pPr>
            <a:r>
              <a:rPr lang="en-US" b="1"/>
              <a:t>Sprint		</a:t>
            </a:r>
            <a:r>
              <a:rPr lang="en-US"/>
              <a:t>: 	In which Sprint, this issue addressed </a:t>
            </a:r>
            <a:endParaRPr/>
          </a:p>
          <a:p>
            <a:pPr marL="342900" lvl="0" indent="-251459" algn="l" rtl="0">
              <a:spcBef>
                <a:spcPts val="1000"/>
              </a:spcBef>
              <a:spcAft>
                <a:spcPts val="0"/>
              </a:spcAft>
              <a:buSzPts val="1440"/>
              <a:buNone/>
            </a:pPr>
            <a:endParaRPr/>
          </a:p>
        </p:txBody>
      </p:sp>
      <p:pic>
        <p:nvPicPr>
          <p:cNvPr id="898" name="Google Shape;898;p110" descr="JIRA Review - Slant"/>
          <p:cNvPicPr preferRelativeResize="0"/>
          <p:nvPr/>
        </p:nvPicPr>
        <p:blipFill rotWithShape="1">
          <a:blip r:embed="rId3">
            <a:alphaModFix/>
          </a:blip>
          <a:srcRect/>
          <a:stretch/>
        </p:blipFill>
        <p:spPr>
          <a:xfrm>
            <a:off x="8109520" y="3295039"/>
            <a:ext cx="2482924" cy="973696"/>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902"/>
        <p:cNvGrpSpPr/>
        <p:nvPr/>
      </p:nvGrpSpPr>
      <p:grpSpPr>
        <a:xfrm>
          <a:off x="0" y="0"/>
          <a:ext cx="0" cy="0"/>
          <a:chOff x="0" y="0"/>
          <a:chExt cx="0" cy="0"/>
        </a:xfrm>
      </p:grpSpPr>
      <p:sp>
        <p:nvSpPr>
          <p:cNvPr id="903" name="Google Shape;903;p111"/>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7C6FDB"/>
              </a:buClr>
              <a:buSzPts val="3600"/>
              <a:buFont typeface="Trebuchet MS"/>
              <a:buNone/>
            </a:pPr>
            <a:r>
              <a:rPr lang="en-US">
                <a:solidFill>
                  <a:srgbClr val="7C6FDB"/>
                </a:solidFill>
              </a:rPr>
              <a:t>Defect Life Cycle</a:t>
            </a:r>
            <a:endParaRPr/>
          </a:p>
        </p:txBody>
      </p:sp>
      <p:pic>
        <p:nvPicPr>
          <p:cNvPr id="904" name="Google Shape;904;p111"/>
          <p:cNvPicPr preferRelativeResize="0">
            <a:picLocks noGrp="1"/>
          </p:cNvPicPr>
          <p:nvPr>
            <p:ph type="body" idx="1"/>
          </p:nvPr>
        </p:nvPicPr>
        <p:blipFill rotWithShape="1">
          <a:blip r:embed="rId3">
            <a:alphaModFix/>
          </a:blip>
          <a:srcRect/>
          <a:stretch/>
        </p:blipFill>
        <p:spPr>
          <a:xfrm>
            <a:off x="4525799" y="0"/>
            <a:ext cx="4963641" cy="6664960"/>
          </a:xfrm>
          <a:prstGeom prst="rect">
            <a:avLst/>
          </a:prstGeom>
          <a:noFill/>
          <a:ln>
            <a:noFill/>
          </a:ln>
        </p:spPr>
      </p:pic>
      <p:pic>
        <p:nvPicPr>
          <p:cNvPr id="905" name="Google Shape;905;p111"/>
          <p:cNvPicPr preferRelativeResize="0"/>
          <p:nvPr/>
        </p:nvPicPr>
        <p:blipFill rotWithShape="1">
          <a:blip r:embed="rId4">
            <a:alphaModFix/>
          </a:blip>
          <a:srcRect/>
          <a:stretch/>
        </p:blipFill>
        <p:spPr>
          <a:xfrm>
            <a:off x="8174990" y="6178064"/>
            <a:ext cx="1314450" cy="428625"/>
          </a:xfrm>
          <a:prstGeom prst="rect">
            <a:avLst/>
          </a:prstGeom>
          <a:noFill/>
          <a:ln>
            <a:noFill/>
          </a:ln>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showMasterSp="0">
  <p:cSld>
    <p:spTree>
      <p:nvGrpSpPr>
        <p:cNvPr id="1" name="Shape 909"/>
        <p:cNvGrpSpPr/>
        <p:nvPr/>
      </p:nvGrpSpPr>
      <p:grpSpPr>
        <a:xfrm>
          <a:off x="0" y="0"/>
          <a:ext cx="0" cy="0"/>
          <a:chOff x="0" y="0"/>
          <a:chExt cx="0" cy="0"/>
        </a:xfrm>
      </p:grpSpPr>
      <p:sp>
        <p:nvSpPr>
          <p:cNvPr id="910" name="Google Shape;910;p112"/>
          <p:cNvSpPr txBox="1">
            <a:spLocks noGrp="1"/>
          </p:cNvSpPr>
          <p:nvPr>
            <p:ph type="title"/>
          </p:nvPr>
        </p:nvSpPr>
        <p:spPr>
          <a:xfrm>
            <a:off x="641312" y="308547"/>
            <a:ext cx="4208703" cy="674255"/>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C00000"/>
              </a:buClr>
              <a:buSzPts val="3600"/>
              <a:buFont typeface="Trebuchet MS"/>
              <a:buNone/>
            </a:pPr>
            <a:r>
              <a:rPr lang="en-US">
                <a:solidFill>
                  <a:srgbClr val="C00000"/>
                </a:solidFill>
              </a:rPr>
              <a:t>Priority vs Severity</a:t>
            </a:r>
            <a:endParaRPr>
              <a:solidFill>
                <a:srgbClr val="C00000"/>
              </a:solidFill>
            </a:endParaRPr>
          </a:p>
        </p:txBody>
      </p:sp>
      <p:pic>
        <p:nvPicPr>
          <p:cNvPr id="911" name="Google Shape;911;p112" descr="What is the difference between Severity and Priority"/>
          <p:cNvPicPr preferRelativeResize="0">
            <a:picLocks noGrp="1"/>
          </p:cNvPicPr>
          <p:nvPr>
            <p:ph type="body" idx="1"/>
          </p:nvPr>
        </p:nvPicPr>
        <p:blipFill rotWithShape="1">
          <a:blip r:embed="rId3">
            <a:alphaModFix/>
          </a:blip>
          <a:srcRect/>
          <a:stretch/>
        </p:blipFill>
        <p:spPr>
          <a:xfrm>
            <a:off x="3155462" y="1112163"/>
            <a:ext cx="7940490" cy="5705197"/>
          </a:xfrm>
          <a:prstGeom prst="rect">
            <a:avLst/>
          </a:prstGeom>
          <a:noFill/>
          <a:ln>
            <a:noFill/>
          </a:ln>
        </p:spPr>
      </p:pic>
      <p:sp>
        <p:nvSpPr>
          <p:cNvPr id="912" name="Google Shape;912;p112"/>
          <p:cNvSpPr txBox="1"/>
          <p:nvPr/>
        </p:nvSpPr>
        <p:spPr>
          <a:xfrm>
            <a:off x="201046" y="3964761"/>
            <a:ext cx="2603114" cy="1175111"/>
          </a:xfrm>
          <a:prstGeom prst="rect">
            <a:avLst/>
          </a:prstGeom>
          <a:noFill/>
          <a:ln>
            <a:noFill/>
          </a:ln>
        </p:spPr>
        <p:txBody>
          <a:bodyPr spcFirstLastPara="1" wrap="square" lIns="91425" tIns="45700" rIns="91425" bIns="45700" anchor="t" anchorCtr="0">
            <a:normAutofit/>
          </a:bodyPr>
          <a:lstStyle/>
          <a:p>
            <a:pPr marL="0" marR="0" lvl="0" indent="0" algn="l" rtl="0">
              <a:spcBef>
                <a:spcPts val="0"/>
              </a:spcBef>
              <a:spcAft>
                <a:spcPts val="0"/>
              </a:spcAft>
              <a:buClr>
                <a:schemeClr val="accent1"/>
              </a:buClr>
              <a:buSzPts val="1440"/>
              <a:buFont typeface="Noto Sans Symbols"/>
              <a:buNone/>
            </a:pPr>
            <a:r>
              <a:rPr lang="en-US" sz="1800" b="1" u="sng">
                <a:solidFill>
                  <a:srgbClr val="3F3F3F"/>
                </a:solidFill>
                <a:latin typeface="Trebuchet MS"/>
                <a:ea typeface="Trebuchet MS"/>
                <a:cs typeface="Trebuchet MS"/>
                <a:sym typeface="Trebuchet MS"/>
              </a:rPr>
              <a:t>Priority</a:t>
            </a:r>
            <a:r>
              <a:rPr lang="en-US" sz="1800">
                <a:solidFill>
                  <a:srgbClr val="3F3F3F"/>
                </a:solidFill>
                <a:latin typeface="Trebuchet MS"/>
                <a:ea typeface="Trebuchet MS"/>
                <a:cs typeface="Trebuchet MS"/>
                <a:sym typeface="Trebuchet MS"/>
              </a:rPr>
              <a:t>: </a:t>
            </a:r>
            <a:endParaRPr/>
          </a:p>
          <a:p>
            <a:pPr marL="0" marR="0" lvl="0" indent="0" algn="l" rtl="0">
              <a:spcBef>
                <a:spcPts val="1000"/>
              </a:spcBef>
              <a:spcAft>
                <a:spcPts val="0"/>
              </a:spcAft>
              <a:buClr>
                <a:schemeClr val="accent1"/>
              </a:buClr>
              <a:buSzPts val="1440"/>
              <a:buFont typeface="Noto Sans Symbols"/>
              <a:buNone/>
            </a:pPr>
            <a:r>
              <a:rPr lang="en-US" sz="1800">
                <a:solidFill>
                  <a:srgbClr val="3F3F3F"/>
                </a:solidFill>
                <a:latin typeface="Trebuchet MS"/>
                <a:ea typeface="Trebuchet MS"/>
                <a:cs typeface="Trebuchet MS"/>
                <a:sym typeface="Trebuchet MS"/>
              </a:rPr>
              <a:t>How fast defect has to be fixed</a:t>
            </a:r>
            <a:endParaRPr sz="1800">
              <a:solidFill>
                <a:srgbClr val="3F3F3F"/>
              </a:solidFill>
              <a:latin typeface="Trebuchet MS"/>
              <a:ea typeface="Trebuchet MS"/>
              <a:cs typeface="Trebuchet MS"/>
              <a:sym typeface="Trebuchet MS"/>
            </a:endParaRPr>
          </a:p>
        </p:txBody>
      </p:sp>
      <p:sp>
        <p:nvSpPr>
          <p:cNvPr id="913" name="Google Shape;913;p112"/>
          <p:cNvSpPr txBox="1"/>
          <p:nvPr/>
        </p:nvSpPr>
        <p:spPr>
          <a:xfrm>
            <a:off x="201046" y="2021944"/>
            <a:ext cx="2958714" cy="1635656"/>
          </a:xfrm>
          <a:prstGeom prst="rect">
            <a:avLst/>
          </a:prstGeom>
          <a:noFill/>
          <a:ln>
            <a:noFill/>
          </a:ln>
        </p:spPr>
        <p:txBody>
          <a:bodyPr spcFirstLastPara="1" wrap="square" lIns="91425" tIns="45700" rIns="91425" bIns="45700" anchor="t" anchorCtr="0">
            <a:normAutofit/>
          </a:bodyPr>
          <a:lstStyle/>
          <a:p>
            <a:pPr marL="0" marR="0" lvl="0" indent="0" algn="l" rtl="0">
              <a:spcBef>
                <a:spcPts val="0"/>
              </a:spcBef>
              <a:spcAft>
                <a:spcPts val="0"/>
              </a:spcAft>
              <a:buClr>
                <a:schemeClr val="accent1"/>
              </a:buClr>
              <a:buSzPts val="1440"/>
              <a:buFont typeface="Noto Sans Symbols"/>
              <a:buNone/>
            </a:pPr>
            <a:r>
              <a:rPr lang="en-US" sz="1800" b="1" u="sng">
                <a:solidFill>
                  <a:srgbClr val="3F3F3F"/>
                </a:solidFill>
                <a:latin typeface="Trebuchet MS"/>
                <a:ea typeface="Trebuchet MS"/>
                <a:cs typeface="Trebuchet MS"/>
                <a:sym typeface="Trebuchet MS"/>
              </a:rPr>
              <a:t>Severity</a:t>
            </a:r>
            <a:r>
              <a:rPr lang="en-US" sz="1800">
                <a:solidFill>
                  <a:srgbClr val="3F3F3F"/>
                </a:solidFill>
                <a:latin typeface="Trebuchet MS"/>
                <a:ea typeface="Trebuchet MS"/>
                <a:cs typeface="Trebuchet MS"/>
                <a:sym typeface="Trebuchet MS"/>
              </a:rPr>
              <a:t>: </a:t>
            </a:r>
            <a:endParaRPr/>
          </a:p>
          <a:p>
            <a:pPr marL="0" marR="0" lvl="0" indent="0" algn="l" rtl="0">
              <a:spcBef>
                <a:spcPts val="1000"/>
              </a:spcBef>
              <a:spcAft>
                <a:spcPts val="0"/>
              </a:spcAft>
              <a:buClr>
                <a:schemeClr val="accent1"/>
              </a:buClr>
              <a:buSzPts val="1440"/>
              <a:buFont typeface="Noto Sans Symbols"/>
              <a:buNone/>
            </a:pPr>
            <a:r>
              <a:rPr lang="en-US" sz="1800" b="1">
                <a:solidFill>
                  <a:srgbClr val="3F3F3F"/>
                </a:solidFill>
                <a:latin typeface="Trebuchet MS"/>
                <a:ea typeface="Trebuchet MS"/>
                <a:cs typeface="Trebuchet MS"/>
                <a:sym typeface="Trebuchet MS"/>
              </a:rPr>
              <a:t>How</a:t>
            </a:r>
            <a:r>
              <a:rPr lang="en-US" sz="1800">
                <a:solidFill>
                  <a:srgbClr val="3F3F3F"/>
                </a:solidFill>
                <a:latin typeface="Trebuchet MS"/>
                <a:ea typeface="Trebuchet MS"/>
                <a:cs typeface="Trebuchet MS"/>
                <a:sym typeface="Trebuchet MS"/>
              </a:rPr>
              <a:t> </a:t>
            </a:r>
            <a:r>
              <a:rPr lang="en-US" sz="1800" b="1">
                <a:solidFill>
                  <a:srgbClr val="3F3F3F"/>
                </a:solidFill>
                <a:latin typeface="Trebuchet MS"/>
                <a:ea typeface="Trebuchet MS"/>
                <a:cs typeface="Trebuchet MS"/>
                <a:sym typeface="Trebuchet MS"/>
              </a:rPr>
              <a:t>severe</a:t>
            </a:r>
            <a:r>
              <a:rPr lang="en-US" sz="1800">
                <a:solidFill>
                  <a:srgbClr val="3F3F3F"/>
                </a:solidFill>
                <a:latin typeface="Trebuchet MS"/>
                <a:ea typeface="Trebuchet MS"/>
                <a:cs typeface="Trebuchet MS"/>
                <a:sym typeface="Trebuchet MS"/>
              </a:rPr>
              <a:t> defect </a:t>
            </a:r>
            <a:r>
              <a:rPr lang="en-US" sz="1800" b="1">
                <a:solidFill>
                  <a:srgbClr val="3F3F3F"/>
                </a:solidFill>
                <a:latin typeface="Trebuchet MS"/>
                <a:ea typeface="Trebuchet MS"/>
                <a:cs typeface="Trebuchet MS"/>
                <a:sym typeface="Trebuchet MS"/>
              </a:rPr>
              <a:t>is</a:t>
            </a:r>
            <a:r>
              <a:rPr lang="en-US" sz="1800">
                <a:solidFill>
                  <a:srgbClr val="3F3F3F"/>
                </a:solidFill>
                <a:latin typeface="Trebuchet MS"/>
                <a:ea typeface="Trebuchet MS"/>
                <a:cs typeface="Trebuchet MS"/>
                <a:sym typeface="Trebuchet MS"/>
              </a:rPr>
              <a:t>       affecting the functionality. </a:t>
            </a:r>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Shape 917"/>
        <p:cNvGrpSpPr/>
        <p:nvPr/>
      </p:nvGrpSpPr>
      <p:grpSpPr>
        <a:xfrm>
          <a:off x="0" y="0"/>
          <a:ext cx="0" cy="0"/>
          <a:chOff x="0" y="0"/>
          <a:chExt cx="0" cy="0"/>
        </a:xfrm>
      </p:grpSpPr>
      <p:sp>
        <p:nvSpPr>
          <p:cNvPr id="918" name="Google Shape;918;p113"/>
          <p:cNvSpPr txBox="1">
            <a:spLocks noGrp="1"/>
          </p:cNvSpPr>
          <p:nvPr>
            <p:ph type="title"/>
          </p:nvPr>
        </p:nvSpPr>
        <p:spPr>
          <a:xfrm>
            <a:off x="677334" y="609600"/>
            <a:ext cx="8596668" cy="843643"/>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What is Deffered</a:t>
            </a:r>
            <a:endParaRPr/>
          </a:p>
        </p:txBody>
      </p:sp>
      <p:sp>
        <p:nvSpPr>
          <p:cNvPr id="919" name="Google Shape;919;p113"/>
          <p:cNvSpPr txBox="1">
            <a:spLocks noGrp="1"/>
          </p:cNvSpPr>
          <p:nvPr>
            <p:ph type="body" idx="1"/>
          </p:nvPr>
        </p:nvSpPr>
        <p:spPr>
          <a:xfrm>
            <a:off x="677334" y="1608365"/>
            <a:ext cx="8596668" cy="4432998"/>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n-US" b="1"/>
              <a:t>Deferred</a:t>
            </a:r>
            <a:r>
              <a:rPr lang="en-US"/>
              <a:t>: </a:t>
            </a:r>
            <a:endParaRPr/>
          </a:p>
          <a:p>
            <a:pPr marL="0" lvl="0" indent="0" algn="l" rtl="0">
              <a:spcBef>
                <a:spcPts val="1000"/>
              </a:spcBef>
              <a:spcAft>
                <a:spcPts val="0"/>
              </a:spcAft>
              <a:buSzPts val="1440"/>
              <a:buNone/>
            </a:pPr>
            <a:r>
              <a:rPr lang="en-US"/>
              <a:t>	The bug, changed to </a:t>
            </a:r>
            <a:r>
              <a:rPr lang="en-US" b="1"/>
              <a:t>deferred</a:t>
            </a:r>
            <a:r>
              <a:rPr lang="en-US"/>
              <a:t> state means the bug is expected to be fixed in next releases. ...</a:t>
            </a:r>
            <a:endParaRPr/>
          </a:p>
          <a:p>
            <a:pPr marL="0" lvl="0" indent="0" algn="l" rtl="0">
              <a:spcBef>
                <a:spcPts val="1000"/>
              </a:spcBef>
              <a:spcAft>
                <a:spcPts val="0"/>
              </a:spcAft>
              <a:buSzPts val="1440"/>
              <a:buNone/>
            </a:pPr>
            <a:endParaRPr/>
          </a:p>
          <a:p>
            <a:pPr marL="0" lvl="0" indent="0" algn="l" rtl="0">
              <a:spcBef>
                <a:spcPts val="1000"/>
              </a:spcBef>
              <a:spcAft>
                <a:spcPts val="0"/>
              </a:spcAft>
              <a:buSzPts val="1440"/>
              <a:buNone/>
            </a:pPr>
            <a:r>
              <a:rPr lang="en-US"/>
              <a:t> If the tester feels that the bug no longer exists in the software, tester changes the status of the bug to “closed”. </a:t>
            </a:r>
            <a:endParaRPr/>
          </a:p>
          <a:p>
            <a:pPr marL="0" lvl="0" indent="0" algn="l" rtl="0">
              <a:spcBef>
                <a:spcPts val="1000"/>
              </a:spcBef>
              <a:spcAft>
                <a:spcPts val="0"/>
              </a:spcAft>
              <a:buSzPts val="1440"/>
              <a:buNone/>
            </a:pPr>
            <a:endParaRPr/>
          </a:p>
          <a:p>
            <a:pPr marL="342900" lvl="0" indent="-342900" algn="l" rtl="0">
              <a:spcBef>
                <a:spcPts val="1000"/>
              </a:spcBef>
              <a:spcAft>
                <a:spcPts val="0"/>
              </a:spcAft>
              <a:buSzPts val="1440"/>
              <a:buChar char="►"/>
            </a:pPr>
            <a:r>
              <a:rPr lang="en-US"/>
              <a:t>Low priority and low severity</a:t>
            </a:r>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showMasterSp="0">
  <p:cSld>
    <p:bg>
      <p:bgPr>
        <a:blipFill>
          <a:blip r:embed="rId3">
            <a:alphaModFix amt="6000"/>
          </a:blip>
          <a:stretch>
            <a:fillRect/>
          </a:stretch>
        </a:blipFill>
        <a:effectLst/>
      </p:bgPr>
    </p:bg>
    <p:spTree>
      <p:nvGrpSpPr>
        <p:cNvPr id="1" name="Shape 923"/>
        <p:cNvGrpSpPr/>
        <p:nvPr/>
      </p:nvGrpSpPr>
      <p:grpSpPr>
        <a:xfrm>
          <a:off x="0" y="0"/>
          <a:ext cx="0" cy="0"/>
          <a:chOff x="0" y="0"/>
          <a:chExt cx="0" cy="0"/>
        </a:xfrm>
      </p:grpSpPr>
      <p:sp>
        <p:nvSpPr>
          <p:cNvPr id="924" name="Google Shape;924;p114"/>
          <p:cNvSpPr txBox="1">
            <a:spLocks noGrp="1"/>
          </p:cNvSpPr>
          <p:nvPr>
            <p:ph type="subTitle" idx="1"/>
          </p:nvPr>
        </p:nvSpPr>
        <p:spPr>
          <a:xfrm>
            <a:off x="1604473" y="4672164"/>
            <a:ext cx="9448227" cy="1944487"/>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SzPts val="9200"/>
              <a:buNone/>
            </a:pPr>
            <a:r>
              <a:rPr lang="en-US" sz="11500" b="1">
                <a:solidFill>
                  <a:srgbClr val="1D1F43"/>
                </a:solidFill>
                <a:latin typeface="Arial"/>
                <a:ea typeface="Arial"/>
                <a:cs typeface="Arial"/>
                <a:sym typeface="Arial"/>
              </a:rPr>
              <a:t>You are the Best</a:t>
            </a:r>
            <a:endParaRPr/>
          </a:p>
        </p:txBody>
      </p:sp>
      <p:pic>
        <p:nvPicPr>
          <p:cNvPr id="925" name="Google Shape;925;p114" descr="Thank you PNG"/>
          <p:cNvPicPr preferRelativeResize="0"/>
          <p:nvPr/>
        </p:nvPicPr>
        <p:blipFill rotWithShape="1">
          <a:blip r:embed="rId4">
            <a:alphaModFix/>
          </a:blip>
          <a:srcRect/>
          <a:stretch/>
        </p:blipFill>
        <p:spPr>
          <a:xfrm>
            <a:off x="3880281" y="241349"/>
            <a:ext cx="3810000" cy="1647825"/>
          </a:xfrm>
          <a:prstGeom prst="rect">
            <a:avLst/>
          </a:prstGeom>
          <a:noFill/>
          <a:ln>
            <a:noFill/>
          </a:ln>
        </p:spPr>
      </p:pic>
      <p:pic>
        <p:nvPicPr>
          <p:cNvPr id="926" name="Google Shape;926;p114" descr="Best Quality PNG Transparent Images | PNG All"/>
          <p:cNvPicPr preferRelativeResize="0"/>
          <p:nvPr/>
        </p:nvPicPr>
        <p:blipFill rotWithShape="1">
          <a:blip r:embed="rId5">
            <a:alphaModFix/>
          </a:blip>
          <a:srcRect/>
          <a:stretch/>
        </p:blipFill>
        <p:spPr>
          <a:xfrm>
            <a:off x="4607511" y="1889174"/>
            <a:ext cx="2826058" cy="2682548"/>
          </a:xfrm>
          <a:prstGeom prst="rect">
            <a:avLst/>
          </a:prstGeom>
          <a:noFill/>
          <a:ln>
            <a:noFill/>
          </a:ln>
        </p:spPr>
      </p:pic>
    </p:spTree>
  </p:cSld>
  <p:clrMapOvr>
    <a:masterClrMapping/>
  </p:clrMapOvr>
</p:sld>
</file>

<file path=ppt/theme/theme1.xml><?xml version="1.0" encoding="utf-8"?>
<a:theme xmlns:a="http://schemas.openxmlformats.org/drawingml/2006/main"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TotalTime>
  <Words>5888</Words>
  <Application>Microsoft Office PowerPoint</Application>
  <PresentationFormat>Widescreen</PresentationFormat>
  <Paragraphs>750</Paragraphs>
  <Slides>114</Slides>
  <Notes>114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114</vt:i4>
      </vt:variant>
    </vt:vector>
  </HeadingPairs>
  <TitlesOfParts>
    <vt:vector size="122" baseType="lpstr">
      <vt:lpstr>Noto Sans Symbols</vt:lpstr>
      <vt:lpstr>Arial</vt:lpstr>
      <vt:lpstr>Roboto</vt:lpstr>
      <vt:lpstr>Work Sans</vt:lpstr>
      <vt:lpstr>Trebuchet MS</vt:lpstr>
      <vt:lpstr>Times New Roman</vt:lpstr>
      <vt:lpstr>Calibri</vt:lpstr>
      <vt:lpstr>Facet</vt:lpstr>
      <vt:lpstr> Manual Testing  Preparation</vt:lpstr>
      <vt:lpstr>Index</vt:lpstr>
      <vt:lpstr>16. SDLC Software Development Life Cycle</vt:lpstr>
      <vt:lpstr>         17. STLC       Software Testing Life Cycle</vt:lpstr>
      <vt:lpstr>Phase 1:     Requirement Analysis</vt:lpstr>
      <vt:lpstr>Requirements Traceability Matrix (RTM)</vt:lpstr>
      <vt:lpstr>Advantage of RTM</vt:lpstr>
      <vt:lpstr>Business Requirement Document (BRD)</vt:lpstr>
      <vt:lpstr>Technical Requirement Document (TRD)</vt:lpstr>
      <vt:lpstr>RTM</vt:lpstr>
      <vt:lpstr>Types:</vt:lpstr>
      <vt:lpstr>Phase 2:       Test Planning</vt:lpstr>
      <vt:lpstr>Test Plan Document</vt:lpstr>
      <vt:lpstr>Create Test Plan Document</vt:lpstr>
      <vt:lpstr>PowerPoint Presentation</vt:lpstr>
      <vt:lpstr>Phase 3:     Test Case Development</vt:lpstr>
      <vt:lpstr>Phase 4:     Environment Setup</vt:lpstr>
      <vt:lpstr>Phase 5:     Test Execution</vt:lpstr>
      <vt:lpstr>Phase 6:     Test Cycle Closure</vt:lpstr>
      <vt:lpstr>Bug Report</vt:lpstr>
      <vt:lpstr>Test Summary Report: Testing Metrics</vt:lpstr>
      <vt:lpstr>Test Strategy </vt:lpstr>
      <vt:lpstr>Feasibility Study</vt:lpstr>
      <vt:lpstr>Types of feasibility Study</vt:lpstr>
      <vt:lpstr>Story Point Estimations</vt:lpstr>
      <vt:lpstr>Important Questions in STLC</vt:lpstr>
      <vt:lpstr>Software Testing</vt:lpstr>
      <vt:lpstr>Types of Testing (Manual/Automation)</vt:lpstr>
      <vt:lpstr>1. Functional Testing</vt:lpstr>
      <vt:lpstr>2. Non-Functional Testing</vt:lpstr>
      <vt:lpstr>3. Maintenance  </vt:lpstr>
      <vt:lpstr>18. Manual Testing (Functional)</vt:lpstr>
      <vt:lpstr>Techniques in Manual testing</vt:lpstr>
      <vt:lpstr>How to perform a Test:</vt:lpstr>
      <vt:lpstr>Software Testing Levels (Hierarchy)</vt:lpstr>
      <vt:lpstr>1. Unit Testing</vt:lpstr>
      <vt:lpstr>2. Integration Test</vt:lpstr>
      <vt:lpstr>3. System Testing</vt:lpstr>
      <vt:lpstr>Black Box Testing</vt:lpstr>
      <vt:lpstr>White box testing</vt:lpstr>
      <vt:lpstr>Black Box Vs White Box</vt:lpstr>
      <vt:lpstr>Grey box testing</vt:lpstr>
      <vt:lpstr>Smoke Testing</vt:lpstr>
      <vt:lpstr>When Smoke Testing?</vt:lpstr>
      <vt:lpstr>Sanity Testing?</vt:lpstr>
      <vt:lpstr>Smoke vs Sanity</vt:lpstr>
      <vt:lpstr>Ad-hoc Testing</vt:lpstr>
      <vt:lpstr>PowerPoint Presentation</vt:lpstr>
      <vt:lpstr>Regression Testing</vt:lpstr>
      <vt:lpstr>Regression</vt:lpstr>
      <vt:lpstr>When Regression Testing?</vt:lpstr>
      <vt:lpstr>Selecting Test Cases for Regression Testing </vt:lpstr>
      <vt:lpstr>Regression check is covered under  two categories: </vt:lpstr>
      <vt:lpstr>Regression Testing Steps:</vt:lpstr>
      <vt:lpstr>PowerPoint Presentation</vt:lpstr>
      <vt:lpstr>UAT – User Acceptance Testing</vt:lpstr>
      <vt:lpstr>After UAT…</vt:lpstr>
      <vt:lpstr>Non-Functional Testing</vt:lpstr>
      <vt:lpstr>PowerPoint Presentation</vt:lpstr>
      <vt:lpstr>PowerPoint Presentation</vt:lpstr>
      <vt:lpstr>How to write a Test Scenario?</vt:lpstr>
      <vt:lpstr>Test Scenario and Test cases</vt:lpstr>
      <vt:lpstr>Test Scenario vs Test cases</vt:lpstr>
      <vt:lpstr>PowerPoint Presentation</vt:lpstr>
      <vt:lpstr>Negative Test case:</vt:lpstr>
      <vt:lpstr>Verification vs Validation</vt:lpstr>
      <vt:lpstr>Entry Criteria :</vt:lpstr>
      <vt:lpstr>Exit Criteria:</vt:lpstr>
      <vt:lpstr>Testing can be stopped when: 1</vt:lpstr>
      <vt:lpstr>Testing can be stopped when: 2</vt:lpstr>
      <vt:lpstr>Testing can be stopped when: 3</vt:lpstr>
      <vt:lpstr>Sample Test Cases</vt:lpstr>
      <vt:lpstr>PowerPoint Presentation</vt:lpstr>
      <vt:lpstr>PowerPoint Presentation</vt:lpstr>
      <vt:lpstr>PowerPoint Presentation</vt:lpstr>
      <vt:lpstr>PowerPoint Presentation</vt:lpstr>
      <vt:lpstr>E-commerce Websites: Shopping cart</vt:lpstr>
      <vt:lpstr>Checkout flow</vt:lpstr>
      <vt:lpstr>Modules for E-Commerce site</vt:lpstr>
      <vt:lpstr>Test Cases</vt:lpstr>
      <vt:lpstr>Skills required to become a Software Tester</vt:lpstr>
      <vt:lpstr>Software Tester Career Path</vt:lpstr>
      <vt:lpstr>Software Methodologies</vt:lpstr>
      <vt:lpstr>PowerPoint Presentation</vt:lpstr>
      <vt:lpstr>PowerPoint Presentation</vt:lpstr>
      <vt:lpstr>19. Agile</vt:lpstr>
      <vt:lpstr>PowerPoint Presentation</vt:lpstr>
      <vt:lpstr>PowerPoint Presentation</vt:lpstr>
      <vt:lpstr>PowerPoint Presentation</vt:lpstr>
      <vt:lpstr>Scrum Framework</vt:lpstr>
      <vt:lpstr>1. Roles</vt:lpstr>
      <vt:lpstr>Role: 1  Scrum master</vt:lpstr>
      <vt:lpstr>Role: 2  Product Owner</vt:lpstr>
      <vt:lpstr>Role: 3  Scrum Team  </vt:lpstr>
      <vt:lpstr>2. Artifacts</vt:lpstr>
      <vt:lpstr>Sprint</vt:lpstr>
      <vt:lpstr>User stories</vt:lpstr>
      <vt:lpstr>1. Product Backlog</vt:lpstr>
      <vt:lpstr>2. Sprint backlog </vt:lpstr>
      <vt:lpstr>3. Burndown chart</vt:lpstr>
      <vt:lpstr>How to create Burndown chart</vt:lpstr>
      <vt:lpstr>Process flow of scrum</vt:lpstr>
      <vt:lpstr>3. Ceremonies</vt:lpstr>
      <vt:lpstr>1. Sprint Planning Meeting</vt:lpstr>
      <vt:lpstr>Sprint </vt:lpstr>
      <vt:lpstr>2. Daily Scrum Meeting </vt:lpstr>
      <vt:lpstr>3. Sprint Review Meeting</vt:lpstr>
      <vt:lpstr>4. Sprint Retrospective Meeting</vt:lpstr>
      <vt:lpstr>Sprint of our Project</vt:lpstr>
      <vt:lpstr>20. JIRA</vt:lpstr>
      <vt:lpstr>Defect Life Cycle</vt:lpstr>
      <vt:lpstr>Priority vs Severity</vt:lpstr>
      <vt:lpstr>What is Deffered</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Manual Testing  Preparation</dc:title>
  <dc:creator>Thirumalai, Suresh</dc:creator>
  <cp:lastModifiedBy>Bharath Kumar T</cp:lastModifiedBy>
  <cp:revision>2</cp:revision>
  <dcterms:created xsi:type="dcterms:W3CDTF">2019-08-06T17:04:00Z</dcterms:created>
  <dcterms:modified xsi:type="dcterms:W3CDTF">2026-07-06T18:44:43Z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0x010100FB4323757826964086001889E5A3711F</vt:lpwstr>
  </property>
  <property fmtid="{D5CDD505-2E9C-101B-9397-08002B2CF9AE}" pid="3" name="KSOProductBuildVer">
    <vt:lpwstr>1033-11.2.0.9327</vt:lpwstr>
  </property>
  <property fmtid="{D5CDD505-2E9C-101B-9397-08002B2CF9AE}" pid="4" name="MSIP_Label_b9a70571-31c6-4603-80c1-ef2fb871a62a_Enabled">
    <vt:lpwstr>True</vt:lpwstr>
  </property>
  <property fmtid="{D5CDD505-2E9C-101B-9397-08002B2CF9AE}" pid="5" name="MSIP_Label_b9a70571-31c6-4603-80c1-ef2fb871a62a_SiteId">
    <vt:lpwstr>258ac4e4-146a-411e-9dc8-79a9e12fd6da</vt:lpwstr>
  </property>
  <property fmtid="{D5CDD505-2E9C-101B-9397-08002B2CF9AE}" pid="6" name="MSIP_Label_b9a70571-31c6-4603-80c1-ef2fb871a62a_Ref">
    <vt:lpwstr>https://api.informationprotection.azure.com/api/258ac4e4-146a-411e-9dc8-79a9e12fd6da</vt:lpwstr>
  </property>
  <property fmtid="{D5CDD505-2E9C-101B-9397-08002B2CF9AE}" pid="7" name="MSIP_Label_b9a70571-31c6-4603-80c1-ef2fb871a62a_Owner">
    <vt:lpwstr>SU40029396@wipro.com</vt:lpwstr>
  </property>
  <property fmtid="{D5CDD505-2E9C-101B-9397-08002B2CF9AE}" pid="8" name="MSIP_Label_b9a70571-31c6-4603-80c1-ef2fb871a62a_SetDate">
    <vt:lpwstr>2019-10-29T12:35:52.9659768+05:30</vt:lpwstr>
  </property>
  <property fmtid="{D5CDD505-2E9C-101B-9397-08002B2CF9AE}" pid="9" name="MSIP_Label_b9a70571-31c6-4603-80c1-ef2fb871a62a_Name">
    <vt:lpwstr>Internal and Restricted</vt:lpwstr>
  </property>
  <property fmtid="{D5CDD505-2E9C-101B-9397-08002B2CF9AE}" pid="10" name="MSIP_Label_b9a70571-31c6-4603-80c1-ef2fb871a62a_Application">
    <vt:lpwstr>Microsoft Azure Information Protection</vt:lpwstr>
  </property>
  <property fmtid="{D5CDD505-2E9C-101B-9397-08002B2CF9AE}" pid="11" name="MSIP_Label_b9a70571-31c6-4603-80c1-ef2fb871a62a_Extended_MSFT_Method">
    <vt:lpwstr>Manual</vt:lpwstr>
  </property>
  <property fmtid="{D5CDD505-2E9C-101B-9397-08002B2CF9AE}" pid="12" name="Sensitivity">
    <vt:lpwstr>Internal and Restricted</vt:lpwstr>
  </property>
</Properties>
</file>